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7"/>
    <p:sldId id="277" r:id="rId28"/>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21.xml"/><Relationship Id="rId28"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F1-score</c:v>
                </c:pt>
              </c:strCache>
            </c:strRef>
          </c:tx>
          <c:spPr>
            <a:solidFill>
              <a:srgbClr val="028090"/>
            </a:solidFill>
            <a:effectLst/>
          </c:spPr>
          <c:invertIfNegative val="0"/>
          <c:dLbls>
            <c:numFmt formatCode="0.00" sourceLinked="0"/>
            <c:spPr>
              <a:noFill/>
              <a:ln>
                <a:noFill/>
              </a:ln>
              <a:effectLst/>
            </c:spPr>
            <c:txPr>
              <a:bodyPr/>
              <a:lstStyle/>
              <a:p>
                <a:pPr>
                  <a:defRPr sz="900" b="0" i="0" u="none" strike="noStrike">
                    <a:solidFill>
                      <a:srgbClr val="12303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SVM (RBF)</c:v>
                </c:pt>
                <c:pt idx="1">
                  <c:v>SVM (Linear)</c:v>
                </c:pt>
                <c:pt idx="2">
                  <c:v>LDA</c:v>
                </c:pt>
                <c:pt idx="3">
                  <c:v>KNN</c:v>
                </c:pt>
              </c:strCache>
            </c:strRef>
          </c:cat>
          <c:val>
            <c:numRef>
              <c:f>Sheet1!$B$2:$B$5</c:f>
              <c:numCache>
                <c:formatCode>General</c:formatCode>
                <c:ptCount val="4"/>
                <c:pt idx="0">
                  <c:v>0.74690000000000001</c:v>
                </c:pt>
                <c:pt idx="1">
                  <c:v>0.89490000000000003</c:v>
                </c:pt>
                <c:pt idx="2">
                  <c:v>0.90910000000000002</c:v>
                </c:pt>
                <c:pt idx="3">
                  <c:v>0.95409999999999995</c:v>
                </c:pt>
              </c:numCache>
            </c:numRef>
          </c:val>
          <c:extLst>
            <c:ext xmlns:c16="http://schemas.microsoft.com/office/drawing/2014/chart" uri="{C3380CC4-5D6E-409C-BE32-E72D297353CC}">
              <c16:uniqueId val="{00000000-205B-493B-B190-2E397D3E0858}"/>
            </c:ext>
          </c:extLst>
        </c:ser>
        <c:ser>
          <c:idx val="1"/>
          <c:order val="1"/>
          <c:tx>
            <c:strRef>
              <c:f>Sheet1!$C$1</c:f>
              <c:strCache>
                <c:ptCount val="1"/>
                <c:pt idx="0">
                  <c:v>Accuracy</c:v>
                </c:pt>
              </c:strCache>
            </c:strRef>
          </c:tx>
          <c:spPr>
            <a:solidFill>
              <a:srgbClr val="00A896"/>
            </a:solidFill>
            <a:effectLst/>
          </c:spPr>
          <c:invertIfNegative val="0"/>
          <c:dLbls>
            <c:numFmt formatCode="0.00" sourceLinked="0"/>
            <c:spPr>
              <a:noFill/>
              <a:ln>
                <a:noFill/>
              </a:ln>
              <a:effectLst/>
            </c:spPr>
            <c:txPr>
              <a:bodyPr/>
              <a:lstStyle/>
              <a:p>
                <a:pPr>
                  <a:defRPr sz="900" b="0" i="0" u="none" strike="noStrike">
                    <a:solidFill>
                      <a:srgbClr val="12303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SVM (RBF)</c:v>
                </c:pt>
                <c:pt idx="1">
                  <c:v>SVM (Linear)</c:v>
                </c:pt>
                <c:pt idx="2">
                  <c:v>LDA</c:v>
                </c:pt>
                <c:pt idx="3">
                  <c:v>KNN</c:v>
                </c:pt>
              </c:strCache>
            </c:strRef>
          </c:cat>
          <c:val>
            <c:numRef>
              <c:f>Sheet1!$C$2:$C$5</c:f>
              <c:numCache>
                <c:formatCode>General</c:formatCode>
                <c:ptCount val="4"/>
                <c:pt idx="0">
                  <c:v>0.78649999999999998</c:v>
                </c:pt>
                <c:pt idx="1">
                  <c:v>0.88800000000000001</c:v>
                </c:pt>
                <c:pt idx="2">
                  <c:v>0.90369999999999995</c:v>
                </c:pt>
                <c:pt idx="3">
                  <c:v>0.95309999999999995</c:v>
                </c:pt>
              </c:numCache>
            </c:numRef>
          </c:val>
          <c:extLst>
            <c:ext xmlns:c16="http://schemas.microsoft.com/office/drawing/2014/chart" uri="{C3380CC4-5D6E-409C-BE32-E72D297353CC}">
              <c16:uniqueId val="{00000001-205B-493B-B190-2E397D3E0858}"/>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5E8E5"/>
            </a:solidFill>
            <a:prstDash val="solid"/>
            <a:round/>
          </a:ln>
        </c:spPr>
        <c:txPr>
          <a:bodyPr/>
          <a:lstStyle/>
          <a:p>
            <a:pPr>
              <a:defRPr sz="1050" b="0" i="0" u="none" strike="noStrike">
                <a:solidFill>
                  <a:srgbClr val="12303F"/>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12700" cap="flat">
              <a:solidFill>
                <a:srgbClr val="E4EEEC"/>
              </a:solidFill>
              <a:prstDash val="solid"/>
              <a:round/>
            </a:ln>
          </c:spPr>
        </c:majorGridlines>
        <c:numFmt formatCode="General" sourceLinked="0"/>
        <c:majorTickMark val="out"/>
        <c:minorTickMark val="none"/>
        <c:tickLblPos val="nextTo"/>
        <c:spPr>
          <a:ln w="12700" cap="flat">
            <a:solidFill>
              <a:srgbClr val="D5E8E5"/>
            </a:solidFill>
            <a:prstDash val="solid"/>
            <a:round/>
          </a:ln>
        </c:spPr>
        <c:txPr>
          <a:bodyPr/>
          <a:lstStyle/>
          <a:p>
            <a:pPr>
              <a:defRPr sz="900" b="0" i="0" u="none" strike="noStrike">
                <a:solidFill>
                  <a:srgbClr val="5B7280"/>
                </a:solidFill>
                <a:latin typeface="Arial"/>
              </a:defRPr>
            </a:pPr>
            <a:endParaRPr lang="en-US"/>
          </a:p>
        </c:txPr>
        <c:crossAx val="2094734554"/>
        <c:crosses val="autoZero"/>
        <c:crossBetween val="between"/>
        <c:majorUnit val="0.25"/>
      </c:valAx>
      <c:spPr>
        <a:noFill/>
        <a:ln>
          <a:noFill/>
        </a:ln>
        <a:effectLst/>
      </c:spPr>
    </c:plotArea>
    <c:legend>
      <c:legendPos val="t"/>
      <c:overlay val="0"/>
      <c:txPr>
        <a:bodyPr/>
        <a:lstStyle/>
        <a:p>
          <a:pPr>
            <a:defRPr sz="1100">
              <a:solidFill>
                <a:srgbClr val="12303F"/>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85F58385-A0FF-4D5C-849C-DDB2ECA5588E}" type="datetimeFigureOut">
              <a:t>7/13/2026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455A45EF-B272-4EBC-BA2F-21BFC9E7050A}" type="slidenum">
              <a:t>‹#›</a:t>
            </a:fld>
            <a:endParaRPr lang="en-US"/>
          </a:p>
        </p:txBody>
      </p:sp>
    </p:spTree>
    <p:extLst>
      <p:ext uri="{BB962C8B-B14F-4D97-AF65-F5344CB8AC3E}">
        <p14:creationId xmlns:p14="http://schemas.microsoft.com/office/powerpoint/2010/main" val="1779872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chart" Target="../charts/char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4A"/>
        </a:solidFill>
        <a:effectLst/>
      </p:bgPr>
    </p:bg>
    <p:spTree>
      <p:nvGrpSpPr>
        <p:cNvPr id="1" name=""/>
        <p:cNvGrpSpPr/>
        <p:nvPr/>
      </p:nvGrpSpPr>
      <p:grpSpPr>
        <a:xfrm>
          <a:off x="0" y="0"/>
          <a:ext cx="0" cy="0"/>
          <a:chOff x="0" y="0"/>
          <a:chExt cx="0" cy="0"/>
        </a:xfrm>
      </p:grpSpPr>
      <p:pic>
        <p:nvPicPr>
          <p:cNvPr id="2" name="Image 0" descr="wave.png"/>
          <p:cNvPicPr>
            <a:picLocks noChangeAspect="1"/>
          </p:cNvPicPr>
          <p:nvPr/>
        </p:nvPicPr>
        <p:blipFill>
          <a:blip r:embed="rId3"/>
          <a:stretch>
            <a:fillRect/>
          </a:stretch>
        </p:blipFill>
        <p:spPr>
          <a:xfrm>
            <a:off x="0" y="4251960"/>
            <a:ext cx="12191695" cy="2606040"/>
          </a:xfrm>
          <a:prstGeom prst="rect">
            <a:avLst/>
          </a:prstGeom>
        </p:spPr>
      </p:pic>
      <p:sp>
        <p:nvSpPr>
          <p:cNvPr id="3" name="Shape 0"/>
          <p:cNvSpPr/>
          <p:nvPr/>
        </p:nvSpPr>
        <p:spPr>
          <a:xfrm>
            <a:off x="0" y="6035040"/>
            <a:ext cx="12191695" cy="822960"/>
          </a:xfrm>
          <a:prstGeom prst="rect">
            <a:avLst/>
          </a:prstGeom>
          <a:solidFill>
            <a:srgbClr val="0B2A4A"/>
          </a:solidFill>
          <a:ln/>
        </p:spPr>
      </p:sp>
      <p:sp>
        <p:nvSpPr>
          <p:cNvPr id="4" name="Text 1"/>
          <p:cNvSpPr/>
          <p:nvPr/>
        </p:nvSpPr>
        <p:spPr>
          <a:xfrm>
            <a:off x="640080" y="640080"/>
            <a:ext cx="8229600" cy="320040"/>
          </a:xfrm>
          <a:prstGeom prst="rect">
            <a:avLst/>
          </a:prstGeom>
          <a:noFill/>
          <a:ln/>
        </p:spPr>
        <p:txBody>
          <a:bodyPr wrap="square" lIns="0" tIns="0" rIns="0" bIns="0" rtlCol="0" anchor="ctr"/>
          <a:lstStyle/>
          <a:p>
            <a:pPr marL="0" indent="0">
              <a:buNone/>
            </a:pPr>
            <a:r>
              <a:rPr lang="en-US" sz="1250" b="1" kern="0" spc="200" dirty="0">
                <a:solidFill>
                  <a:srgbClr val="6FD3C9"/>
                </a:solidFill>
                <a:latin typeface="Arial" pitchFamily="34" charset="0"/>
                <a:ea typeface="Arial" pitchFamily="34" charset="-122"/>
                <a:cs typeface="Arial" pitchFamily="34" charset="-120"/>
              </a:rPr>
              <a:t>PHÁT HIỆN MỎI CƠ BẰNG HỌC MÁY · PRISME, UNIVERSITÉ D'ORLÉANS</a:t>
            </a:r>
            <a:endParaRPr lang="en-US" sz="1250" dirty="0"/>
          </a:p>
        </p:txBody>
      </p:sp>
      <p:sp>
        <p:nvSpPr>
          <p:cNvPr id="5" name="Text 2"/>
          <p:cNvSpPr/>
          <p:nvPr/>
        </p:nvSpPr>
        <p:spPr>
          <a:xfrm>
            <a:off x="594360" y="1143000"/>
            <a:ext cx="10789920" cy="2286000"/>
          </a:xfrm>
          <a:prstGeom prst="rect">
            <a:avLst/>
          </a:prstGeom>
          <a:noFill/>
          <a:ln/>
        </p:spPr>
        <p:txBody>
          <a:bodyPr wrap="square" lIns="0" tIns="0" rIns="0" bIns="0" rtlCol="0" anchor="ctr"/>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Detection of Muscle Fatigue</a:t>
            </a:r>
            <a:endParaRPr lang="en-US" sz="4000" dirty="0"/>
          </a:p>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Through Surface EMG Signals</a:t>
            </a:r>
            <a:endParaRPr lang="en-US" sz="4000" dirty="0"/>
          </a:p>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Utilizing Machine Learning</a:t>
            </a:r>
            <a:endParaRPr lang="en-US" sz="4000" dirty="0"/>
          </a:p>
        </p:txBody>
      </p:sp>
      <p:sp>
        <p:nvSpPr>
          <p:cNvPr id="6" name="Text 3"/>
          <p:cNvSpPr/>
          <p:nvPr/>
        </p:nvSpPr>
        <p:spPr>
          <a:xfrm>
            <a:off x="640080" y="3520440"/>
            <a:ext cx="10058400" cy="365760"/>
          </a:xfrm>
          <a:prstGeom prst="rect">
            <a:avLst/>
          </a:prstGeom>
          <a:noFill/>
          <a:ln/>
        </p:spPr>
        <p:txBody>
          <a:bodyPr wrap="square" lIns="0" tIns="0" rIns="0" bIns="0" rtlCol="0" anchor="ctr"/>
          <a:lstStyle/>
          <a:p>
            <a:pPr marL="0" indent="0">
              <a:buNone/>
            </a:pPr>
            <a:r>
              <a:rPr lang="en-US" sz="1500" i="1" dirty="0">
                <a:solidFill>
                  <a:srgbClr val="C7DDDA"/>
                </a:solidFill>
                <a:latin typeface="Arial" pitchFamily="34" charset="0"/>
                <a:ea typeface="Arial" pitchFamily="34" charset="-122"/>
                <a:cs typeface="Arial" pitchFamily="34" charset="-120"/>
              </a:rPr>
              <a:t>Nghi Tran Huu   ·   Gia Thien Luu   ·   Philippe Ravier   ·   Olivier Buttelli</a:t>
            </a:r>
            <a:endParaRPr lang="en-US" sz="1500" dirty="0"/>
          </a:p>
        </p:txBody>
      </p:sp>
      <p:sp>
        <p:nvSpPr>
          <p:cNvPr id="7" name="Text 4"/>
          <p:cNvSpPr/>
          <p:nvPr/>
        </p:nvSpPr>
        <p:spPr>
          <a:xfrm>
            <a:off x="640080" y="3858768"/>
            <a:ext cx="5486400" cy="320040"/>
          </a:xfrm>
          <a:prstGeom prst="rect">
            <a:avLst/>
          </a:prstGeom>
          <a:noFill/>
          <a:ln/>
        </p:spPr>
        <p:txBody>
          <a:bodyPr wrap="square" lIns="0" tIns="0" rIns="0" bIns="0" rtlCol="0" anchor="ctr"/>
          <a:lstStyle/>
          <a:p>
            <a:pPr marL="0" indent="0">
              <a:buNone/>
            </a:pPr>
            <a:r>
              <a:rPr lang="en-US" sz="1300" dirty="0">
                <a:solidFill>
                  <a:srgbClr val="8FB6B3"/>
                </a:solidFill>
                <a:latin typeface="Arial" pitchFamily="34" charset="0"/>
                <a:ea typeface="Arial" pitchFamily="34" charset="-122"/>
                <a:cs typeface="Arial" pitchFamily="34" charset="-120"/>
              </a:rPr>
              <a:t>Springer, 2025</a:t>
            </a:r>
            <a:endParaRPr lang="en-US" sz="1300" dirty="0"/>
          </a:p>
        </p:txBody>
      </p:sp>
      <p:sp>
        <p:nvSpPr>
          <p:cNvPr id="8" name="Shape 5"/>
          <p:cNvSpPr/>
          <p:nvPr/>
        </p:nvSpPr>
        <p:spPr>
          <a:xfrm>
            <a:off x="8549640" y="566928"/>
            <a:ext cx="2971800" cy="1051560"/>
          </a:xfrm>
          <a:prstGeom prst="roundRect">
            <a:avLst>
              <a:gd name="adj" fmla="val 8696"/>
            </a:avLst>
          </a:prstGeom>
          <a:solidFill>
            <a:srgbClr val="10344E"/>
          </a:solidFill>
          <a:ln w="12700">
            <a:solidFill>
              <a:srgbClr val="028090"/>
            </a:solidFill>
            <a:prstDash val="solid"/>
          </a:ln>
        </p:spPr>
      </p:sp>
      <p:sp>
        <p:nvSpPr>
          <p:cNvPr id="9" name="Text 6"/>
          <p:cNvSpPr/>
          <p:nvPr/>
        </p:nvSpPr>
        <p:spPr>
          <a:xfrm>
            <a:off x="8549640" y="676656"/>
            <a:ext cx="2971800" cy="274320"/>
          </a:xfrm>
          <a:prstGeom prst="rect">
            <a:avLst/>
          </a:prstGeom>
          <a:noFill/>
          <a:ln/>
        </p:spPr>
        <p:txBody>
          <a:bodyPr wrap="square" lIns="0" tIns="0" rIns="0" bIns="0" rtlCol="0" anchor="ctr"/>
          <a:lstStyle/>
          <a:p>
            <a:pPr marL="0" indent="0" algn="ctr">
              <a:buNone/>
            </a:pPr>
            <a:r>
              <a:rPr lang="en-US" sz="1200" dirty="0">
                <a:solidFill>
                  <a:srgbClr val="9FC9C6"/>
                </a:solidFill>
                <a:latin typeface="Arial" pitchFamily="34" charset="0"/>
                <a:ea typeface="Arial" pitchFamily="34" charset="-122"/>
                <a:cs typeface="Arial" pitchFamily="34" charset="-120"/>
              </a:rPr>
              <a:t>KNN · F1-score</a:t>
            </a:r>
            <a:endParaRPr lang="en-US" sz="1200" dirty="0"/>
          </a:p>
        </p:txBody>
      </p:sp>
      <p:sp>
        <p:nvSpPr>
          <p:cNvPr id="10" name="Text 7"/>
          <p:cNvSpPr/>
          <p:nvPr/>
        </p:nvSpPr>
        <p:spPr>
          <a:xfrm>
            <a:off x="8549640" y="914400"/>
            <a:ext cx="2971800" cy="502920"/>
          </a:xfrm>
          <a:prstGeom prst="rect">
            <a:avLst/>
          </a:prstGeom>
          <a:noFill/>
          <a:ln/>
        </p:spPr>
        <p:txBody>
          <a:bodyPr wrap="square" lIns="0" tIns="0" rIns="0" bIns="0" rtlCol="0" anchor="ctr"/>
          <a:lstStyle/>
          <a:p>
            <a:pPr marL="0" indent="0" algn="ctr">
              <a:buNone/>
            </a:pPr>
            <a:r>
              <a:rPr lang="en-US" sz="3400" b="1" dirty="0">
                <a:solidFill>
                  <a:srgbClr val="00A896"/>
                </a:solidFill>
                <a:latin typeface="Arial" pitchFamily="34" charset="0"/>
                <a:ea typeface="Arial" pitchFamily="34" charset="-122"/>
                <a:cs typeface="Arial" pitchFamily="34" charset="-120"/>
              </a:rPr>
              <a:t>95,41%</a:t>
            </a:r>
            <a:endParaRPr lang="en-US" sz="3400" dirty="0"/>
          </a:p>
        </p:txBody>
      </p:sp>
      <p:sp>
        <p:nvSpPr>
          <p:cNvPr id="11" name="Text 8"/>
          <p:cNvSpPr/>
          <p:nvPr/>
        </p:nvSpPr>
        <p:spPr>
          <a:xfrm>
            <a:off x="8549640" y="1426464"/>
            <a:ext cx="2971800" cy="219456"/>
          </a:xfrm>
          <a:prstGeom prst="rect">
            <a:avLst/>
          </a:prstGeom>
          <a:noFill/>
          <a:ln/>
        </p:spPr>
        <p:txBody>
          <a:bodyPr wrap="square" lIns="0" tIns="0" rIns="0" bIns="0" rtlCol="0" anchor="ctr"/>
          <a:lstStyle/>
          <a:p>
            <a:pPr marL="0" indent="0" algn="ctr">
              <a:buNone/>
            </a:pPr>
            <a:r>
              <a:rPr lang="en-US" sz="800" i="1" dirty="0">
                <a:solidFill>
                  <a:srgbClr val="7FA8A4"/>
                </a:solidFill>
                <a:latin typeface="Arial" pitchFamily="34" charset="0"/>
                <a:ea typeface="Arial" pitchFamily="34" charset="-122"/>
                <a:cs typeface="Arial" pitchFamily="34" charset="-120"/>
              </a:rPr>
              <a:t>Theo Table 2 (Abstract ghi 95,12%)</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marL="0" indent="0">
              <a:buNone/>
            </a:pPr>
            <a:r>
              <a:rPr lang="en-US" sz="1250" b="1" kern="0" spc="200" dirty="0">
                <a:solidFill>
                  <a:srgbClr val="028090"/>
                </a:solidFill>
                <a:latin typeface="Arial" pitchFamily="34" charset="0"/>
                <a:ea typeface="Arial" pitchFamily="34" charset="-122"/>
                <a:cs typeface="Arial" pitchFamily="34" charset="-120"/>
              </a:rPr>
              <a:t>01 · BỐI CẢNH &amp; VẤN ĐỀ</a:t>
            </a:r>
            <a:endParaRPr lang="en-US" sz="1250" dirty="0"/>
          </a:p>
        </p:txBody>
      </p:sp>
      <p:sp>
        <p:nvSpPr>
          <p:cNvPr id="3" name="Text 1"/>
          <p:cNvSpPr/>
          <p:nvPr/>
        </p:nvSpPr>
        <p:spPr>
          <a:xfrm>
            <a:off x="548640" y="822960"/>
            <a:ext cx="10972800" cy="731520"/>
          </a:xfrm>
          <a:prstGeom prst="rect">
            <a:avLst/>
          </a:prstGeom>
          <a:noFill/>
          <a:ln/>
        </p:spPr>
        <p:txBody>
          <a:bodyPr wrap="square" lIns="0" tIns="0" rIns="0" bIns="0" rtlCol="0" anchor="ctr"/>
          <a:lstStyle/>
          <a:p>
            <a:pPr marL="0" indent="0">
              <a:buNone/>
            </a:pPr>
            <a:r>
              <a:rPr lang="en-US" sz="3200" b="1" dirty="0">
                <a:solidFill>
                  <a:srgbClr val="0B2A4A"/>
                </a:solidFill>
                <a:latin typeface="Cambria" pitchFamily="34" charset="0"/>
                <a:ea typeface="Cambria" pitchFamily="34" charset="-122"/>
                <a:cs typeface="Cambria" pitchFamily="34" charset="-120"/>
              </a:rPr>
              <a:t>Vì sao cần phát hiện mỏi cơ tự động?</a:t>
            </a:r>
            <a:endParaRPr lang="en-US" sz="3200" dirty="0"/>
          </a:p>
        </p:txBody>
      </p:sp>
      <p:sp>
        <p:nvSpPr>
          <p:cNvPr id="4" name="Shape 2"/>
          <p:cNvSpPr/>
          <p:nvPr/>
        </p:nvSpPr>
        <p:spPr>
          <a:xfrm>
            <a:off x="548640" y="1920240"/>
            <a:ext cx="457200" cy="457200"/>
          </a:xfrm>
          <a:prstGeom prst="ellipse">
            <a:avLst/>
          </a:prstGeom>
          <a:solidFill>
            <a:srgbClr val="028090"/>
          </a:solidFill>
          <a:ln/>
        </p:spPr>
      </p:sp>
      <p:sp>
        <p:nvSpPr>
          <p:cNvPr id="5" name="Text 3"/>
          <p:cNvSpPr/>
          <p:nvPr/>
        </p:nvSpPr>
        <p:spPr>
          <a:xfrm>
            <a:off x="548640" y="19202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6" name="Text 4"/>
          <p:cNvSpPr/>
          <p:nvPr/>
        </p:nvSpPr>
        <p:spPr>
          <a:xfrm>
            <a:off x="1234440" y="1874520"/>
            <a:ext cx="2926080" cy="457200"/>
          </a:xfrm>
          <a:prstGeom prst="rect">
            <a:avLst/>
          </a:prstGeom>
          <a:noFill/>
          <a:ln/>
        </p:spPr>
        <p:txBody>
          <a:bodyPr wrap="square" lIns="0" tIns="0" rIns="0" bIns="0" rtlCol="0" anchor="ctr"/>
          <a:lstStyle/>
          <a:p>
            <a:pPr marL="0" indent="0">
              <a:buNone/>
            </a:pPr>
            <a:r>
              <a:rPr lang="en-US" sz="1600" b="1" dirty="0">
                <a:solidFill>
                  <a:srgbClr val="12303F"/>
                </a:solidFill>
                <a:latin typeface="Arial" pitchFamily="34" charset="0"/>
                <a:ea typeface="Arial" pitchFamily="34" charset="-122"/>
                <a:cs typeface="Arial" pitchFamily="34" charset="-120"/>
              </a:rPr>
              <a:t>Bản chất sinh lý</a:t>
            </a:r>
            <a:endParaRPr lang="en-US" sz="1600" dirty="0"/>
          </a:p>
        </p:txBody>
      </p:sp>
      <p:sp>
        <p:nvSpPr>
          <p:cNvPr id="7" name="Text 5"/>
          <p:cNvSpPr/>
          <p:nvPr/>
        </p:nvSpPr>
        <p:spPr>
          <a:xfrm>
            <a:off x="4297680" y="1856232"/>
            <a:ext cx="7315200" cy="868680"/>
          </a:xfrm>
          <a:prstGeom prst="rect">
            <a:avLst/>
          </a:prstGeom>
          <a:noFill/>
          <a:ln/>
        </p:spPr>
        <p:txBody>
          <a:bodyPr wrap="square" lIns="0" tIns="0" rIns="0" bIns="0" rtlCol="0" anchor="t"/>
          <a:lstStyle/>
          <a:p>
            <a:pPr marL="0" indent="0">
              <a:lnSpc>
                <a:spcPct val="112000"/>
              </a:lnSpc>
              <a:buNone/>
            </a:pPr>
            <a:r>
              <a:rPr lang="en-US" sz="1400" dirty="0">
                <a:solidFill>
                  <a:srgbClr val="5B7280"/>
                </a:solidFill>
                <a:latin typeface="Arial" pitchFamily="34" charset="0"/>
                <a:ea typeface="Arial" pitchFamily="34" charset="-122"/>
                <a:cs typeface="Arial" pitchFamily="34" charset="-120"/>
              </a:rPr>
              <a:t>Mỏi cơ là suy giảm khả năng sinh lực khi co cơ kéo dài. Trên sEMG biểu hiện qua nén phổ tần số (MDF/MNF giảm) kèm tăng biên độ tín hiệu.</a:t>
            </a:r>
            <a:endParaRPr lang="en-US" sz="1400" dirty="0"/>
          </a:p>
        </p:txBody>
      </p:sp>
      <p:sp>
        <p:nvSpPr>
          <p:cNvPr id="8" name="Shape 6"/>
          <p:cNvSpPr/>
          <p:nvPr/>
        </p:nvSpPr>
        <p:spPr>
          <a:xfrm>
            <a:off x="548640" y="2971800"/>
            <a:ext cx="457200" cy="457200"/>
          </a:xfrm>
          <a:prstGeom prst="ellipse">
            <a:avLst/>
          </a:prstGeom>
          <a:solidFill>
            <a:srgbClr val="028090"/>
          </a:solidFill>
          <a:ln/>
        </p:spPr>
      </p:sp>
      <p:sp>
        <p:nvSpPr>
          <p:cNvPr id="9" name="Text 7"/>
          <p:cNvSpPr/>
          <p:nvPr/>
        </p:nvSpPr>
        <p:spPr>
          <a:xfrm>
            <a:off x="548640" y="297180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0" name="Text 8"/>
          <p:cNvSpPr/>
          <p:nvPr/>
        </p:nvSpPr>
        <p:spPr>
          <a:xfrm>
            <a:off x="1234440" y="2926080"/>
            <a:ext cx="2926080" cy="457200"/>
          </a:xfrm>
          <a:prstGeom prst="rect">
            <a:avLst/>
          </a:prstGeom>
          <a:noFill/>
          <a:ln/>
        </p:spPr>
        <p:txBody>
          <a:bodyPr wrap="square" lIns="0" tIns="0" rIns="0" bIns="0" rtlCol="0" anchor="ctr"/>
          <a:lstStyle/>
          <a:p>
            <a:pPr marL="0" indent="0">
              <a:buNone/>
            </a:pPr>
            <a:r>
              <a:rPr lang="en-US" sz="1600" b="1" dirty="0">
                <a:solidFill>
                  <a:srgbClr val="12303F"/>
                </a:solidFill>
                <a:latin typeface="Arial" pitchFamily="34" charset="0"/>
                <a:ea typeface="Arial" pitchFamily="34" charset="-122"/>
                <a:cs typeface="Arial" pitchFamily="34" charset="-120"/>
              </a:rPr>
              <a:t>Ý nghĩa ứng dụng</a:t>
            </a:r>
            <a:endParaRPr lang="en-US" sz="1600" dirty="0"/>
          </a:p>
        </p:txBody>
      </p:sp>
      <p:sp>
        <p:nvSpPr>
          <p:cNvPr id="11" name="Text 9"/>
          <p:cNvSpPr/>
          <p:nvPr/>
        </p:nvSpPr>
        <p:spPr>
          <a:xfrm>
            <a:off x="4297680" y="2907792"/>
            <a:ext cx="7315200" cy="868680"/>
          </a:xfrm>
          <a:prstGeom prst="rect">
            <a:avLst/>
          </a:prstGeom>
          <a:noFill/>
          <a:ln/>
        </p:spPr>
        <p:txBody>
          <a:bodyPr wrap="square" lIns="0" tIns="0" rIns="0" bIns="0" rtlCol="0" anchor="t"/>
          <a:lstStyle/>
          <a:p>
            <a:pPr marL="0" indent="0">
              <a:lnSpc>
                <a:spcPct val="112000"/>
              </a:lnSpc>
              <a:buNone/>
            </a:pPr>
            <a:r>
              <a:rPr lang="en-US" sz="1400" dirty="0">
                <a:solidFill>
                  <a:srgbClr val="5B7280"/>
                </a:solidFill>
                <a:latin typeface="Arial" pitchFamily="34" charset="0"/>
                <a:ea typeface="Arial" pitchFamily="34" charset="-122"/>
                <a:cs typeface="Arial" pitchFamily="34" charset="-120"/>
              </a:rPr>
              <a:t>Phát hiện sớm mỏi cơ giá trị trong phục hồi chức năng, thể thao, phòng ngừa chấn thương và ergonomics nghề nghiệp.</a:t>
            </a:r>
            <a:endParaRPr lang="en-US" sz="1400" dirty="0"/>
          </a:p>
        </p:txBody>
      </p:sp>
      <p:sp>
        <p:nvSpPr>
          <p:cNvPr id="12" name="Shape 10"/>
          <p:cNvSpPr/>
          <p:nvPr/>
        </p:nvSpPr>
        <p:spPr>
          <a:xfrm>
            <a:off x="548640" y="4023360"/>
            <a:ext cx="457200" cy="457200"/>
          </a:xfrm>
          <a:prstGeom prst="ellipse">
            <a:avLst/>
          </a:prstGeom>
          <a:solidFill>
            <a:srgbClr val="028090"/>
          </a:solidFill>
          <a:ln/>
        </p:spPr>
      </p:sp>
      <p:sp>
        <p:nvSpPr>
          <p:cNvPr id="13" name="Text 11"/>
          <p:cNvSpPr/>
          <p:nvPr/>
        </p:nvSpPr>
        <p:spPr>
          <a:xfrm>
            <a:off x="548640" y="40233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4" name="Text 12"/>
          <p:cNvSpPr/>
          <p:nvPr/>
        </p:nvSpPr>
        <p:spPr>
          <a:xfrm>
            <a:off x="1234440" y="3977640"/>
            <a:ext cx="2926080" cy="457200"/>
          </a:xfrm>
          <a:prstGeom prst="rect">
            <a:avLst/>
          </a:prstGeom>
          <a:noFill/>
          <a:ln/>
        </p:spPr>
        <p:txBody>
          <a:bodyPr wrap="square" lIns="0" tIns="0" rIns="0" bIns="0" rtlCol="0" anchor="ctr"/>
          <a:lstStyle/>
          <a:p>
            <a:pPr marL="0" indent="0">
              <a:buNone/>
            </a:pPr>
            <a:r>
              <a:rPr lang="en-US" sz="1600" b="1" dirty="0">
                <a:solidFill>
                  <a:srgbClr val="12303F"/>
                </a:solidFill>
                <a:latin typeface="Arial" pitchFamily="34" charset="0"/>
                <a:ea typeface="Arial" pitchFamily="34" charset="-122"/>
                <a:cs typeface="Arial" pitchFamily="34" charset="-120"/>
              </a:rPr>
              <a:t>Khoảng trống</a:t>
            </a:r>
            <a:endParaRPr lang="en-US" sz="1600" dirty="0"/>
          </a:p>
        </p:txBody>
      </p:sp>
      <p:sp>
        <p:nvSpPr>
          <p:cNvPr id="15" name="Text 13"/>
          <p:cNvSpPr/>
          <p:nvPr/>
        </p:nvSpPr>
        <p:spPr>
          <a:xfrm>
            <a:off x="4297680" y="3959352"/>
            <a:ext cx="7315200" cy="868680"/>
          </a:xfrm>
          <a:prstGeom prst="rect">
            <a:avLst/>
          </a:prstGeom>
          <a:noFill/>
          <a:ln/>
        </p:spPr>
        <p:txBody>
          <a:bodyPr wrap="square" lIns="0" tIns="0" rIns="0" bIns="0" rtlCol="0" anchor="t"/>
          <a:lstStyle/>
          <a:p>
            <a:pPr marL="0" indent="0">
              <a:lnSpc>
                <a:spcPct val="112000"/>
              </a:lnSpc>
              <a:buNone/>
            </a:pPr>
            <a:r>
              <a:rPr lang="en-US" sz="1400" dirty="0">
                <a:solidFill>
                  <a:srgbClr val="5B7280"/>
                </a:solidFill>
                <a:latin typeface="Arial" pitchFamily="34" charset="0"/>
                <a:ea typeface="Arial" pitchFamily="34" charset="-122"/>
                <a:cs typeface="Arial" pitchFamily="34" charset="-120"/>
              </a:rPr>
              <a:t>Chỉ số phổ truyền thống (MDF/MNF) chỉ mang tính mô tả, chưa tự đưa ra quyết định phân loại Normal / Fatigue.</a:t>
            </a:r>
            <a:endParaRPr lang="en-US" sz="1400" dirty="0"/>
          </a:p>
        </p:txBody>
      </p:sp>
      <p:sp>
        <p:nvSpPr>
          <p:cNvPr id="16" name="Shape 14"/>
          <p:cNvSpPr/>
          <p:nvPr/>
        </p:nvSpPr>
        <p:spPr>
          <a:xfrm>
            <a:off x="548640" y="5074920"/>
            <a:ext cx="457200" cy="457200"/>
          </a:xfrm>
          <a:prstGeom prst="ellipse">
            <a:avLst/>
          </a:prstGeom>
          <a:solidFill>
            <a:srgbClr val="00A896"/>
          </a:solidFill>
          <a:ln/>
        </p:spPr>
      </p:sp>
      <p:sp>
        <p:nvSpPr>
          <p:cNvPr id="17" name="Text 15"/>
          <p:cNvSpPr/>
          <p:nvPr/>
        </p:nvSpPr>
        <p:spPr>
          <a:xfrm>
            <a:off x="548640" y="50749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8" name="Text 16"/>
          <p:cNvSpPr/>
          <p:nvPr/>
        </p:nvSpPr>
        <p:spPr>
          <a:xfrm>
            <a:off x="1234440" y="5029200"/>
            <a:ext cx="2926080" cy="457200"/>
          </a:xfrm>
          <a:prstGeom prst="rect">
            <a:avLst/>
          </a:prstGeom>
          <a:noFill/>
          <a:ln/>
        </p:spPr>
        <p:txBody>
          <a:bodyPr wrap="square" lIns="0" tIns="0" rIns="0" bIns="0" rtlCol="0" anchor="ctr"/>
          <a:lstStyle/>
          <a:p>
            <a:pPr marL="0" indent="0">
              <a:buNone/>
            </a:pPr>
            <a:r>
              <a:rPr lang="en-US" sz="1600" b="1" dirty="0">
                <a:solidFill>
                  <a:srgbClr val="12303F"/>
                </a:solidFill>
                <a:latin typeface="Arial" pitchFamily="34" charset="0"/>
                <a:ea typeface="Arial" pitchFamily="34" charset="-122"/>
                <a:cs typeface="Arial" pitchFamily="34" charset="-120"/>
              </a:rPr>
              <a:t>Câu hỏi nghiên cứu</a:t>
            </a:r>
            <a:endParaRPr lang="en-US" sz="1600" dirty="0"/>
          </a:p>
        </p:txBody>
      </p:sp>
      <p:sp>
        <p:nvSpPr>
          <p:cNvPr id="19" name="Text 17"/>
          <p:cNvSpPr/>
          <p:nvPr/>
        </p:nvSpPr>
        <p:spPr>
          <a:xfrm>
            <a:off x="4297680" y="5010912"/>
            <a:ext cx="7315200" cy="868680"/>
          </a:xfrm>
          <a:prstGeom prst="rect">
            <a:avLst/>
          </a:prstGeom>
          <a:noFill/>
          <a:ln/>
        </p:spPr>
        <p:txBody>
          <a:bodyPr wrap="square" lIns="0" tIns="0" rIns="0" bIns="0" rtlCol="0" anchor="t"/>
          <a:lstStyle/>
          <a:p>
            <a:pPr marL="0" indent="0">
              <a:lnSpc>
                <a:spcPct val="112000"/>
              </a:lnSpc>
              <a:buNone/>
            </a:pPr>
            <a:r>
              <a:rPr lang="en-US" sz="1400" dirty="0">
                <a:solidFill>
                  <a:srgbClr val="5B7280"/>
                </a:solidFill>
                <a:latin typeface="Arial" pitchFamily="34" charset="0"/>
                <a:ea typeface="Arial" pitchFamily="34" charset="-122"/>
                <a:cs typeface="Arial" pitchFamily="34" charset="-120"/>
              </a:rPr>
              <a:t>Học máy trên bộ đặc trưng sEMG có phân loại được trạng thái mỏi cơ một cách chính xác và ổn định không?</a:t>
            </a:r>
            <a:endParaRPr lang="en-US" sz="1400" dirty="0"/>
          </a:p>
        </p:txBody>
      </p:sp>
      <p:sp>
        <p:nvSpPr>
          <p:cNvPr id="20" name="Text 18"/>
          <p:cNvSpPr/>
          <p:nvPr/>
        </p:nvSpPr>
        <p:spPr>
          <a:xfrm>
            <a:off x="502920" y="6473952"/>
            <a:ext cx="5486400" cy="274320"/>
          </a:xfrm>
          <a:prstGeom prst="rect">
            <a:avLst/>
          </a:prstGeom>
          <a:noFill/>
          <a:ln/>
        </p:spPr>
        <p:txBody>
          <a:bodyPr wrap="square" lIns="0" tIns="0" rIns="0" bIns="0" rtlCol="0" anchor="ctr"/>
          <a:lstStyle/>
          <a:p>
            <a:pPr marL="0" indent="0">
              <a:buNone/>
            </a:pPr>
            <a:r>
              <a:rPr lang="en-US" sz="900" dirty="0">
                <a:solidFill>
                  <a:srgbClr val="5B7280"/>
                </a:solidFill>
                <a:latin typeface="Arial" pitchFamily="34" charset="0"/>
                <a:ea typeface="Arial" pitchFamily="34" charset="-122"/>
                <a:cs typeface="Arial" pitchFamily="34" charset="-120"/>
              </a:rPr>
              <a:t>sEMG Fatigue Detection · Springer 2025</a:t>
            </a:r>
            <a:endParaRPr lang="en-US" sz="900" dirty="0"/>
          </a:p>
        </p:txBody>
      </p:sp>
      <p:sp>
        <p:nvSpPr>
          <p:cNvPr id="21" name="Text 19"/>
          <p:cNvSpPr/>
          <p:nvPr/>
        </p:nvSpPr>
        <p:spPr>
          <a:xfrm>
            <a:off x="11277295" y="6473952"/>
            <a:ext cx="411480" cy="274320"/>
          </a:xfrm>
          <a:prstGeom prst="rect">
            <a:avLst/>
          </a:prstGeom>
          <a:noFill/>
          <a:ln/>
        </p:spPr>
        <p:txBody>
          <a:bodyPr wrap="square" lIns="0" tIns="0" rIns="0" bIns="0" rtlCol="0" anchor="ctr"/>
          <a:lstStyle/>
          <a:p>
            <a:pPr marL="0" indent="0" algn="r">
              <a:buNone/>
            </a:pPr>
            <a:r>
              <a:rPr lang="en-US" sz="900" dirty="0">
                <a:solidFill>
                  <a:srgbClr val="5B7280"/>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AF9"/>
        </a:solidFill>
        <a:effectLst/>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marL="0" indent="0">
              <a:buNone/>
            </a:pPr>
            <a:r>
              <a:rPr lang="en-US" sz="1250" b="1" kern="0" spc="200" dirty="0">
                <a:solidFill>
                  <a:srgbClr val="028090"/>
                </a:solidFill>
                <a:latin typeface="Arial" pitchFamily="34" charset="0"/>
                <a:ea typeface="Arial" pitchFamily="34" charset="-122"/>
                <a:cs typeface="Arial" pitchFamily="34" charset="-120"/>
              </a:rPr>
              <a:t>02 · DỮ LIỆU &amp; GIAO THỨC THỰC NGHIỆM</a:t>
            </a:r>
            <a:endParaRPr lang="en-US" sz="1250" dirty="0"/>
          </a:p>
        </p:txBody>
      </p:sp>
      <p:sp>
        <p:nvSpPr>
          <p:cNvPr id="3" name="Text 1"/>
          <p:cNvSpPr/>
          <p:nvPr/>
        </p:nvSpPr>
        <p:spPr>
          <a:xfrm>
            <a:off x="548640" y="822960"/>
            <a:ext cx="10972800" cy="731520"/>
          </a:xfrm>
          <a:prstGeom prst="rect">
            <a:avLst/>
          </a:prstGeom>
          <a:noFill/>
          <a:ln/>
        </p:spPr>
        <p:txBody>
          <a:bodyPr wrap="square" lIns="0" tIns="0" rIns="0" bIns="0" rtlCol="0" anchor="ctr"/>
          <a:lstStyle/>
          <a:p>
            <a:pPr marL="0" indent="0">
              <a:buNone/>
            </a:pPr>
            <a:r>
              <a:rPr lang="en-US" sz="3200" b="1" dirty="0">
                <a:solidFill>
                  <a:srgbClr val="0B2A4A"/>
                </a:solidFill>
                <a:latin typeface="Cambria" pitchFamily="34" charset="0"/>
                <a:ea typeface="Cambria" pitchFamily="34" charset="-122"/>
                <a:cs typeface="Cambria" pitchFamily="34" charset="-120"/>
              </a:rPr>
              <a:t>Thu tín hiệu sEMG trên cơ nhị đầu</a:t>
            </a:r>
            <a:endParaRPr lang="en-US" sz="3200" dirty="0"/>
          </a:p>
        </p:txBody>
      </p:sp>
      <p:sp>
        <p:nvSpPr>
          <p:cNvPr id="4" name="Shape 2"/>
          <p:cNvSpPr/>
          <p:nvPr/>
        </p:nvSpPr>
        <p:spPr>
          <a:xfrm>
            <a:off x="548640" y="1828800"/>
            <a:ext cx="2788920" cy="1508760"/>
          </a:xfrm>
          <a:prstGeom prst="roundRect">
            <a:avLst>
              <a:gd name="adj" fmla="val 4848"/>
            </a:avLst>
          </a:prstGeom>
          <a:solidFill>
            <a:srgbClr val="FFFFFF"/>
          </a:solidFill>
          <a:ln w="12700">
            <a:solidFill>
              <a:srgbClr val="D5E8E5"/>
            </a:solidFill>
            <a:prstDash val="solid"/>
          </a:ln>
          <a:effectLst>
            <a:outerShdw blurRad="76200" dist="25400" dir="5400000" algn="bl" rotWithShape="0">
              <a:srgbClr val="9DBDB9">
                <a:alpha val="30000"/>
              </a:srgbClr>
            </a:outerShdw>
          </a:effectLst>
        </p:spPr>
      </p:sp>
      <p:sp>
        <p:nvSpPr>
          <p:cNvPr id="5" name="Text 3"/>
          <p:cNvSpPr/>
          <p:nvPr/>
        </p:nvSpPr>
        <p:spPr>
          <a:xfrm>
            <a:off x="594360" y="2011680"/>
            <a:ext cx="2697480" cy="548640"/>
          </a:xfrm>
          <a:prstGeom prst="rect">
            <a:avLst/>
          </a:prstGeom>
          <a:noFill/>
          <a:ln/>
        </p:spPr>
        <p:txBody>
          <a:bodyPr wrap="square" lIns="0" tIns="0" rIns="0" bIns="0" rtlCol="0" anchor="ctr"/>
          <a:lstStyle/>
          <a:p>
            <a:pPr marL="0" indent="0" algn="ctr">
              <a:buNone/>
            </a:pPr>
            <a:r>
              <a:rPr lang="en-US" sz="3000" b="1" dirty="0">
                <a:solidFill>
                  <a:srgbClr val="028090"/>
                </a:solidFill>
                <a:latin typeface="Arial" pitchFamily="34" charset="0"/>
                <a:ea typeface="Arial" pitchFamily="34" charset="-122"/>
                <a:cs typeface="Arial" pitchFamily="34" charset="-120"/>
              </a:rPr>
              <a:t>10</a:t>
            </a:r>
            <a:endParaRPr lang="en-US" sz="3000" dirty="0"/>
          </a:p>
        </p:txBody>
      </p:sp>
      <p:sp>
        <p:nvSpPr>
          <p:cNvPr id="6" name="Text 4"/>
          <p:cNvSpPr/>
          <p:nvPr/>
        </p:nvSpPr>
        <p:spPr>
          <a:xfrm>
            <a:off x="594360" y="2578608"/>
            <a:ext cx="2697480" cy="320040"/>
          </a:xfrm>
          <a:prstGeom prst="rect">
            <a:avLst/>
          </a:prstGeom>
          <a:noFill/>
          <a:ln/>
        </p:spPr>
        <p:txBody>
          <a:bodyPr wrap="square" lIns="0" tIns="0" rIns="0" bIns="0" rtlCol="0" anchor="ctr"/>
          <a:lstStyle/>
          <a:p>
            <a:pPr marL="0" indent="0" algn="ctr">
              <a:buNone/>
            </a:pPr>
            <a:r>
              <a:rPr lang="en-US" sz="1350" b="1" dirty="0">
                <a:solidFill>
                  <a:srgbClr val="12303F"/>
                </a:solidFill>
                <a:latin typeface="Arial" pitchFamily="34" charset="0"/>
                <a:ea typeface="Arial" pitchFamily="34" charset="-122"/>
                <a:cs typeface="Arial" pitchFamily="34" charset="-120"/>
              </a:rPr>
              <a:t>người khỏe mạnh</a:t>
            </a:r>
            <a:endParaRPr lang="en-US" sz="1350" dirty="0"/>
          </a:p>
        </p:txBody>
      </p:sp>
      <p:sp>
        <p:nvSpPr>
          <p:cNvPr id="7" name="Text 5"/>
          <p:cNvSpPr/>
          <p:nvPr/>
        </p:nvSpPr>
        <p:spPr>
          <a:xfrm>
            <a:off x="640080" y="2889504"/>
            <a:ext cx="2606040" cy="365760"/>
          </a:xfrm>
          <a:prstGeom prst="rect">
            <a:avLst/>
          </a:prstGeom>
          <a:noFill/>
          <a:ln/>
        </p:spPr>
        <p:txBody>
          <a:bodyPr wrap="square" lIns="0" tIns="0" rIns="0" bIns="0" rtlCol="0" anchor="ctr"/>
          <a:lstStyle/>
          <a:p>
            <a:pPr marL="0" indent="0" algn="ctr">
              <a:buNone/>
            </a:pPr>
            <a:r>
              <a:rPr lang="en-US" sz="1050" dirty="0">
                <a:solidFill>
                  <a:srgbClr val="5B7280"/>
                </a:solidFill>
                <a:latin typeface="Arial" pitchFamily="34" charset="0"/>
                <a:ea typeface="Arial" pitchFamily="34" charset="-122"/>
                <a:cs typeface="Arial" pitchFamily="34" charset="-120"/>
              </a:rPr>
              <a:t>7 nam · 3 nữ · tuổi 24 ± 1,5</a:t>
            </a:r>
            <a:endParaRPr lang="en-US" sz="1050" dirty="0"/>
          </a:p>
        </p:txBody>
      </p:sp>
      <p:sp>
        <p:nvSpPr>
          <p:cNvPr id="8" name="Shape 6"/>
          <p:cNvSpPr/>
          <p:nvPr/>
        </p:nvSpPr>
        <p:spPr>
          <a:xfrm>
            <a:off x="3593592" y="1828800"/>
            <a:ext cx="2788920" cy="1508760"/>
          </a:xfrm>
          <a:prstGeom prst="roundRect">
            <a:avLst>
              <a:gd name="adj" fmla="val 4848"/>
            </a:avLst>
          </a:prstGeom>
          <a:solidFill>
            <a:srgbClr val="FFFFFF"/>
          </a:solidFill>
          <a:ln w="12700">
            <a:solidFill>
              <a:srgbClr val="D5E8E5"/>
            </a:solidFill>
            <a:prstDash val="solid"/>
          </a:ln>
          <a:effectLst>
            <a:outerShdw blurRad="76200" dist="25400" dir="5400000" algn="bl" rotWithShape="0">
              <a:srgbClr val="9DBDB9">
                <a:alpha val="30000"/>
              </a:srgbClr>
            </a:outerShdw>
          </a:effectLst>
        </p:spPr>
      </p:sp>
      <p:sp>
        <p:nvSpPr>
          <p:cNvPr id="9" name="Text 7"/>
          <p:cNvSpPr/>
          <p:nvPr/>
        </p:nvSpPr>
        <p:spPr>
          <a:xfrm>
            <a:off x="3639312" y="2011680"/>
            <a:ext cx="2697480" cy="548640"/>
          </a:xfrm>
          <a:prstGeom prst="rect">
            <a:avLst/>
          </a:prstGeom>
          <a:noFill/>
          <a:ln/>
        </p:spPr>
        <p:txBody>
          <a:bodyPr wrap="square" lIns="0" tIns="0" rIns="0" bIns="0" rtlCol="0" anchor="ctr"/>
          <a:lstStyle/>
          <a:p>
            <a:pPr marL="0" indent="0" algn="ctr">
              <a:buNone/>
            </a:pPr>
            <a:r>
              <a:rPr lang="en-US" sz="3000" b="1" dirty="0">
                <a:solidFill>
                  <a:srgbClr val="028090"/>
                </a:solidFill>
                <a:latin typeface="Arial" pitchFamily="34" charset="0"/>
                <a:ea typeface="Arial" pitchFamily="34" charset="-122"/>
                <a:cs typeface="Arial" pitchFamily="34" charset="-120"/>
              </a:rPr>
              <a:t>2 kHz</a:t>
            </a:r>
            <a:endParaRPr lang="en-US" sz="3000" dirty="0"/>
          </a:p>
        </p:txBody>
      </p:sp>
      <p:sp>
        <p:nvSpPr>
          <p:cNvPr id="10" name="Text 8"/>
          <p:cNvSpPr/>
          <p:nvPr/>
        </p:nvSpPr>
        <p:spPr>
          <a:xfrm>
            <a:off x="3639312" y="2578608"/>
            <a:ext cx="2697480" cy="320040"/>
          </a:xfrm>
          <a:prstGeom prst="rect">
            <a:avLst/>
          </a:prstGeom>
          <a:noFill/>
          <a:ln/>
        </p:spPr>
        <p:txBody>
          <a:bodyPr wrap="square" lIns="0" tIns="0" rIns="0" bIns="0" rtlCol="0" anchor="ctr"/>
          <a:lstStyle/>
          <a:p>
            <a:pPr marL="0" indent="0" algn="ctr">
              <a:buNone/>
            </a:pPr>
            <a:r>
              <a:rPr lang="en-US" sz="1350" b="1" dirty="0">
                <a:solidFill>
                  <a:srgbClr val="12303F"/>
                </a:solidFill>
                <a:latin typeface="Arial" pitchFamily="34" charset="0"/>
                <a:ea typeface="Arial" pitchFamily="34" charset="-122"/>
                <a:cs typeface="Arial" pitchFamily="34" charset="-120"/>
              </a:rPr>
              <a:t>tần số lấy mẫu</a:t>
            </a:r>
            <a:endParaRPr lang="en-US" sz="1350" dirty="0"/>
          </a:p>
        </p:txBody>
      </p:sp>
      <p:sp>
        <p:nvSpPr>
          <p:cNvPr id="11" name="Text 9"/>
          <p:cNvSpPr/>
          <p:nvPr/>
        </p:nvSpPr>
        <p:spPr>
          <a:xfrm>
            <a:off x="3685032" y="2889504"/>
            <a:ext cx="2606040" cy="365760"/>
          </a:xfrm>
          <a:prstGeom prst="rect">
            <a:avLst/>
          </a:prstGeom>
          <a:noFill/>
          <a:ln/>
        </p:spPr>
        <p:txBody>
          <a:bodyPr wrap="square" lIns="0" tIns="0" rIns="0" bIns="0" rtlCol="0" anchor="ctr"/>
          <a:lstStyle/>
          <a:p>
            <a:pPr marL="0" indent="0" algn="ctr">
              <a:buNone/>
            </a:pPr>
            <a:r>
              <a:rPr lang="en-US" sz="1050" dirty="0">
                <a:solidFill>
                  <a:srgbClr val="5B7280"/>
                </a:solidFill>
                <a:latin typeface="Arial" pitchFamily="34" charset="0"/>
                <a:ea typeface="Arial" pitchFamily="34" charset="-122"/>
                <a:cs typeface="Arial" pitchFamily="34" charset="-120"/>
              </a:rPr>
              <a:t>sEMG bề mặt</a:t>
            </a:r>
            <a:endParaRPr lang="en-US" sz="1050" dirty="0"/>
          </a:p>
        </p:txBody>
      </p:sp>
      <p:sp>
        <p:nvSpPr>
          <p:cNvPr id="12" name="Shape 10"/>
          <p:cNvSpPr/>
          <p:nvPr/>
        </p:nvSpPr>
        <p:spPr>
          <a:xfrm>
            <a:off x="548640" y="3593592"/>
            <a:ext cx="2788920" cy="1508760"/>
          </a:xfrm>
          <a:prstGeom prst="roundRect">
            <a:avLst>
              <a:gd name="adj" fmla="val 4848"/>
            </a:avLst>
          </a:prstGeom>
          <a:solidFill>
            <a:srgbClr val="FFFFFF"/>
          </a:solidFill>
          <a:ln w="12700">
            <a:solidFill>
              <a:srgbClr val="D5E8E5"/>
            </a:solidFill>
            <a:prstDash val="solid"/>
          </a:ln>
          <a:effectLst>
            <a:outerShdw blurRad="76200" dist="25400" dir="5400000" algn="bl" rotWithShape="0">
              <a:srgbClr val="9DBDB9">
                <a:alpha val="30000"/>
              </a:srgbClr>
            </a:outerShdw>
          </a:effectLst>
        </p:spPr>
      </p:sp>
      <p:sp>
        <p:nvSpPr>
          <p:cNvPr id="13" name="Text 11"/>
          <p:cNvSpPr/>
          <p:nvPr/>
        </p:nvSpPr>
        <p:spPr>
          <a:xfrm>
            <a:off x="594360" y="3776472"/>
            <a:ext cx="2697480" cy="548640"/>
          </a:xfrm>
          <a:prstGeom prst="rect">
            <a:avLst/>
          </a:prstGeom>
          <a:noFill/>
          <a:ln/>
        </p:spPr>
        <p:txBody>
          <a:bodyPr wrap="square" lIns="0" tIns="0" rIns="0" bIns="0" rtlCol="0" anchor="ctr"/>
          <a:lstStyle/>
          <a:p>
            <a:pPr marL="0" indent="0" algn="ctr">
              <a:buNone/>
            </a:pPr>
            <a:r>
              <a:rPr lang="en-US" sz="3000" b="1" dirty="0">
                <a:solidFill>
                  <a:srgbClr val="028090"/>
                </a:solidFill>
                <a:latin typeface="Arial" pitchFamily="34" charset="0"/>
                <a:ea typeface="Arial" pitchFamily="34" charset="-122"/>
                <a:cs typeface="Arial" pitchFamily="34" charset="-120"/>
              </a:rPr>
              <a:t>Biceps</a:t>
            </a:r>
            <a:endParaRPr lang="en-US" sz="3000" dirty="0"/>
          </a:p>
        </p:txBody>
      </p:sp>
      <p:sp>
        <p:nvSpPr>
          <p:cNvPr id="14" name="Text 12"/>
          <p:cNvSpPr/>
          <p:nvPr/>
        </p:nvSpPr>
        <p:spPr>
          <a:xfrm>
            <a:off x="594360" y="4343400"/>
            <a:ext cx="2697480" cy="320040"/>
          </a:xfrm>
          <a:prstGeom prst="rect">
            <a:avLst/>
          </a:prstGeom>
          <a:noFill/>
          <a:ln/>
        </p:spPr>
        <p:txBody>
          <a:bodyPr wrap="square" lIns="0" tIns="0" rIns="0" bIns="0" rtlCol="0" anchor="ctr"/>
          <a:lstStyle/>
          <a:p>
            <a:pPr marL="0" indent="0" algn="ctr">
              <a:buNone/>
            </a:pPr>
            <a:r>
              <a:rPr lang="en-US" sz="1350" b="1" dirty="0">
                <a:solidFill>
                  <a:srgbClr val="12303F"/>
                </a:solidFill>
                <a:latin typeface="Arial" pitchFamily="34" charset="0"/>
                <a:ea typeface="Arial" pitchFamily="34" charset="-122"/>
                <a:cs typeface="Arial" pitchFamily="34" charset="-120"/>
              </a:rPr>
              <a:t>cơ nhị đầu tay phải</a:t>
            </a:r>
            <a:endParaRPr lang="en-US" sz="1350" dirty="0"/>
          </a:p>
        </p:txBody>
      </p:sp>
      <p:sp>
        <p:nvSpPr>
          <p:cNvPr id="15" name="Text 13"/>
          <p:cNvSpPr/>
          <p:nvPr/>
        </p:nvSpPr>
        <p:spPr>
          <a:xfrm>
            <a:off x="640080" y="4654296"/>
            <a:ext cx="2606040" cy="365760"/>
          </a:xfrm>
          <a:prstGeom prst="rect">
            <a:avLst/>
          </a:prstGeom>
          <a:noFill/>
          <a:ln/>
        </p:spPr>
        <p:txBody>
          <a:bodyPr wrap="square" lIns="0" tIns="0" rIns="0" bIns="0" rtlCol="0" anchor="ctr"/>
          <a:lstStyle/>
          <a:p>
            <a:pPr marL="0" indent="0" algn="ctr">
              <a:buNone/>
            </a:pPr>
            <a:r>
              <a:rPr lang="en-US" sz="1050" dirty="0">
                <a:solidFill>
                  <a:srgbClr val="5B7280"/>
                </a:solidFill>
                <a:latin typeface="Arial" pitchFamily="34" charset="0"/>
                <a:ea typeface="Arial" pitchFamily="34" charset="-122"/>
                <a:cs typeface="Arial" pitchFamily="34" charset="-120"/>
              </a:rPr>
              <a:t>vị trí đo theo SENIAM</a:t>
            </a:r>
            <a:endParaRPr lang="en-US" sz="1050" dirty="0"/>
          </a:p>
        </p:txBody>
      </p:sp>
      <p:sp>
        <p:nvSpPr>
          <p:cNvPr id="16" name="Shape 14"/>
          <p:cNvSpPr/>
          <p:nvPr/>
        </p:nvSpPr>
        <p:spPr>
          <a:xfrm>
            <a:off x="3593592" y="3593592"/>
            <a:ext cx="2788920" cy="1508760"/>
          </a:xfrm>
          <a:prstGeom prst="roundRect">
            <a:avLst>
              <a:gd name="adj" fmla="val 4848"/>
            </a:avLst>
          </a:prstGeom>
          <a:solidFill>
            <a:srgbClr val="FFFFFF"/>
          </a:solidFill>
          <a:ln w="12700">
            <a:solidFill>
              <a:srgbClr val="D5E8E5"/>
            </a:solidFill>
            <a:prstDash val="solid"/>
          </a:ln>
          <a:effectLst>
            <a:outerShdw blurRad="76200" dist="25400" dir="5400000" algn="bl" rotWithShape="0">
              <a:srgbClr val="9DBDB9">
                <a:alpha val="30000"/>
              </a:srgbClr>
            </a:outerShdw>
          </a:effectLst>
        </p:spPr>
      </p:sp>
      <p:sp>
        <p:nvSpPr>
          <p:cNvPr id="17" name="Text 15"/>
          <p:cNvSpPr/>
          <p:nvPr/>
        </p:nvSpPr>
        <p:spPr>
          <a:xfrm>
            <a:off x="3639312" y="3776472"/>
            <a:ext cx="2697480" cy="548640"/>
          </a:xfrm>
          <a:prstGeom prst="rect">
            <a:avLst/>
          </a:prstGeom>
          <a:noFill/>
          <a:ln/>
        </p:spPr>
        <p:txBody>
          <a:bodyPr wrap="square" lIns="0" tIns="0" rIns="0" bIns="0" rtlCol="0" anchor="ctr"/>
          <a:lstStyle/>
          <a:p>
            <a:pPr marL="0" indent="0" algn="ctr">
              <a:buNone/>
            </a:pPr>
            <a:r>
              <a:rPr lang="en-US" sz="3000" b="1" dirty="0">
                <a:solidFill>
                  <a:srgbClr val="028090"/>
                </a:solidFill>
                <a:latin typeface="Arial" pitchFamily="34" charset="0"/>
                <a:ea typeface="Arial" pitchFamily="34" charset="-122"/>
                <a:cs typeface="Arial" pitchFamily="34" charset="-120"/>
              </a:rPr>
              <a:t>2 lớp</a:t>
            </a:r>
            <a:endParaRPr lang="en-US" sz="3000" dirty="0"/>
          </a:p>
        </p:txBody>
      </p:sp>
      <p:sp>
        <p:nvSpPr>
          <p:cNvPr id="18" name="Text 16"/>
          <p:cNvSpPr/>
          <p:nvPr/>
        </p:nvSpPr>
        <p:spPr>
          <a:xfrm>
            <a:off x="3639312" y="4343400"/>
            <a:ext cx="2697480" cy="320040"/>
          </a:xfrm>
          <a:prstGeom prst="rect">
            <a:avLst/>
          </a:prstGeom>
          <a:noFill/>
          <a:ln/>
        </p:spPr>
        <p:txBody>
          <a:bodyPr wrap="square" lIns="0" tIns="0" rIns="0" bIns="0" rtlCol="0" anchor="ctr"/>
          <a:lstStyle/>
          <a:p>
            <a:pPr marL="0" indent="0" algn="ctr">
              <a:buNone/>
            </a:pPr>
            <a:r>
              <a:rPr lang="en-US" sz="1350" b="1" dirty="0">
                <a:solidFill>
                  <a:srgbClr val="12303F"/>
                </a:solidFill>
                <a:latin typeface="Arial" pitchFamily="34" charset="0"/>
                <a:ea typeface="Arial" pitchFamily="34" charset="-122"/>
                <a:cs typeface="Arial" pitchFamily="34" charset="-120"/>
              </a:rPr>
              <a:t>Normal / Fatigue</a:t>
            </a:r>
            <a:endParaRPr lang="en-US" sz="1350" dirty="0"/>
          </a:p>
        </p:txBody>
      </p:sp>
      <p:sp>
        <p:nvSpPr>
          <p:cNvPr id="19" name="Text 17"/>
          <p:cNvSpPr/>
          <p:nvPr/>
        </p:nvSpPr>
        <p:spPr>
          <a:xfrm>
            <a:off x="3685032" y="4654296"/>
            <a:ext cx="2606040" cy="365760"/>
          </a:xfrm>
          <a:prstGeom prst="rect">
            <a:avLst/>
          </a:prstGeom>
          <a:noFill/>
          <a:ln/>
        </p:spPr>
        <p:txBody>
          <a:bodyPr wrap="square" lIns="0" tIns="0" rIns="0" bIns="0" rtlCol="0" anchor="ctr"/>
          <a:lstStyle/>
          <a:p>
            <a:pPr marL="0" indent="0" algn="ctr">
              <a:buNone/>
            </a:pPr>
            <a:r>
              <a:rPr lang="en-US" sz="1050" dirty="0">
                <a:solidFill>
                  <a:srgbClr val="5B7280"/>
                </a:solidFill>
                <a:latin typeface="Arial" pitchFamily="34" charset="0"/>
                <a:ea typeface="Arial" pitchFamily="34" charset="-122"/>
                <a:cs typeface="Arial" pitchFamily="34" charset="-120"/>
              </a:rPr>
              <a:t>nhãn phân loại</a:t>
            </a:r>
            <a:endParaRPr lang="en-US" sz="1050" dirty="0"/>
          </a:p>
        </p:txBody>
      </p:sp>
      <p:sp>
        <p:nvSpPr>
          <p:cNvPr id="20" name="Shape 18"/>
          <p:cNvSpPr/>
          <p:nvPr/>
        </p:nvSpPr>
        <p:spPr>
          <a:xfrm>
            <a:off x="6720840" y="1828800"/>
            <a:ext cx="4937760" cy="3520440"/>
          </a:xfrm>
          <a:prstGeom prst="roundRect">
            <a:avLst>
              <a:gd name="adj" fmla="val 2597"/>
            </a:avLst>
          </a:prstGeom>
          <a:solidFill>
            <a:srgbClr val="0B2A4A"/>
          </a:solidFill>
          <a:ln/>
        </p:spPr>
      </p:sp>
      <p:sp>
        <p:nvSpPr>
          <p:cNvPr id="21" name="Text 19"/>
          <p:cNvSpPr/>
          <p:nvPr/>
        </p:nvSpPr>
        <p:spPr>
          <a:xfrm>
            <a:off x="7086600" y="2029968"/>
            <a:ext cx="4206240" cy="36576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Giao thức theo %MVC</a:t>
            </a:r>
            <a:endParaRPr lang="en-US" sz="1600" dirty="0"/>
          </a:p>
        </p:txBody>
      </p:sp>
      <p:sp>
        <p:nvSpPr>
          <p:cNvPr id="22" name="Shape 20"/>
          <p:cNvSpPr/>
          <p:nvPr/>
        </p:nvSpPr>
        <p:spPr>
          <a:xfrm>
            <a:off x="7086600" y="2542032"/>
            <a:ext cx="384048" cy="384048"/>
          </a:xfrm>
          <a:prstGeom prst="ellipse">
            <a:avLst/>
          </a:prstGeom>
          <a:solidFill>
            <a:srgbClr val="00A896"/>
          </a:solidFill>
          <a:ln/>
        </p:spPr>
      </p:sp>
      <p:sp>
        <p:nvSpPr>
          <p:cNvPr id="23" name="Text 21"/>
          <p:cNvSpPr/>
          <p:nvPr/>
        </p:nvSpPr>
        <p:spPr>
          <a:xfrm>
            <a:off x="7086600" y="2542032"/>
            <a:ext cx="384048" cy="384048"/>
          </a:xfrm>
          <a:prstGeom prst="rect">
            <a:avLst/>
          </a:prstGeom>
          <a:noFill/>
          <a:ln/>
        </p:spPr>
        <p:txBody>
          <a:bodyPr wrap="square" lIns="0" tIns="0" rIns="0" bIns="0" rtlCol="0" anchor="ctr"/>
          <a:lstStyle/>
          <a:p>
            <a:pPr marL="0" indent="0" algn="ctr">
              <a:buNone/>
            </a:pPr>
            <a:r>
              <a:rPr lang="en-US" sz="1500" b="1" dirty="0">
                <a:solidFill>
                  <a:srgbClr val="0B2A4A"/>
                </a:solidFill>
                <a:latin typeface="Arial" pitchFamily="34" charset="0"/>
                <a:ea typeface="Arial" pitchFamily="34" charset="-122"/>
                <a:cs typeface="Arial" pitchFamily="34" charset="-120"/>
              </a:rPr>
              <a:t>1</a:t>
            </a:r>
            <a:endParaRPr lang="en-US" sz="1500" dirty="0"/>
          </a:p>
        </p:txBody>
      </p:sp>
      <p:sp>
        <p:nvSpPr>
          <p:cNvPr id="24" name="Text 22"/>
          <p:cNvSpPr/>
          <p:nvPr/>
        </p:nvSpPr>
        <p:spPr>
          <a:xfrm>
            <a:off x="7635240" y="2505456"/>
            <a:ext cx="3749040" cy="292608"/>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10% MVC</a:t>
            </a:r>
            <a:endParaRPr lang="en-US" sz="1350" dirty="0"/>
          </a:p>
        </p:txBody>
      </p:sp>
      <p:sp>
        <p:nvSpPr>
          <p:cNvPr id="25" name="Text 23"/>
          <p:cNvSpPr/>
          <p:nvPr/>
        </p:nvSpPr>
        <p:spPr>
          <a:xfrm>
            <a:off x="7635240" y="2779776"/>
            <a:ext cx="3749040" cy="274320"/>
          </a:xfrm>
          <a:prstGeom prst="rect">
            <a:avLst/>
          </a:prstGeom>
          <a:noFill/>
          <a:ln/>
        </p:spPr>
        <p:txBody>
          <a:bodyPr wrap="square" lIns="0" tIns="0" rIns="0" bIns="0" rtlCol="0" anchor="ctr"/>
          <a:lstStyle/>
          <a:p>
            <a:pPr marL="0" indent="0">
              <a:buNone/>
            </a:pPr>
            <a:r>
              <a:rPr lang="en-US" sz="1100" dirty="0">
                <a:solidFill>
                  <a:srgbClr val="A9C6C3"/>
                </a:solidFill>
                <a:latin typeface="Arial" pitchFamily="34" charset="0"/>
                <a:ea typeface="Arial" pitchFamily="34" charset="-122"/>
                <a:cs typeface="Arial" pitchFamily="34" charset="-120"/>
              </a:rPr>
              <a:t>co cơ nền, đo tham chiếu</a:t>
            </a:r>
            <a:endParaRPr lang="en-US" sz="1100" dirty="0"/>
          </a:p>
        </p:txBody>
      </p:sp>
      <p:sp>
        <p:nvSpPr>
          <p:cNvPr id="26" name="Shape 24"/>
          <p:cNvSpPr/>
          <p:nvPr/>
        </p:nvSpPr>
        <p:spPr>
          <a:xfrm>
            <a:off x="7086600" y="3200400"/>
            <a:ext cx="384048" cy="384048"/>
          </a:xfrm>
          <a:prstGeom prst="ellipse">
            <a:avLst/>
          </a:prstGeom>
          <a:solidFill>
            <a:srgbClr val="00A896"/>
          </a:solidFill>
          <a:ln/>
        </p:spPr>
      </p:sp>
      <p:sp>
        <p:nvSpPr>
          <p:cNvPr id="27" name="Text 25"/>
          <p:cNvSpPr/>
          <p:nvPr/>
        </p:nvSpPr>
        <p:spPr>
          <a:xfrm>
            <a:off x="7086600" y="3200400"/>
            <a:ext cx="384048" cy="384048"/>
          </a:xfrm>
          <a:prstGeom prst="rect">
            <a:avLst/>
          </a:prstGeom>
          <a:noFill/>
          <a:ln/>
        </p:spPr>
        <p:txBody>
          <a:bodyPr wrap="square" lIns="0" tIns="0" rIns="0" bIns="0" rtlCol="0" anchor="ctr"/>
          <a:lstStyle/>
          <a:p>
            <a:pPr marL="0" indent="0" algn="ctr">
              <a:buNone/>
            </a:pPr>
            <a:r>
              <a:rPr lang="en-US" sz="1500" b="1" dirty="0">
                <a:solidFill>
                  <a:srgbClr val="0B2A4A"/>
                </a:solidFill>
                <a:latin typeface="Arial" pitchFamily="34" charset="0"/>
                <a:ea typeface="Arial" pitchFamily="34" charset="-122"/>
                <a:cs typeface="Arial" pitchFamily="34" charset="-120"/>
              </a:rPr>
              <a:t>2</a:t>
            </a:r>
            <a:endParaRPr lang="en-US" sz="1500" dirty="0"/>
          </a:p>
        </p:txBody>
      </p:sp>
      <p:sp>
        <p:nvSpPr>
          <p:cNvPr id="28" name="Text 26"/>
          <p:cNvSpPr/>
          <p:nvPr/>
        </p:nvSpPr>
        <p:spPr>
          <a:xfrm>
            <a:off x="7635240" y="3163824"/>
            <a:ext cx="3749040" cy="292608"/>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20 / 40 / 60 / 90% MVC</a:t>
            </a:r>
            <a:endParaRPr lang="en-US" sz="1350" dirty="0"/>
          </a:p>
        </p:txBody>
      </p:sp>
      <p:sp>
        <p:nvSpPr>
          <p:cNvPr id="29" name="Text 27"/>
          <p:cNvSpPr/>
          <p:nvPr/>
        </p:nvSpPr>
        <p:spPr>
          <a:xfrm>
            <a:off x="7635240" y="3438144"/>
            <a:ext cx="3749040" cy="274320"/>
          </a:xfrm>
          <a:prstGeom prst="rect">
            <a:avLst/>
          </a:prstGeom>
          <a:noFill/>
          <a:ln/>
        </p:spPr>
        <p:txBody>
          <a:bodyPr wrap="square" lIns="0" tIns="0" rIns="0" bIns="0" rtlCol="0" anchor="ctr"/>
          <a:lstStyle/>
          <a:p>
            <a:pPr marL="0" indent="0">
              <a:buNone/>
            </a:pPr>
            <a:r>
              <a:rPr lang="en-US" sz="1100" dirty="0">
                <a:solidFill>
                  <a:srgbClr val="A9C6C3"/>
                </a:solidFill>
                <a:latin typeface="Arial" pitchFamily="34" charset="0"/>
                <a:ea typeface="Arial" pitchFamily="34" charset="-122"/>
                <a:cs typeface="Arial" pitchFamily="34" charset="-120"/>
              </a:rPr>
              <a:t>co cơ ngẫu nhiên các mức</a:t>
            </a:r>
            <a:endParaRPr lang="en-US" sz="1100" dirty="0"/>
          </a:p>
        </p:txBody>
      </p:sp>
      <p:sp>
        <p:nvSpPr>
          <p:cNvPr id="30" name="Shape 28"/>
          <p:cNvSpPr/>
          <p:nvPr/>
        </p:nvSpPr>
        <p:spPr>
          <a:xfrm>
            <a:off x="7086600" y="3858768"/>
            <a:ext cx="384048" cy="384048"/>
          </a:xfrm>
          <a:prstGeom prst="ellipse">
            <a:avLst/>
          </a:prstGeom>
          <a:solidFill>
            <a:srgbClr val="C9A227"/>
          </a:solidFill>
          <a:ln/>
        </p:spPr>
      </p:sp>
      <p:sp>
        <p:nvSpPr>
          <p:cNvPr id="31" name="Text 29"/>
          <p:cNvSpPr/>
          <p:nvPr/>
        </p:nvSpPr>
        <p:spPr>
          <a:xfrm>
            <a:off x="7086600" y="3858768"/>
            <a:ext cx="384048" cy="384048"/>
          </a:xfrm>
          <a:prstGeom prst="rect">
            <a:avLst/>
          </a:prstGeom>
          <a:noFill/>
          <a:ln/>
        </p:spPr>
        <p:txBody>
          <a:bodyPr wrap="square" lIns="0" tIns="0" rIns="0" bIns="0" rtlCol="0" anchor="ctr"/>
          <a:lstStyle/>
          <a:p>
            <a:pPr marL="0" indent="0" algn="ctr">
              <a:buNone/>
            </a:pPr>
            <a:r>
              <a:rPr lang="en-US" sz="1500" b="1" dirty="0">
                <a:solidFill>
                  <a:srgbClr val="0B2A4A"/>
                </a:solidFill>
                <a:latin typeface="Arial" pitchFamily="34" charset="0"/>
                <a:ea typeface="Arial" pitchFamily="34" charset="-122"/>
                <a:cs typeface="Arial" pitchFamily="34" charset="-120"/>
              </a:rPr>
              <a:t>3</a:t>
            </a:r>
            <a:endParaRPr lang="en-US" sz="1500" dirty="0"/>
          </a:p>
        </p:txBody>
      </p:sp>
      <p:sp>
        <p:nvSpPr>
          <p:cNvPr id="32" name="Text 30"/>
          <p:cNvSpPr/>
          <p:nvPr/>
        </p:nvSpPr>
        <p:spPr>
          <a:xfrm>
            <a:off x="7635240" y="3822192"/>
            <a:ext cx="3749040" cy="292608"/>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70% MVC đến khi kiệt sức</a:t>
            </a:r>
            <a:endParaRPr lang="en-US" sz="1350" dirty="0"/>
          </a:p>
        </p:txBody>
      </p:sp>
      <p:sp>
        <p:nvSpPr>
          <p:cNvPr id="33" name="Text 31"/>
          <p:cNvSpPr/>
          <p:nvPr/>
        </p:nvSpPr>
        <p:spPr>
          <a:xfrm>
            <a:off x="7635240" y="4096512"/>
            <a:ext cx="3749040" cy="274320"/>
          </a:xfrm>
          <a:prstGeom prst="rect">
            <a:avLst/>
          </a:prstGeom>
          <a:noFill/>
          <a:ln/>
        </p:spPr>
        <p:txBody>
          <a:bodyPr wrap="square" lIns="0" tIns="0" rIns="0" bIns="0" rtlCol="0" anchor="ctr"/>
          <a:lstStyle/>
          <a:p>
            <a:pPr marL="0" indent="0">
              <a:buNone/>
            </a:pPr>
            <a:r>
              <a:rPr lang="en-US" sz="1100" dirty="0">
                <a:solidFill>
                  <a:srgbClr val="A9C6C3"/>
                </a:solidFill>
                <a:latin typeface="Arial" pitchFamily="34" charset="0"/>
                <a:ea typeface="Arial" pitchFamily="34" charset="-122"/>
                <a:cs typeface="Arial" pitchFamily="34" charset="-120"/>
              </a:rPr>
              <a:t>giai đoạn gây mỏi cơ (Fatigue)</a:t>
            </a:r>
            <a:endParaRPr lang="en-US" sz="1100" dirty="0"/>
          </a:p>
        </p:txBody>
      </p:sp>
      <p:sp>
        <p:nvSpPr>
          <p:cNvPr id="34" name="Shape 32"/>
          <p:cNvSpPr/>
          <p:nvPr/>
        </p:nvSpPr>
        <p:spPr>
          <a:xfrm>
            <a:off x="7086600" y="4517136"/>
            <a:ext cx="384048" cy="384048"/>
          </a:xfrm>
          <a:prstGeom prst="ellipse">
            <a:avLst/>
          </a:prstGeom>
          <a:solidFill>
            <a:srgbClr val="00A896"/>
          </a:solidFill>
          <a:ln/>
        </p:spPr>
      </p:sp>
      <p:sp>
        <p:nvSpPr>
          <p:cNvPr id="35" name="Text 33"/>
          <p:cNvSpPr/>
          <p:nvPr/>
        </p:nvSpPr>
        <p:spPr>
          <a:xfrm>
            <a:off x="7086600" y="4517136"/>
            <a:ext cx="384048" cy="384048"/>
          </a:xfrm>
          <a:prstGeom prst="rect">
            <a:avLst/>
          </a:prstGeom>
          <a:noFill/>
          <a:ln/>
        </p:spPr>
        <p:txBody>
          <a:bodyPr wrap="square" lIns="0" tIns="0" rIns="0" bIns="0" rtlCol="0" anchor="ctr"/>
          <a:lstStyle/>
          <a:p>
            <a:pPr marL="0" indent="0" algn="ctr">
              <a:buNone/>
            </a:pPr>
            <a:r>
              <a:rPr lang="en-US" sz="1500" b="1" dirty="0">
                <a:solidFill>
                  <a:srgbClr val="0B2A4A"/>
                </a:solidFill>
                <a:latin typeface="Arial" pitchFamily="34" charset="0"/>
                <a:ea typeface="Arial" pitchFamily="34" charset="-122"/>
                <a:cs typeface="Arial" pitchFamily="34" charset="-120"/>
              </a:rPr>
              <a:t>4</a:t>
            </a:r>
            <a:endParaRPr lang="en-US" sz="1500" dirty="0"/>
          </a:p>
        </p:txBody>
      </p:sp>
      <p:sp>
        <p:nvSpPr>
          <p:cNvPr id="36" name="Text 34"/>
          <p:cNvSpPr/>
          <p:nvPr/>
        </p:nvSpPr>
        <p:spPr>
          <a:xfrm>
            <a:off x="7635240" y="4480560"/>
            <a:ext cx="3749040" cy="292608"/>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10% MVC sau mỏi</a:t>
            </a:r>
            <a:endParaRPr lang="en-US" sz="1350" dirty="0"/>
          </a:p>
        </p:txBody>
      </p:sp>
      <p:sp>
        <p:nvSpPr>
          <p:cNvPr id="37" name="Text 35"/>
          <p:cNvSpPr/>
          <p:nvPr/>
        </p:nvSpPr>
        <p:spPr>
          <a:xfrm>
            <a:off x="7635240" y="4754880"/>
            <a:ext cx="3749040" cy="274320"/>
          </a:xfrm>
          <a:prstGeom prst="rect">
            <a:avLst/>
          </a:prstGeom>
          <a:noFill/>
          <a:ln/>
        </p:spPr>
        <p:txBody>
          <a:bodyPr wrap="square" lIns="0" tIns="0" rIns="0" bIns="0" rtlCol="0" anchor="ctr"/>
          <a:lstStyle/>
          <a:p>
            <a:pPr marL="0" indent="0">
              <a:buNone/>
            </a:pPr>
            <a:r>
              <a:rPr lang="en-US" sz="1100" dirty="0">
                <a:solidFill>
                  <a:srgbClr val="A9C6C3"/>
                </a:solidFill>
                <a:latin typeface="Arial" pitchFamily="34" charset="0"/>
                <a:ea typeface="Arial" pitchFamily="34" charset="-122"/>
                <a:cs typeface="Arial" pitchFamily="34" charset="-120"/>
              </a:rPr>
              <a:t>đo trạng thái hồi phục</a:t>
            </a:r>
            <a:endParaRPr lang="en-US" sz="1100" dirty="0"/>
          </a:p>
        </p:txBody>
      </p:sp>
      <p:sp>
        <p:nvSpPr>
          <p:cNvPr id="38" name="Text 36"/>
          <p:cNvSpPr/>
          <p:nvPr/>
        </p:nvSpPr>
        <p:spPr>
          <a:xfrm>
            <a:off x="7086600" y="5029200"/>
            <a:ext cx="4206240" cy="274320"/>
          </a:xfrm>
          <a:prstGeom prst="rect">
            <a:avLst/>
          </a:prstGeom>
          <a:noFill/>
          <a:ln/>
        </p:spPr>
        <p:txBody>
          <a:bodyPr wrap="square" lIns="0" tIns="0" rIns="0" bIns="0" rtlCol="0" anchor="ctr"/>
          <a:lstStyle/>
          <a:p>
            <a:pPr marL="0" indent="0">
              <a:buNone/>
            </a:pPr>
            <a:r>
              <a:rPr lang="en-US" sz="1050" i="1" dirty="0">
                <a:solidFill>
                  <a:srgbClr val="8FB6B3"/>
                </a:solidFill>
                <a:latin typeface="Arial" pitchFamily="34" charset="0"/>
                <a:ea typeface="Arial" pitchFamily="34" charset="-122"/>
                <a:cs typeface="Arial" pitchFamily="34" charset="-120"/>
              </a:rPr>
              <a:t>Nghỉ 5 phút giữa mỗi lần co để tránh mỏi tích lũy.</a:t>
            </a:r>
            <a:endParaRPr lang="en-US" sz="1050" dirty="0"/>
          </a:p>
        </p:txBody>
      </p:sp>
      <p:sp>
        <p:nvSpPr>
          <p:cNvPr id="39" name="Text 37"/>
          <p:cNvSpPr/>
          <p:nvPr/>
        </p:nvSpPr>
        <p:spPr>
          <a:xfrm>
            <a:off x="502920" y="6473952"/>
            <a:ext cx="5486400" cy="274320"/>
          </a:xfrm>
          <a:prstGeom prst="rect">
            <a:avLst/>
          </a:prstGeom>
          <a:noFill/>
          <a:ln/>
        </p:spPr>
        <p:txBody>
          <a:bodyPr wrap="square" lIns="0" tIns="0" rIns="0" bIns="0" rtlCol="0" anchor="ctr"/>
          <a:lstStyle/>
          <a:p>
            <a:pPr marL="0" indent="0">
              <a:buNone/>
            </a:pPr>
            <a:r>
              <a:rPr lang="en-US" sz="900" dirty="0">
                <a:solidFill>
                  <a:srgbClr val="5B7280"/>
                </a:solidFill>
                <a:latin typeface="Arial" pitchFamily="34" charset="0"/>
                <a:ea typeface="Arial" pitchFamily="34" charset="-122"/>
                <a:cs typeface="Arial" pitchFamily="34" charset="-120"/>
              </a:rPr>
              <a:t>sEMG Fatigue Detection · Springer 2025</a:t>
            </a:r>
            <a:endParaRPr lang="en-US" sz="900" dirty="0"/>
          </a:p>
        </p:txBody>
      </p:sp>
      <p:sp>
        <p:nvSpPr>
          <p:cNvPr id="40" name="Text 38"/>
          <p:cNvSpPr/>
          <p:nvPr/>
        </p:nvSpPr>
        <p:spPr>
          <a:xfrm>
            <a:off x="11277295" y="6473952"/>
            <a:ext cx="411480" cy="274320"/>
          </a:xfrm>
          <a:prstGeom prst="rect">
            <a:avLst/>
          </a:prstGeom>
          <a:noFill/>
          <a:ln/>
        </p:spPr>
        <p:txBody>
          <a:bodyPr wrap="square" lIns="0" tIns="0" rIns="0" bIns="0" rtlCol="0" anchor="ctr"/>
          <a:lstStyle/>
          <a:p>
            <a:pPr marL="0" indent="0" algn="r">
              <a:buNone/>
            </a:pPr>
            <a:r>
              <a:rPr lang="en-US" sz="900" dirty="0">
                <a:solidFill>
                  <a:srgbClr val="5B7280"/>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marL="0" indent="0">
              <a:buNone/>
            </a:pPr>
            <a:r>
              <a:rPr lang="en-US" sz="1250" b="1" kern="0" spc="200" dirty="0">
                <a:solidFill>
                  <a:srgbClr val="028090"/>
                </a:solidFill>
                <a:latin typeface="Arial" pitchFamily="34" charset="0"/>
                <a:ea typeface="Arial" pitchFamily="34" charset="-122"/>
                <a:cs typeface="Arial" pitchFamily="34" charset="-120"/>
              </a:rPr>
              <a:t>02 · THIẾT LẬP CẢM BIẾN</a:t>
            </a:r>
            <a:endParaRPr lang="en-US" sz="1250" dirty="0"/>
          </a:p>
        </p:txBody>
      </p:sp>
      <p:sp>
        <p:nvSpPr>
          <p:cNvPr id="3" name="Text 1"/>
          <p:cNvSpPr/>
          <p:nvPr/>
        </p:nvSpPr>
        <p:spPr>
          <a:xfrm>
            <a:off x="548640" y="822960"/>
            <a:ext cx="10972800" cy="731520"/>
          </a:xfrm>
          <a:prstGeom prst="rect">
            <a:avLst/>
          </a:prstGeom>
          <a:noFill/>
          <a:ln/>
        </p:spPr>
        <p:txBody>
          <a:bodyPr wrap="square" lIns="0" tIns="0" rIns="0" bIns="0" rtlCol="0" anchor="ctr"/>
          <a:lstStyle/>
          <a:p>
            <a:pPr marL="0" indent="0">
              <a:buNone/>
            </a:pPr>
            <a:r>
              <a:rPr lang="en-US" sz="3100" b="1" dirty="0">
                <a:solidFill>
                  <a:srgbClr val="0B2A4A"/>
                </a:solidFill>
                <a:latin typeface="Cambria" pitchFamily="34" charset="0"/>
                <a:ea typeface="Cambria" pitchFamily="34" charset="-122"/>
                <a:cs typeface="Cambria" pitchFamily="34" charset="-120"/>
              </a:rPr>
              <a:t>Ma trận điện cực sEMG</a:t>
            </a:r>
            <a:endParaRPr lang="en-US" sz="3100" dirty="0"/>
          </a:p>
        </p:txBody>
      </p:sp>
      <p:sp>
        <p:nvSpPr>
          <p:cNvPr id="4" name="Shape 2"/>
          <p:cNvSpPr/>
          <p:nvPr/>
        </p:nvSpPr>
        <p:spPr>
          <a:xfrm>
            <a:off x="548640" y="1783080"/>
            <a:ext cx="6858000" cy="4251960"/>
          </a:xfrm>
          <a:prstGeom prst="roundRect">
            <a:avLst>
              <a:gd name="adj" fmla="val 2151"/>
            </a:avLst>
          </a:prstGeom>
          <a:solidFill>
            <a:srgbClr val="F1FAF9"/>
          </a:solidFill>
          <a:ln w="12700">
            <a:solidFill>
              <a:srgbClr val="D5E8E5"/>
            </a:solidFill>
            <a:prstDash val="solid"/>
          </a:ln>
        </p:spPr>
      </p:sp>
      <p:pic>
        <p:nvPicPr>
          <p:cNvPr id="5" name="Image 0" descr="/home/claude/img_assets/electrode_matrix.png"/>
          <p:cNvPicPr>
            <a:picLocks noChangeAspect="1"/>
          </p:cNvPicPr>
          <p:nvPr/>
        </p:nvPicPr>
        <p:blipFill>
          <a:blip r:embed="rId3"/>
          <a:stretch>
            <a:fillRect/>
          </a:stretch>
        </p:blipFill>
        <p:spPr>
          <a:xfrm>
            <a:off x="777240" y="2011680"/>
            <a:ext cx="6400800" cy="2834640"/>
          </a:xfrm>
          <a:prstGeom prst="rect">
            <a:avLst/>
          </a:prstGeom>
        </p:spPr>
      </p:pic>
      <p:sp>
        <p:nvSpPr>
          <p:cNvPr id="6" name="Text 3"/>
          <p:cNvSpPr/>
          <p:nvPr/>
        </p:nvSpPr>
        <p:spPr>
          <a:xfrm>
            <a:off x="777240" y="4937760"/>
            <a:ext cx="6400800" cy="274320"/>
          </a:xfrm>
          <a:prstGeom prst="rect">
            <a:avLst/>
          </a:prstGeom>
          <a:noFill/>
          <a:ln/>
        </p:spPr>
        <p:txBody>
          <a:bodyPr wrap="square" lIns="0" tIns="0" rIns="0" bIns="0" rtlCol="0" anchor="ctr"/>
          <a:lstStyle/>
          <a:p>
            <a:pPr marL="0" indent="0">
              <a:buNone/>
            </a:pPr>
            <a:r>
              <a:rPr lang="en-US" sz="950" i="1" dirty="0">
                <a:solidFill>
                  <a:srgbClr val="5B7280"/>
                </a:solidFill>
                <a:latin typeface="Arial" pitchFamily="34" charset="0"/>
                <a:ea typeface="Arial" pitchFamily="34" charset="-122"/>
                <a:cs typeface="Arial" pitchFamily="34" charset="-120"/>
              </a:rPr>
              <a:t>Nguồn: hình gốc từ bản thuyết trình ICACE 2019 (mục Materials)</a:t>
            </a:r>
            <a:endParaRPr lang="en-US" sz="950" dirty="0"/>
          </a:p>
        </p:txBody>
      </p:sp>
      <p:sp>
        <p:nvSpPr>
          <p:cNvPr id="7" name="Shape 4"/>
          <p:cNvSpPr/>
          <p:nvPr/>
        </p:nvSpPr>
        <p:spPr>
          <a:xfrm>
            <a:off x="7635240" y="1783080"/>
            <a:ext cx="4023360" cy="4251960"/>
          </a:xfrm>
          <a:prstGeom prst="roundRect">
            <a:avLst>
              <a:gd name="adj" fmla="val 2273"/>
            </a:avLst>
          </a:prstGeom>
          <a:solidFill>
            <a:srgbClr val="0B2A4A"/>
          </a:solidFill>
          <a:ln/>
        </p:spPr>
      </p:sp>
      <p:sp>
        <p:nvSpPr>
          <p:cNvPr id="8" name="Text 5"/>
          <p:cNvSpPr/>
          <p:nvPr/>
        </p:nvSpPr>
        <p:spPr>
          <a:xfrm>
            <a:off x="7955280" y="2011680"/>
            <a:ext cx="3383280" cy="274320"/>
          </a:xfrm>
          <a:prstGeom prst="rect">
            <a:avLst/>
          </a:prstGeom>
          <a:noFill/>
          <a:ln/>
        </p:spPr>
        <p:txBody>
          <a:bodyPr wrap="square" lIns="0" tIns="0" rIns="0" bIns="0" rtlCol="0" anchor="ctr"/>
          <a:lstStyle/>
          <a:p>
            <a:pPr marL="0" indent="0">
              <a:buNone/>
            </a:pPr>
            <a:r>
              <a:rPr lang="en-US" sz="1100" b="1" kern="0" spc="150" dirty="0">
                <a:solidFill>
                  <a:srgbClr val="6FD3C9"/>
                </a:solidFill>
                <a:latin typeface="Arial" pitchFamily="34" charset="0"/>
                <a:ea typeface="Arial" pitchFamily="34" charset="-122"/>
                <a:cs typeface="Arial" pitchFamily="34" charset="-120"/>
              </a:rPr>
              <a:t>THÔNG SỐ THU TÍN HIỆU</a:t>
            </a:r>
            <a:endParaRPr lang="en-US" sz="1100" dirty="0"/>
          </a:p>
        </p:txBody>
      </p:sp>
      <p:sp>
        <p:nvSpPr>
          <p:cNvPr id="9" name="Text 6"/>
          <p:cNvSpPr/>
          <p:nvPr/>
        </p:nvSpPr>
        <p:spPr>
          <a:xfrm>
            <a:off x="7955280" y="2423160"/>
            <a:ext cx="1737360" cy="502920"/>
          </a:xfrm>
          <a:prstGeom prst="rect">
            <a:avLst/>
          </a:prstGeom>
          <a:noFill/>
          <a:ln/>
        </p:spPr>
        <p:txBody>
          <a:bodyPr wrap="square" lIns="0" tIns="0" rIns="0" bIns="0" rtlCol="0" anchor="ctr"/>
          <a:lstStyle/>
          <a:p>
            <a:pPr marL="0" indent="0">
              <a:buNone/>
            </a:pPr>
            <a:r>
              <a:rPr lang="en-US" sz="1150" dirty="0">
                <a:solidFill>
                  <a:srgbClr val="BFD8D5"/>
                </a:solidFill>
                <a:latin typeface="Arial" pitchFamily="34" charset="0"/>
                <a:ea typeface="Arial" pitchFamily="34" charset="-122"/>
                <a:cs typeface="Arial" pitchFamily="34" charset="-120"/>
              </a:rPr>
              <a:t>Vị trí</a:t>
            </a:r>
            <a:endParaRPr lang="en-US" sz="1150" dirty="0"/>
          </a:p>
        </p:txBody>
      </p:sp>
      <p:sp>
        <p:nvSpPr>
          <p:cNvPr id="10" name="Text 7"/>
          <p:cNvSpPr/>
          <p:nvPr/>
        </p:nvSpPr>
        <p:spPr>
          <a:xfrm>
            <a:off x="9601200" y="2423160"/>
            <a:ext cx="1737360" cy="502920"/>
          </a:xfrm>
          <a:prstGeom prst="rect">
            <a:avLst/>
          </a:prstGeom>
          <a:noFill/>
          <a:ln/>
        </p:spPr>
        <p:txBody>
          <a:bodyPr wrap="square" lIns="0" tIns="0" rIns="0" bIns="0" rtlCol="0" anchor="ctr"/>
          <a:lstStyle/>
          <a:p>
            <a:pPr marL="0" indent="0">
              <a:lnSpc>
                <a:spcPct val="105000"/>
              </a:lnSpc>
              <a:buNone/>
            </a:pPr>
            <a:r>
              <a:rPr lang="en-US" sz="1150" b="1" dirty="0">
                <a:solidFill>
                  <a:srgbClr val="FFFFFF"/>
                </a:solidFill>
                <a:latin typeface="Arial" pitchFamily="34" charset="0"/>
                <a:ea typeface="Arial" pitchFamily="34" charset="-122"/>
                <a:cs typeface="Arial" pitchFamily="34" charset="-120"/>
              </a:rPr>
              <a:t>Cơ nhị đầu tay phải</a:t>
            </a:r>
            <a:endParaRPr lang="en-US" sz="1150" dirty="0"/>
          </a:p>
        </p:txBody>
      </p:sp>
      <p:sp>
        <p:nvSpPr>
          <p:cNvPr id="11" name="Text 8"/>
          <p:cNvSpPr/>
          <p:nvPr/>
        </p:nvSpPr>
        <p:spPr>
          <a:xfrm>
            <a:off x="7955280" y="2990088"/>
            <a:ext cx="1737360" cy="502920"/>
          </a:xfrm>
          <a:prstGeom prst="rect">
            <a:avLst/>
          </a:prstGeom>
          <a:noFill/>
          <a:ln/>
        </p:spPr>
        <p:txBody>
          <a:bodyPr wrap="square" lIns="0" tIns="0" rIns="0" bIns="0" rtlCol="0" anchor="ctr"/>
          <a:lstStyle/>
          <a:p>
            <a:pPr marL="0" indent="0">
              <a:buNone/>
            </a:pPr>
            <a:r>
              <a:rPr lang="en-US" sz="1150" dirty="0">
                <a:solidFill>
                  <a:srgbClr val="BFD8D5"/>
                </a:solidFill>
                <a:latin typeface="Arial" pitchFamily="34" charset="0"/>
                <a:ea typeface="Arial" pitchFamily="34" charset="-122"/>
                <a:cs typeface="Arial" pitchFamily="34" charset="-120"/>
              </a:rPr>
              <a:t>Số kênh</a:t>
            </a:r>
            <a:endParaRPr lang="en-US" sz="1150" dirty="0"/>
          </a:p>
        </p:txBody>
      </p:sp>
      <p:sp>
        <p:nvSpPr>
          <p:cNvPr id="12" name="Text 9"/>
          <p:cNvSpPr/>
          <p:nvPr/>
        </p:nvSpPr>
        <p:spPr>
          <a:xfrm>
            <a:off x="9601200" y="2990088"/>
            <a:ext cx="1737360" cy="502920"/>
          </a:xfrm>
          <a:prstGeom prst="rect">
            <a:avLst/>
          </a:prstGeom>
          <a:noFill/>
          <a:ln/>
        </p:spPr>
        <p:txBody>
          <a:bodyPr wrap="square" lIns="0" tIns="0" rIns="0" bIns="0" rtlCol="0" anchor="ctr"/>
          <a:lstStyle/>
          <a:p>
            <a:pPr marL="0" indent="0">
              <a:lnSpc>
                <a:spcPct val="105000"/>
              </a:lnSpc>
              <a:buNone/>
            </a:pPr>
            <a:r>
              <a:rPr lang="en-US" sz="1150" b="1" dirty="0">
                <a:solidFill>
                  <a:srgbClr val="FFFFFF"/>
                </a:solidFill>
                <a:latin typeface="Arial" pitchFamily="34" charset="0"/>
                <a:ea typeface="Arial" pitchFamily="34" charset="-122"/>
                <a:cs typeface="Arial" pitchFamily="34" charset="-120"/>
              </a:rPr>
              <a:t>64 kênh (ICACE 2019)</a:t>
            </a:r>
            <a:endParaRPr lang="en-US" sz="1150" dirty="0"/>
          </a:p>
        </p:txBody>
      </p:sp>
      <p:sp>
        <p:nvSpPr>
          <p:cNvPr id="13" name="Text 10"/>
          <p:cNvSpPr/>
          <p:nvPr/>
        </p:nvSpPr>
        <p:spPr>
          <a:xfrm>
            <a:off x="7955280" y="3557016"/>
            <a:ext cx="1737360" cy="502920"/>
          </a:xfrm>
          <a:prstGeom prst="rect">
            <a:avLst/>
          </a:prstGeom>
          <a:noFill/>
          <a:ln/>
        </p:spPr>
        <p:txBody>
          <a:bodyPr wrap="square" lIns="0" tIns="0" rIns="0" bIns="0" rtlCol="0" anchor="ctr"/>
          <a:lstStyle/>
          <a:p>
            <a:pPr marL="0" indent="0">
              <a:buNone/>
            </a:pPr>
            <a:r>
              <a:rPr lang="en-US" sz="1150" dirty="0">
                <a:solidFill>
                  <a:srgbClr val="BFD8D5"/>
                </a:solidFill>
                <a:latin typeface="Arial" pitchFamily="34" charset="0"/>
                <a:ea typeface="Arial" pitchFamily="34" charset="-122"/>
                <a:cs typeface="Arial" pitchFamily="34" charset="-120"/>
              </a:rPr>
              <a:t>Tần số lấy mẫu</a:t>
            </a:r>
            <a:endParaRPr lang="en-US" sz="1150" dirty="0"/>
          </a:p>
        </p:txBody>
      </p:sp>
      <p:sp>
        <p:nvSpPr>
          <p:cNvPr id="14" name="Text 11"/>
          <p:cNvSpPr/>
          <p:nvPr/>
        </p:nvSpPr>
        <p:spPr>
          <a:xfrm>
            <a:off x="9601200" y="3557016"/>
            <a:ext cx="1737360" cy="502920"/>
          </a:xfrm>
          <a:prstGeom prst="rect">
            <a:avLst/>
          </a:prstGeom>
          <a:noFill/>
          <a:ln/>
        </p:spPr>
        <p:txBody>
          <a:bodyPr wrap="square" lIns="0" tIns="0" rIns="0" bIns="0" rtlCol="0" anchor="ctr"/>
          <a:lstStyle/>
          <a:p>
            <a:pPr marL="0" indent="0">
              <a:lnSpc>
                <a:spcPct val="105000"/>
              </a:lnSpc>
              <a:buNone/>
            </a:pPr>
            <a:r>
              <a:rPr lang="en-US" sz="1150" b="1" dirty="0">
                <a:solidFill>
                  <a:srgbClr val="FFFFFF"/>
                </a:solidFill>
                <a:latin typeface="Arial" pitchFamily="34" charset="0"/>
                <a:ea typeface="Arial" pitchFamily="34" charset="-122"/>
                <a:cs typeface="Arial" pitchFamily="34" charset="-120"/>
              </a:rPr>
              <a:t>2 kHz</a:t>
            </a:r>
            <a:endParaRPr lang="en-US" sz="1150" dirty="0"/>
          </a:p>
        </p:txBody>
      </p:sp>
      <p:sp>
        <p:nvSpPr>
          <p:cNvPr id="15" name="Text 12"/>
          <p:cNvSpPr/>
          <p:nvPr/>
        </p:nvSpPr>
        <p:spPr>
          <a:xfrm>
            <a:off x="7955280" y="4123944"/>
            <a:ext cx="1737360" cy="502920"/>
          </a:xfrm>
          <a:prstGeom prst="rect">
            <a:avLst/>
          </a:prstGeom>
          <a:noFill/>
          <a:ln/>
        </p:spPr>
        <p:txBody>
          <a:bodyPr wrap="square" lIns="0" tIns="0" rIns="0" bIns="0" rtlCol="0" anchor="ctr"/>
          <a:lstStyle/>
          <a:p>
            <a:pPr marL="0" indent="0">
              <a:buNone/>
            </a:pPr>
            <a:r>
              <a:rPr lang="en-US" sz="1150" dirty="0">
                <a:solidFill>
                  <a:srgbClr val="BFD8D5"/>
                </a:solidFill>
                <a:latin typeface="Arial" pitchFamily="34" charset="0"/>
                <a:ea typeface="Arial" pitchFamily="34" charset="-122"/>
                <a:cs typeface="Arial" pitchFamily="34" charset="-120"/>
              </a:rPr>
              <a:t>Lọc phần cứng</a:t>
            </a:r>
            <a:endParaRPr lang="en-US" sz="1150" dirty="0"/>
          </a:p>
        </p:txBody>
      </p:sp>
      <p:sp>
        <p:nvSpPr>
          <p:cNvPr id="16" name="Text 13"/>
          <p:cNvSpPr/>
          <p:nvPr/>
        </p:nvSpPr>
        <p:spPr>
          <a:xfrm>
            <a:off x="9601200" y="4123944"/>
            <a:ext cx="1737360" cy="502920"/>
          </a:xfrm>
          <a:prstGeom prst="rect">
            <a:avLst/>
          </a:prstGeom>
          <a:noFill/>
          <a:ln/>
        </p:spPr>
        <p:txBody>
          <a:bodyPr wrap="square" lIns="0" tIns="0" rIns="0" bIns="0" rtlCol="0" anchor="ctr"/>
          <a:lstStyle/>
          <a:p>
            <a:pPr marL="0" indent="0">
              <a:lnSpc>
                <a:spcPct val="105000"/>
              </a:lnSpc>
              <a:buNone/>
            </a:pPr>
            <a:r>
              <a:rPr lang="en-US" sz="1150" b="1" dirty="0">
                <a:solidFill>
                  <a:srgbClr val="FFFFFF"/>
                </a:solidFill>
                <a:latin typeface="Arial" pitchFamily="34" charset="0"/>
                <a:ea typeface="Arial" pitchFamily="34" charset="-122"/>
                <a:cs typeface="Arial" pitchFamily="34" charset="-120"/>
              </a:rPr>
              <a:t>20–400 Hz</a:t>
            </a:r>
            <a:endParaRPr lang="en-US" sz="1150" dirty="0"/>
          </a:p>
        </p:txBody>
      </p:sp>
      <p:sp>
        <p:nvSpPr>
          <p:cNvPr id="17" name="Text 14"/>
          <p:cNvSpPr/>
          <p:nvPr/>
        </p:nvSpPr>
        <p:spPr>
          <a:xfrm>
            <a:off x="7955280" y="4690872"/>
            <a:ext cx="1737360" cy="502920"/>
          </a:xfrm>
          <a:prstGeom prst="rect">
            <a:avLst/>
          </a:prstGeom>
          <a:noFill/>
          <a:ln/>
        </p:spPr>
        <p:txBody>
          <a:bodyPr wrap="square" lIns="0" tIns="0" rIns="0" bIns="0" rtlCol="0" anchor="ctr"/>
          <a:lstStyle/>
          <a:p>
            <a:pPr marL="0" indent="0">
              <a:buNone/>
            </a:pPr>
            <a:r>
              <a:rPr lang="en-US" sz="1150" dirty="0">
                <a:solidFill>
                  <a:srgbClr val="BFD8D5"/>
                </a:solidFill>
                <a:latin typeface="Arial" pitchFamily="34" charset="0"/>
                <a:ea typeface="Arial" pitchFamily="34" charset="-122"/>
                <a:cs typeface="Arial" pitchFamily="34" charset="-120"/>
              </a:rPr>
              <a:t>Loại điện cực</a:t>
            </a:r>
            <a:endParaRPr lang="en-US" sz="1150" dirty="0"/>
          </a:p>
        </p:txBody>
      </p:sp>
      <p:sp>
        <p:nvSpPr>
          <p:cNvPr id="18" name="Text 15"/>
          <p:cNvSpPr/>
          <p:nvPr/>
        </p:nvSpPr>
        <p:spPr>
          <a:xfrm>
            <a:off x="9601200" y="4690872"/>
            <a:ext cx="1737360" cy="502920"/>
          </a:xfrm>
          <a:prstGeom prst="rect">
            <a:avLst/>
          </a:prstGeom>
          <a:noFill/>
          <a:ln/>
        </p:spPr>
        <p:txBody>
          <a:bodyPr wrap="square" lIns="0" tIns="0" rIns="0" bIns="0" rtlCol="0" anchor="ctr"/>
          <a:lstStyle/>
          <a:p>
            <a:pPr marL="0" indent="0">
              <a:lnSpc>
                <a:spcPct val="105000"/>
              </a:lnSpc>
              <a:buNone/>
            </a:pPr>
            <a:r>
              <a:rPr lang="en-US" sz="1150" b="1" dirty="0">
                <a:solidFill>
                  <a:srgbClr val="FFFFFF"/>
                </a:solidFill>
                <a:latin typeface="Arial" pitchFamily="34" charset="0"/>
                <a:ea typeface="Arial" pitchFamily="34" charset="-122"/>
                <a:cs typeface="Arial" pitchFamily="34" charset="-120"/>
              </a:rPr>
              <a:t>Bề mặt (surface), ma trận</a:t>
            </a:r>
            <a:endParaRPr lang="en-US" sz="1150" dirty="0"/>
          </a:p>
        </p:txBody>
      </p:sp>
      <p:sp>
        <p:nvSpPr>
          <p:cNvPr id="19" name="Shape 16"/>
          <p:cNvSpPr/>
          <p:nvPr/>
        </p:nvSpPr>
        <p:spPr>
          <a:xfrm>
            <a:off x="7955280" y="5303520"/>
            <a:ext cx="3383280" cy="0"/>
          </a:xfrm>
          <a:prstGeom prst="line">
            <a:avLst/>
          </a:prstGeom>
          <a:noFill/>
          <a:ln w="12700">
            <a:solidFill>
              <a:srgbClr val="1C4A5E"/>
            </a:solidFill>
            <a:prstDash val="solid"/>
          </a:ln>
        </p:spPr>
      </p:sp>
      <p:sp>
        <p:nvSpPr>
          <p:cNvPr id="20" name="Text 17"/>
          <p:cNvSpPr/>
          <p:nvPr/>
        </p:nvSpPr>
        <p:spPr>
          <a:xfrm>
            <a:off x="7955280" y="5440680"/>
            <a:ext cx="3383280" cy="1280160"/>
          </a:xfrm>
          <a:prstGeom prst="rect">
            <a:avLst/>
          </a:prstGeom>
          <a:noFill/>
          <a:ln/>
        </p:spPr>
        <p:txBody>
          <a:bodyPr wrap="square" lIns="0" tIns="0" rIns="0" bIns="0" rtlCol="0" anchor="t"/>
          <a:lstStyle/>
          <a:p>
            <a:pPr marL="0" indent="0">
              <a:lnSpc>
                <a:spcPct val="120000"/>
              </a:lnSpc>
              <a:buNone/>
            </a:pPr>
            <a:r>
              <a:rPr lang="en-US" sz="1050" i="1" dirty="0">
                <a:solidFill>
                  <a:srgbClr val="D6E7E5"/>
                </a:solidFill>
                <a:latin typeface="Arial" pitchFamily="34" charset="0"/>
                <a:ea typeface="Arial" pitchFamily="34" charset="-122"/>
                <a:cs typeface="Arial" pitchFamily="34" charset="-120"/>
              </a:rPr>
              <a:t>Ma trận điện cực bề mặt cho phép thu tín hiệu đa kênh đồng thời từ nhiều điểm trên cơ nhị đầu, tăng độ nhạy phát hiện thay đổi hoạt động cơ so với điện cực đơn kênh truyền thống.</a:t>
            </a:r>
            <a:endParaRPr lang="en-US" sz="1050" dirty="0"/>
          </a:p>
        </p:txBody>
      </p:sp>
      <p:sp>
        <p:nvSpPr>
          <p:cNvPr id="21" name="Text 18"/>
          <p:cNvSpPr/>
          <p:nvPr/>
        </p:nvSpPr>
        <p:spPr>
          <a:xfrm>
            <a:off x="502920" y="6473952"/>
            <a:ext cx="5486400" cy="274320"/>
          </a:xfrm>
          <a:prstGeom prst="rect">
            <a:avLst/>
          </a:prstGeom>
          <a:noFill/>
          <a:ln/>
        </p:spPr>
        <p:txBody>
          <a:bodyPr wrap="square" lIns="0" tIns="0" rIns="0" bIns="0" rtlCol="0" anchor="ctr"/>
          <a:lstStyle/>
          <a:p>
            <a:pPr marL="0" indent="0">
              <a:buNone/>
            </a:pPr>
            <a:r>
              <a:rPr lang="en-US" sz="900" dirty="0">
                <a:solidFill>
                  <a:srgbClr val="5B7280"/>
                </a:solidFill>
                <a:latin typeface="Arial" pitchFamily="34" charset="0"/>
                <a:ea typeface="Arial" pitchFamily="34" charset="-122"/>
                <a:cs typeface="Arial" pitchFamily="34" charset="-120"/>
              </a:rPr>
              <a:t>sEMG Fatigue Detection · Springer 2025</a:t>
            </a:r>
            <a:endParaRPr lang="en-US" sz="900" dirty="0"/>
          </a:p>
        </p:txBody>
      </p:sp>
      <p:sp>
        <p:nvSpPr>
          <p:cNvPr id="22" name="Text 19"/>
          <p:cNvSpPr/>
          <p:nvPr/>
        </p:nvSpPr>
        <p:spPr>
          <a:xfrm>
            <a:off x="11277295" y="6473952"/>
            <a:ext cx="411480" cy="274320"/>
          </a:xfrm>
          <a:prstGeom prst="rect">
            <a:avLst/>
          </a:prstGeom>
          <a:noFill/>
          <a:ln/>
        </p:spPr>
        <p:txBody>
          <a:bodyPr wrap="square" lIns="0" tIns="0" rIns="0" bIns="0" rtlCol="0" anchor="ctr"/>
          <a:lstStyle/>
          <a:p>
            <a:pPr marL="0" indent="0" algn="r">
              <a:buNone/>
            </a:pPr>
            <a:r>
              <a:rPr lang="en-US" sz="900" dirty="0">
                <a:solidFill>
                  <a:srgbClr val="5B7280"/>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marL="0" indent="0">
              <a:buNone/>
            </a:pPr>
            <a:r>
              <a:rPr lang="en-US" sz="1250" b="1" kern="0" spc="200" dirty="0">
                <a:solidFill>
                  <a:srgbClr val="028090"/>
                </a:solidFill>
                <a:latin typeface="Arial" pitchFamily="34" charset="0"/>
                <a:ea typeface="Arial" pitchFamily="34" charset="-122"/>
                <a:cs typeface="Arial" pitchFamily="34" charset="-120"/>
              </a:rPr>
              <a:t>03 · PHƯƠNG PHÁP</a:t>
            </a:r>
            <a:endParaRPr lang="en-US" sz="1250" dirty="0"/>
          </a:p>
        </p:txBody>
      </p:sp>
      <p:sp>
        <p:nvSpPr>
          <p:cNvPr id="3" name="Text 1"/>
          <p:cNvSpPr/>
          <p:nvPr/>
        </p:nvSpPr>
        <p:spPr>
          <a:xfrm>
            <a:off x="548640" y="822960"/>
            <a:ext cx="10972800" cy="731520"/>
          </a:xfrm>
          <a:prstGeom prst="rect">
            <a:avLst/>
          </a:prstGeom>
          <a:noFill/>
          <a:ln/>
        </p:spPr>
        <p:txBody>
          <a:bodyPr wrap="square" lIns="0" tIns="0" rIns="0" bIns="0" rtlCol="0" anchor="ctr"/>
          <a:lstStyle/>
          <a:p>
            <a:pPr marL="0" indent="0">
              <a:buNone/>
            </a:pPr>
            <a:r>
              <a:rPr lang="en-US" sz="3200" b="1" dirty="0">
                <a:solidFill>
                  <a:srgbClr val="0B2A4A"/>
                </a:solidFill>
                <a:latin typeface="Cambria" pitchFamily="34" charset="0"/>
                <a:ea typeface="Cambria" pitchFamily="34" charset="-122"/>
                <a:cs typeface="Cambria" pitchFamily="34" charset="-120"/>
              </a:rPr>
              <a:t>Pipeline xử lý &amp; phân loại</a:t>
            </a:r>
            <a:endParaRPr lang="en-US" sz="3200" dirty="0"/>
          </a:p>
        </p:txBody>
      </p:sp>
      <p:sp>
        <p:nvSpPr>
          <p:cNvPr id="4" name="Shape 2"/>
          <p:cNvSpPr/>
          <p:nvPr/>
        </p:nvSpPr>
        <p:spPr>
          <a:xfrm>
            <a:off x="548640" y="2148840"/>
            <a:ext cx="2670048" cy="2651760"/>
          </a:xfrm>
          <a:prstGeom prst="roundRect">
            <a:avLst>
              <a:gd name="adj" fmla="val 3103"/>
            </a:avLst>
          </a:prstGeom>
          <a:solidFill>
            <a:srgbClr val="F1FAF9"/>
          </a:solidFill>
          <a:ln w="12700">
            <a:solidFill>
              <a:srgbClr val="D5E8E5"/>
            </a:solidFill>
            <a:prstDash val="solid"/>
          </a:ln>
        </p:spPr>
      </p:sp>
      <p:sp>
        <p:nvSpPr>
          <p:cNvPr id="5" name="Shape 3"/>
          <p:cNvSpPr/>
          <p:nvPr/>
        </p:nvSpPr>
        <p:spPr>
          <a:xfrm>
            <a:off x="822960" y="2441448"/>
            <a:ext cx="548640" cy="548640"/>
          </a:xfrm>
          <a:prstGeom prst="ellipse">
            <a:avLst/>
          </a:prstGeom>
          <a:solidFill>
            <a:srgbClr val="028090"/>
          </a:solidFill>
          <a:ln/>
        </p:spPr>
      </p:sp>
      <p:sp>
        <p:nvSpPr>
          <p:cNvPr id="6" name="Text 4"/>
          <p:cNvSpPr/>
          <p:nvPr/>
        </p:nvSpPr>
        <p:spPr>
          <a:xfrm>
            <a:off x="822960" y="244144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822960" y="3108960"/>
            <a:ext cx="2121408" cy="457200"/>
          </a:xfrm>
          <a:prstGeom prst="rect">
            <a:avLst/>
          </a:prstGeom>
          <a:noFill/>
          <a:ln/>
        </p:spPr>
        <p:txBody>
          <a:bodyPr wrap="square" lIns="0" tIns="0" rIns="0" bIns="0" rtlCol="0" anchor="ctr"/>
          <a:lstStyle/>
          <a:p>
            <a:pPr marL="0" indent="0">
              <a:buNone/>
            </a:pPr>
            <a:r>
              <a:rPr lang="en-US" sz="1700" b="1" dirty="0">
                <a:solidFill>
                  <a:srgbClr val="0B2A4A"/>
                </a:solidFill>
                <a:latin typeface="Arial" pitchFamily="34" charset="0"/>
                <a:ea typeface="Arial" pitchFamily="34" charset="-122"/>
                <a:cs typeface="Arial" pitchFamily="34" charset="-120"/>
              </a:rPr>
              <a:t>Tiền xử lý</a:t>
            </a:r>
            <a:endParaRPr lang="en-US" sz="1700" dirty="0"/>
          </a:p>
        </p:txBody>
      </p:sp>
      <p:sp>
        <p:nvSpPr>
          <p:cNvPr id="8" name="Text 6"/>
          <p:cNvSpPr/>
          <p:nvPr/>
        </p:nvSpPr>
        <p:spPr>
          <a:xfrm>
            <a:off x="822960" y="3566160"/>
            <a:ext cx="2167128" cy="1143000"/>
          </a:xfrm>
          <a:prstGeom prst="rect">
            <a:avLst/>
          </a:prstGeom>
          <a:noFill/>
          <a:ln/>
        </p:spPr>
        <p:txBody>
          <a:bodyPr wrap="square" lIns="0" tIns="0" rIns="0" bIns="0" rtlCol="0" anchor="t"/>
          <a:lstStyle/>
          <a:p>
            <a:pPr marL="0" indent="0">
              <a:lnSpc>
                <a:spcPct val="114000"/>
              </a:lnSpc>
              <a:buNone/>
            </a:pPr>
            <a:r>
              <a:rPr lang="en-US" sz="1200" dirty="0">
                <a:solidFill>
                  <a:srgbClr val="5B7280"/>
                </a:solidFill>
                <a:latin typeface="Arial" pitchFamily="34" charset="0"/>
                <a:ea typeface="Arial" pitchFamily="34" charset="-122"/>
                <a:cs typeface="Arial" pitchFamily="34" charset="-120"/>
              </a:rPr>
              <a:t>Khử nhiễu Wavelet (Coiflet 3) + lọc băng thông 10–500 Hz + notch loại nhiễu điện lưới.</a:t>
            </a:r>
            <a:endParaRPr lang="en-US" sz="1200" dirty="0"/>
          </a:p>
        </p:txBody>
      </p:sp>
      <p:sp>
        <p:nvSpPr>
          <p:cNvPr id="9" name="Text 7"/>
          <p:cNvSpPr/>
          <p:nvPr/>
        </p:nvSpPr>
        <p:spPr>
          <a:xfrm>
            <a:off x="3172968" y="3200400"/>
            <a:ext cx="292608" cy="457200"/>
          </a:xfrm>
          <a:prstGeom prst="rect">
            <a:avLst/>
          </a:prstGeom>
          <a:noFill/>
          <a:ln/>
        </p:spPr>
        <p:txBody>
          <a:bodyPr wrap="square" lIns="0" tIns="0" rIns="0" bIns="0" rtlCol="0" anchor="ctr"/>
          <a:lstStyle/>
          <a:p>
            <a:pPr marL="0" indent="0" algn="ctr">
              <a:buNone/>
            </a:pPr>
            <a:r>
              <a:rPr lang="en-US" sz="2000" b="1" dirty="0">
                <a:solidFill>
                  <a:srgbClr val="00A896"/>
                </a:solidFill>
                <a:latin typeface="Arial" pitchFamily="34" charset="0"/>
                <a:ea typeface="Arial" pitchFamily="34" charset="-122"/>
                <a:cs typeface="Arial" pitchFamily="34" charset="-120"/>
              </a:rPr>
              <a:t>→</a:t>
            </a:r>
            <a:endParaRPr lang="en-US" sz="2000" dirty="0"/>
          </a:p>
        </p:txBody>
      </p:sp>
      <p:sp>
        <p:nvSpPr>
          <p:cNvPr id="10" name="Shape 8"/>
          <p:cNvSpPr/>
          <p:nvPr/>
        </p:nvSpPr>
        <p:spPr>
          <a:xfrm>
            <a:off x="3419856" y="2148840"/>
            <a:ext cx="2670048" cy="2651760"/>
          </a:xfrm>
          <a:prstGeom prst="roundRect">
            <a:avLst>
              <a:gd name="adj" fmla="val 3103"/>
            </a:avLst>
          </a:prstGeom>
          <a:solidFill>
            <a:srgbClr val="F1FAF9"/>
          </a:solidFill>
          <a:ln w="12700">
            <a:solidFill>
              <a:srgbClr val="D5E8E5"/>
            </a:solidFill>
            <a:prstDash val="solid"/>
          </a:ln>
        </p:spPr>
      </p:sp>
      <p:sp>
        <p:nvSpPr>
          <p:cNvPr id="11" name="Shape 9"/>
          <p:cNvSpPr/>
          <p:nvPr/>
        </p:nvSpPr>
        <p:spPr>
          <a:xfrm>
            <a:off x="3694176" y="2441448"/>
            <a:ext cx="548640" cy="548640"/>
          </a:xfrm>
          <a:prstGeom prst="ellipse">
            <a:avLst/>
          </a:prstGeom>
          <a:solidFill>
            <a:srgbClr val="028090"/>
          </a:solidFill>
          <a:ln/>
        </p:spPr>
      </p:sp>
      <p:sp>
        <p:nvSpPr>
          <p:cNvPr id="12" name="Text 10"/>
          <p:cNvSpPr/>
          <p:nvPr/>
        </p:nvSpPr>
        <p:spPr>
          <a:xfrm>
            <a:off x="3694176" y="244144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11"/>
          <p:cNvSpPr/>
          <p:nvPr/>
        </p:nvSpPr>
        <p:spPr>
          <a:xfrm>
            <a:off x="3694176" y="3108960"/>
            <a:ext cx="2121408" cy="457200"/>
          </a:xfrm>
          <a:prstGeom prst="rect">
            <a:avLst/>
          </a:prstGeom>
          <a:noFill/>
          <a:ln/>
        </p:spPr>
        <p:txBody>
          <a:bodyPr wrap="square" lIns="0" tIns="0" rIns="0" bIns="0" rtlCol="0" anchor="ctr"/>
          <a:lstStyle/>
          <a:p>
            <a:pPr marL="0" indent="0">
              <a:buNone/>
            </a:pPr>
            <a:r>
              <a:rPr lang="en-US" sz="1700" b="1" dirty="0">
                <a:solidFill>
                  <a:srgbClr val="0B2A4A"/>
                </a:solidFill>
                <a:latin typeface="Arial" pitchFamily="34" charset="0"/>
                <a:ea typeface="Arial" pitchFamily="34" charset="-122"/>
                <a:cs typeface="Arial" pitchFamily="34" charset="-120"/>
              </a:rPr>
              <a:t>Trích đặc trưng</a:t>
            </a:r>
            <a:endParaRPr lang="en-US" sz="1700" dirty="0"/>
          </a:p>
        </p:txBody>
      </p:sp>
      <p:sp>
        <p:nvSpPr>
          <p:cNvPr id="14" name="Text 12"/>
          <p:cNvSpPr/>
          <p:nvPr/>
        </p:nvSpPr>
        <p:spPr>
          <a:xfrm>
            <a:off x="3694176" y="3566160"/>
            <a:ext cx="2167128" cy="1143000"/>
          </a:xfrm>
          <a:prstGeom prst="rect">
            <a:avLst/>
          </a:prstGeom>
          <a:noFill/>
          <a:ln/>
        </p:spPr>
        <p:txBody>
          <a:bodyPr wrap="square" lIns="0" tIns="0" rIns="0" bIns="0" rtlCol="0" anchor="t"/>
          <a:lstStyle/>
          <a:p>
            <a:pPr marL="0" indent="0">
              <a:lnSpc>
                <a:spcPct val="114000"/>
              </a:lnSpc>
              <a:buNone/>
            </a:pPr>
            <a:r>
              <a:rPr lang="en-US" sz="1200" dirty="0">
                <a:solidFill>
                  <a:srgbClr val="5B7280"/>
                </a:solidFill>
                <a:latin typeface="Arial" pitchFamily="34" charset="0"/>
                <a:ea typeface="Arial" pitchFamily="34" charset="-122"/>
                <a:cs typeface="Arial" pitchFamily="34" charset="-120"/>
              </a:rPr>
              <a:t>14 đặc trưng: 8 miền thời gian + 6 miền tần số, tính trên các cửa sổ tín hiệu.</a:t>
            </a:r>
            <a:endParaRPr lang="en-US" sz="1200" dirty="0"/>
          </a:p>
        </p:txBody>
      </p:sp>
      <p:sp>
        <p:nvSpPr>
          <p:cNvPr id="15" name="Text 13"/>
          <p:cNvSpPr/>
          <p:nvPr/>
        </p:nvSpPr>
        <p:spPr>
          <a:xfrm>
            <a:off x="6044184" y="3200400"/>
            <a:ext cx="292608" cy="457200"/>
          </a:xfrm>
          <a:prstGeom prst="rect">
            <a:avLst/>
          </a:prstGeom>
          <a:noFill/>
          <a:ln/>
        </p:spPr>
        <p:txBody>
          <a:bodyPr wrap="square" lIns="0" tIns="0" rIns="0" bIns="0" rtlCol="0" anchor="ctr"/>
          <a:lstStyle/>
          <a:p>
            <a:pPr marL="0" indent="0" algn="ctr">
              <a:buNone/>
            </a:pPr>
            <a:r>
              <a:rPr lang="en-US" sz="2000" b="1" dirty="0">
                <a:solidFill>
                  <a:srgbClr val="00A896"/>
                </a:solidFill>
                <a:latin typeface="Arial" pitchFamily="34" charset="0"/>
                <a:ea typeface="Arial" pitchFamily="34" charset="-122"/>
                <a:cs typeface="Arial" pitchFamily="34" charset="-120"/>
              </a:rPr>
              <a:t>→</a:t>
            </a:r>
            <a:endParaRPr lang="en-US" sz="2000" dirty="0"/>
          </a:p>
        </p:txBody>
      </p:sp>
      <p:sp>
        <p:nvSpPr>
          <p:cNvPr id="16" name="Shape 14"/>
          <p:cNvSpPr/>
          <p:nvPr/>
        </p:nvSpPr>
        <p:spPr>
          <a:xfrm>
            <a:off x="6291072" y="2148840"/>
            <a:ext cx="2670048" cy="2651760"/>
          </a:xfrm>
          <a:prstGeom prst="roundRect">
            <a:avLst>
              <a:gd name="adj" fmla="val 3103"/>
            </a:avLst>
          </a:prstGeom>
          <a:solidFill>
            <a:srgbClr val="F1FAF9"/>
          </a:solidFill>
          <a:ln w="12700">
            <a:solidFill>
              <a:srgbClr val="D5E8E5"/>
            </a:solidFill>
            <a:prstDash val="solid"/>
          </a:ln>
        </p:spPr>
      </p:sp>
      <p:sp>
        <p:nvSpPr>
          <p:cNvPr id="17" name="Shape 15"/>
          <p:cNvSpPr/>
          <p:nvPr/>
        </p:nvSpPr>
        <p:spPr>
          <a:xfrm>
            <a:off x="6565392" y="2441448"/>
            <a:ext cx="548640" cy="548640"/>
          </a:xfrm>
          <a:prstGeom prst="ellipse">
            <a:avLst/>
          </a:prstGeom>
          <a:solidFill>
            <a:srgbClr val="028090"/>
          </a:solidFill>
          <a:ln/>
        </p:spPr>
      </p:sp>
      <p:sp>
        <p:nvSpPr>
          <p:cNvPr id="18" name="Text 16"/>
          <p:cNvSpPr/>
          <p:nvPr/>
        </p:nvSpPr>
        <p:spPr>
          <a:xfrm>
            <a:off x="6565392" y="244144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9" name="Text 17"/>
          <p:cNvSpPr/>
          <p:nvPr/>
        </p:nvSpPr>
        <p:spPr>
          <a:xfrm>
            <a:off x="6565392" y="3108960"/>
            <a:ext cx="2121408" cy="457200"/>
          </a:xfrm>
          <a:prstGeom prst="rect">
            <a:avLst/>
          </a:prstGeom>
          <a:noFill/>
          <a:ln/>
        </p:spPr>
        <p:txBody>
          <a:bodyPr wrap="square" lIns="0" tIns="0" rIns="0" bIns="0" rtlCol="0" anchor="ctr"/>
          <a:lstStyle/>
          <a:p>
            <a:pPr marL="0" indent="0">
              <a:buNone/>
            </a:pPr>
            <a:r>
              <a:rPr lang="en-US" sz="1700" b="1" dirty="0">
                <a:solidFill>
                  <a:srgbClr val="0B2A4A"/>
                </a:solidFill>
                <a:latin typeface="Arial" pitchFamily="34" charset="0"/>
                <a:ea typeface="Arial" pitchFamily="34" charset="-122"/>
                <a:cs typeface="Arial" pitchFamily="34" charset="-120"/>
              </a:rPr>
              <a:t>Chọn đặc trưng</a:t>
            </a:r>
            <a:endParaRPr lang="en-US" sz="1700" dirty="0"/>
          </a:p>
        </p:txBody>
      </p:sp>
      <p:sp>
        <p:nvSpPr>
          <p:cNvPr id="20" name="Text 18"/>
          <p:cNvSpPr/>
          <p:nvPr/>
        </p:nvSpPr>
        <p:spPr>
          <a:xfrm>
            <a:off x="6565392" y="3566160"/>
            <a:ext cx="2167128" cy="1143000"/>
          </a:xfrm>
          <a:prstGeom prst="rect">
            <a:avLst/>
          </a:prstGeom>
          <a:noFill/>
          <a:ln/>
        </p:spPr>
        <p:txBody>
          <a:bodyPr wrap="square" lIns="0" tIns="0" rIns="0" bIns="0" rtlCol="0" anchor="t"/>
          <a:lstStyle/>
          <a:p>
            <a:pPr marL="0" indent="0">
              <a:lnSpc>
                <a:spcPct val="114000"/>
              </a:lnSpc>
              <a:buNone/>
            </a:pPr>
            <a:r>
              <a:rPr lang="en-US" sz="1200" dirty="0">
                <a:solidFill>
                  <a:srgbClr val="5B7280"/>
                </a:solidFill>
                <a:latin typeface="Arial" pitchFamily="34" charset="0"/>
                <a:ea typeface="Arial" pitchFamily="34" charset="-122"/>
                <a:cs typeface="Arial" pitchFamily="34" charset="-120"/>
              </a:rPr>
              <a:t>mRMR (Minimum Redundancy Maximum Relevance) xếp hạng đặc trưng theo độ liên quan.</a:t>
            </a:r>
            <a:endParaRPr lang="en-US" sz="1200" dirty="0"/>
          </a:p>
        </p:txBody>
      </p:sp>
      <p:sp>
        <p:nvSpPr>
          <p:cNvPr id="21" name="Text 19"/>
          <p:cNvSpPr/>
          <p:nvPr/>
        </p:nvSpPr>
        <p:spPr>
          <a:xfrm>
            <a:off x="8915400" y="3200400"/>
            <a:ext cx="292608" cy="457200"/>
          </a:xfrm>
          <a:prstGeom prst="rect">
            <a:avLst/>
          </a:prstGeom>
          <a:noFill/>
          <a:ln/>
        </p:spPr>
        <p:txBody>
          <a:bodyPr wrap="square" lIns="0" tIns="0" rIns="0" bIns="0" rtlCol="0" anchor="ctr"/>
          <a:lstStyle/>
          <a:p>
            <a:pPr marL="0" indent="0" algn="ctr">
              <a:buNone/>
            </a:pPr>
            <a:r>
              <a:rPr lang="en-US" sz="2000" b="1" dirty="0">
                <a:solidFill>
                  <a:srgbClr val="00A896"/>
                </a:solidFill>
                <a:latin typeface="Arial" pitchFamily="34" charset="0"/>
                <a:ea typeface="Arial" pitchFamily="34" charset="-122"/>
                <a:cs typeface="Arial" pitchFamily="34" charset="-120"/>
              </a:rPr>
              <a:t>→</a:t>
            </a:r>
            <a:endParaRPr lang="en-US" sz="2000" dirty="0"/>
          </a:p>
        </p:txBody>
      </p:sp>
      <p:sp>
        <p:nvSpPr>
          <p:cNvPr id="22" name="Shape 20"/>
          <p:cNvSpPr/>
          <p:nvPr/>
        </p:nvSpPr>
        <p:spPr>
          <a:xfrm>
            <a:off x="9162288" y="2148840"/>
            <a:ext cx="2670048" cy="2651760"/>
          </a:xfrm>
          <a:prstGeom prst="roundRect">
            <a:avLst>
              <a:gd name="adj" fmla="val 3103"/>
            </a:avLst>
          </a:prstGeom>
          <a:solidFill>
            <a:srgbClr val="0B2A4A"/>
          </a:solidFill>
          <a:ln w="12700">
            <a:solidFill>
              <a:srgbClr val="0B2A4A"/>
            </a:solidFill>
            <a:prstDash val="solid"/>
          </a:ln>
        </p:spPr>
      </p:sp>
      <p:sp>
        <p:nvSpPr>
          <p:cNvPr id="23" name="Shape 21"/>
          <p:cNvSpPr/>
          <p:nvPr/>
        </p:nvSpPr>
        <p:spPr>
          <a:xfrm>
            <a:off x="9436608" y="2441448"/>
            <a:ext cx="548640" cy="548640"/>
          </a:xfrm>
          <a:prstGeom prst="ellipse">
            <a:avLst/>
          </a:prstGeom>
          <a:solidFill>
            <a:srgbClr val="00A896"/>
          </a:solidFill>
          <a:ln/>
        </p:spPr>
      </p:sp>
      <p:sp>
        <p:nvSpPr>
          <p:cNvPr id="24" name="Text 22"/>
          <p:cNvSpPr/>
          <p:nvPr/>
        </p:nvSpPr>
        <p:spPr>
          <a:xfrm>
            <a:off x="9436608" y="2441448"/>
            <a:ext cx="548640" cy="548640"/>
          </a:xfrm>
          <a:prstGeom prst="rect">
            <a:avLst/>
          </a:prstGeom>
          <a:noFill/>
          <a:ln/>
        </p:spPr>
        <p:txBody>
          <a:bodyPr wrap="square" lIns="0" tIns="0" rIns="0" bIns="0" rtlCol="0" anchor="ctr"/>
          <a:lstStyle/>
          <a:p>
            <a:pPr marL="0" indent="0" algn="ctr">
              <a:buNone/>
            </a:pPr>
            <a:r>
              <a:rPr lang="en-US" sz="1500" b="1" dirty="0">
                <a:solidFill>
                  <a:srgbClr val="0B2A4A"/>
                </a:solidFill>
                <a:latin typeface="Arial" pitchFamily="34" charset="0"/>
                <a:ea typeface="Arial" pitchFamily="34" charset="-122"/>
                <a:cs typeface="Arial" pitchFamily="34" charset="-120"/>
              </a:rPr>
              <a:t>4</a:t>
            </a:r>
            <a:endParaRPr lang="en-US" sz="1500" dirty="0"/>
          </a:p>
        </p:txBody>
      </p:sp>
      <p:sp>
        <p:nvSpPr>
          <p:cNvPr id="25" name="Text 23"/>
          <p:cNvSpPr/>
          <p:nvPr/>
        </p:nvSpPr>
        <p:spPr>
          <a:xfrm>
            <a:off x="9436608" y="3108960"/>
            <a:ext cx="2121408" cy="45720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Phân loại</a:t>
            </a:r>
            <a:endParaRPr lang="en-US" sz="1700" dirty="0"/>
          </a:p>
        </p:txBody>
      </p:sp>
      <p:sp>
        <p:nvSpPr>
          <p:cNvPr id="26" name="Text 24"/>
          <p:cNvSpPr/>
          <p:nvPr/>
        </p:nvSpPr>
        <p:spPr>
          <a:xfrm>
            <a:off x="9436608" y="3566160"/>
            <a:ext cx="2167128" cy="1143000"/>
          </a:xfrm>
          <a:prstGeom prst="rect">
            <a:avLst/>
          </a:prstGeom>
          <a:noFill/>
          <a:ln/>
        </p:spPr>
        <p:txBody>
          <a:bodyPr wrap="square" lIns="0" tIns="0" rIns="0" bIns="0" rtlCol="0" anchor="t"/>
          <a:lstStyle/>
          <a:p>
            <a:pPr marL="0" indent="0">
              <a:lnSpc>
                <a:spcPct val="114000"/>
              </a:lnSpc>
              <a:buNone/>
            </a:pPr>
            <a:r>
              <a:rPr lang="en-US" sz="1200" dirty="0">
                <a:solidFill>
                  <a:srgbClr val="BFD8D5"/>
                </a:solidFill>
                <a:latin typeface="Arial" pitchFamily="34" charset="0"/>
                <a:ea typeface="Arial" pitchFamily="34" charset="-122"/>
                <a:cs typeface="Arial" pitchFamily="34" charset="-120"/>
              </a:rPr>
              <a:t>SVM · LDA · KNN, đánh giá bằng Leave-One-Subject-Out cross-validation.</a:t>
            </a:r>
            <a:endParaRPr lang="en-US" sz="1200" dirty="0"/>
          </a:p>
        </p:txBody>
      </p:sp>
      <p:sp>
        <p:nvSpPr>
          <p:cNvPr id="27" name="Text 25"/>
          <p:cNvSpPr/>
          <p:nvPr/>
        </p:nvSpPr>
        <p:spPr>
          <a:xfrm>
            <a:off x="548640" y="5120640"/>
            <a:ext cx="10972800" cy="365760"/>
          </a:xfrm>
          <a:prstGeom prst="rect">
            <a:avLst/>
          </a:prstGeom>
          <a:noFill/>
          <a:ln/>
        </p:spPr>
        <p:txBody>
          <a:bodyPr wrap="square" lIns="0" tIns="0" rIns="0" bIns="0" rtlCol="0" anchor="ctr"/>
          <a:lstStyle/>
          <a:p>
            <a:pPr marL="0" indent="0">
              <a:buNone/>
            </a:pPr>
            <a:r>
              <a:rPr lang="en-US" sz="1300" i="1" dirty="0">
                <a:solidFill>
                  <a:srgbClr val="028090"/>
                </a:solidFill>
                <a:latin typeface="Arial" pitchFamily="34" charset="0"/>
                <a:ea typeface="Arial" pitchFamily="34" charset="-122"/>
                <a:cs typeface="Arial" pitchFamily="34" charset="-120"/>
              </a:rPr>
              <a:t>Đầu vào: tín hiệu sEMG thô  →  Đầu ra: nhãn Normal / Fatigue</a:t>
            </a:r>
            <a:endParaRPr lang="en-US" sz="1300" dirty="0"/>
          </a:p>
        </p:txBody>
      </p:sp>
      <p:sp>
        <p:nvSpPr>
          <p:cNvPr id="28" name="Text 26"/>
          <p:cNvSpPr/>
          <p:nvPr/>
        </p:nvSpPr>
        <p:spPr>
          <a:xfrm>
            <a:off x="502920" y="6473952"/>
            <a:ext cx="5486400" cy="274320"/>
          </a:xfrm>
          <a:prstGeom prst="rect">
            <a:avLst/>
          </a:prstGeom>
          <a:noFill/>
          <a:ln/>
        </p:spPr>
        <p:txBody>
          <a:bodyPr wrap="square" lIns="0" tIns="0" rIns="0" bIns="0" rtlCol="0" anchor="ctr"/>
          <a:lstStyle/>
          <a:p>
            <a:pPr marL="0" indent="0">
              <a:buNone/>
            </a:pPr>
            <a:r>
              <a:rPr lang="en-US" sz="900" dirty="0">
                <a:solidFill>
                  <a:srgbClr val="5B7280"/>
                </a:solidFill>
                <a:latin typeface="Arial" pitchFamily="34" charset="0"/>
                <a:ea typeface="Arial" pitchFamily="34" charset="-122"/>
                <a:cs typeface="Arial" pitchFamily="34" charset="-120"/>
              </a:rPr>
              <a:t>sEMG Fatigue Detection · Springer 2025</a:t>
            </a:r>
            <a:endParaRPr lang="en-US" sz="900" dirty="0"/>
          </a:p>
        </p:txBody>
      </p:sp>
      <p:sp>
        <p:nvSpPr>
          <p:cNvPr id="29" name="Text 27"/>
          <p:cNvSpPr/>
          <p:nvPr/>
        </p:nvSpPr>
        <p:spPr>
          <a:xfrm>
            <a:off x="11277295" y="6473952"/>
            <a:ext cx="411480" cy="274320"/>
          </a:xfrm>
          <a:prstGeom prst="rect">
            <a:avLst/>
          </a:prstGeom>
          <a:noFill/>
          <a:ln/>
        </p:spPr>
        <p:txBody>
          <a:bodyPr wrap="square" lIns="0" tIns="0" rIns="0" bIns="0" rtlCol="0" anchor="ctr"/>
          <a:lstStyle/>
          <a:p>
            <a:pPr marL="0" indent="0" algn="r">
              <a:buNone/>
            </a:pPr>
            <a:r>
              <a:rPr lang="en-US" sz="900" dirty="0">
                <a:solidFill>
                  <a:srgbClr val="5B7280"/>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AF9"/>
        </a:solidFill>
        <a:effectLst/>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marL="0" indent="0">
              <a:buNone/>
            </a:pPr>
            <a:r>
              <a:rPr lang="en-US" sz="1250" b="1" kern="0" spc="200" dirty="0">
                <a:solidFill>
                  <a:srgbClr val="028090"/>
                </a:solidFill>
                <a:latin typeface="Arial" pitchFamily="34" charset="0"/>
                <a:ea typeface="Arial" pitchFamily="34" charset="-122"/>
                <a:cs typeface="Arial" pitchFamily="34" charset="-120"/>
              </a:rPr>
              <a:t>03 · BỘ 14 ĐẶC TRƯNG</a:t>
            </a:r>
            <a:endParaRPr lang="en-US" sz="1250" dirty="0"/>
          </a:p>
        </p:txBody>
      </p:sp>
      <p:sp>
        <p:nvSpPr>
          <p:cNvPr id="3" name="Text 1"/>
          <p:cNvSpPr/>
          <p:nvPr/>
        </p:nvSpPr>
        <p:spPr>
          <a:xfrm>
            <a:off x="548640" y="822960"/>
            <a:ext cx="10972800" cy="731520"/>
          </a:xfrm>
          <a:prstGeom prst="rect">
            <a:avLst/>
          </a:prstGeom>
          <a:noFill/>
          <a:ln/>
        </p:spPr>
        <p:txBody>
          <a:bodyPr wrap="square" lIns="0" tIns="0" rIns="0" bIns="0" rtlCol="0" anchor="ctr"/>
          <a:lstStyle/>
          <a:p>
            <a:pPr marL="0" indent="0">
              <a:buNone/>
            </a:pPr>
            <a:r>
              <a:rPr lang="en-US" sz="3200" b="1" dirty="0">
                <a:solidFill>
                  <a:srgbClr val="0B2A4A"/>
                </a:solidFill>
                <a:latin typeface="Cambria" pitchFamily="34" charset="0"/>
                <a:ea typeface="Cambria" pitchFamily="34" charset="-122"/>
                <a:cs typeface="Cambria" pitchFamily="34" charset="-120"/>
              </a:rPr>
              <a:t>Đặc trưng thời gian &amp; tần số</a:t>
            </a:r>
            <a:endParaRPr lang="en-US" sz="3200" dirty="0"/>
          </a:p>
        </p:txBody>
      </p:sp>
      <p:sp>
        <p:nvSpPr>
          <p:cNvPr id="4" name="Shape 2"/>
          <p:cNvSpPr/>
          <p:nvPr/>
        </p:nvSpPr>
        <p:spPr>
          <a:xfrm>
            <a:off x="548640" y="1874520"/>
            <a:ext cx="3794760" cy="3063240"/>
          </a:xfrm>
          <a:prstGeom prst="roundRect">
            <a:avLst>
              <a:gd name="adj" fmla="val 2687"/>
            </a:avLst>
          </a:prstGeom>
          <a:solidFill>
            <a:srgbClr val="FFFFFF"/>
          </a:solidFill>
          <a:ln w="12700">
            <a:solidFill>
              <a:srgbClr val="D5E8E5"/>
            </a:solidFill>
            <a:prstDash val="solid"/>
          </a:ln>
        </p:spPr>
      </p:sp>
      <p:sp>
        <p:nvSpPr>
          <p:cNvPr id="5" name="Shape 3"/>
          <p:cNvSpPr/>
          <p:nvPr/>
        </p:nvSpPr>
        <p:spPr>
          <a:xfrm>
            <a:off x="868680" y="2148840"/>
            <a:ext cx="384048" cy="384048"/>
          </a:xfrm>
          <a:prstGeom prst="ellipse">
            <a:avLst/>
          </a:prstGeom>
          <a:solidFill>
            <a:srgbClr val="028090"/>
          </a:solidFill>
          <a:ln/>
        </p:spPr>
      </p:sp>
      <p:sp>
        <p:nvSpPr>
          <p:cNvPr id="6" name="Text 4"/>
          <p:cNvSpPr/>
          <p:nvPr/>
        </p:nvSpPr>
        <p:spPr>
          <a:xfrm>
            <a:off x="1417320" y="2103120"/>
            <a:ext cx="2743200" cy="365760"/>
          </a:xfrm>
          <a:prstGeom prst="rect">
            <a:avLst/>
          </a:prstGeom>
          <a:noFill/>
          <a:ln/>
        </p:spPr>
        <p:txBody>
          <a:bodyPr wrap="square" lIns="0" tIns="0" rIns="0" bIns="0" rtlCol="0" anchor="ctr"/>
          <a:lstStyle/>
          <a:p>
            <a:pPr marL="0" indent="0">
              <a:buNone/>
            </a:pPr>
            <a:r>
              <a:rPr lang="en-US" sz="1800" b="1" dirty="0">
                <a:solidFill>
                  <a:srgbClr val="0B2A4A"/>
                </a:solidFill>
                <a:latin typeface="Arial" pitchFamily="34" charset="0"/>
                <a:ea typeface="Arial" pitchFamily="34" charset="-122"/>
                <a:cs typeface="Arial" pitchFamily="34" charset="-120"/>
              </a:rPr>
              <a:t>8 miền thời gian</a:t>
            </a:r>
            <a:endParaRPr lang="en-US" sz="1800" dirty="0"/>
          </a:p>
        </p:txBody>
      </p:sp>
      <p:sp>
        <p:nvSpPr>
          <p:cNvPr id="7" name="Text 5"/>
          <p:cNvSpPr/>
          <p:nvPr/>
        </p:nvSpPr>
        <p:spPr>
          <a:xfrm>
            <a:off x="868680" y="2578608"/>
            <a:ext cx="3291840" cy="274320"/>
          </a:xfrm>
          <a:prstGeom prst="rect">
            <a:avLst/>
          </a:prstGeom>
          <a:noFill/>
          <a:ln/>
        </p:spPr>
        <p:txBody>
          <a:bodyPr wrap="square" lIns="0" tIns="0" rIns="0" bIns="0" rtlCol="0" anchor="ctr"/>
          <a:lstStyle/>
          <a:p>
            <a:pPr marL="0" indent="0">
              <a:buNone/>
            </a:pPr>
            <a:r>
              <a:rPr lang="en-US" sz="1150" dirty="0">
                <a:solidFill>
                  <a:srgbClr val="5B7280"/>
                </a:solidFill>
                <a:latin typeface="Arial" pitchFamily="34" charset="0"/>
                <a:ea typeface="Arial" pitchFamily="34" charset="-122"/>
                <a:cs typeface="Arial" pitchFamily="34" charset="-120"/>
              </a:rPr>
              <a:t>Time-domain features</a:t>
            </a:r>
            <a:endParaRPr lang="en-US" sz="1150" dirty="0"/>
          </a:p>
        </p:txBody>
      </p:sp>
      <p:sp>
        <p:nvSpPr>
          <p:cNvPr id="8" name="Text 6"/>
          <p:cNvSpPr/>
          <p:nvPr/>
        </p:nvSpPr>
        <p:spPr>
          <a:xfrm>
            <a:off x="914400" y="2971800"/>
            <a:ext cx="3200400" cy="1828800"/>
          </a:xfrm>
          <a:prstGeom prst="rect">
            <a:avLst/>
          </a:prstGeom>
          <a:noFill/>
          <a:ln/>
        </p:spPr>
        <p:txBody>
          <a:bodyPr wrap="square" lIns="0" tIns="0" rIns="0" bIns="0" rtlCol="0" anchor="ctr"/>
          <a:lstStyle/>
          <a:p>
            <a:pPr marL="152400" indent="-152400">
              <a:spcAft>
                <a:spcPts val="500"/>
              </a:spcAft>
              <a:buSzPct val="100000"/>
              <a:buChar char="•"/>
            </a:pPr>
            <a:r>
              <a:rPr lang="en-US" sz="1300" dirty="0">
                <a:solidFill>
                  <a:srgbClr val="12303F"/>
                </a:solidFill>
                <a:latin typeface="Arial" pitchFamily="34" charset="0"/>
                <a:ea typeface="Arial" pitchFamily="34" charset="-122"/>
                <a:cs typeface="Arial" pitchFamily="34" charset="-120"/>
              </a:rPr>
              <a:t>MAV · RMS</a:t>
            </a:r>
            <a:endParaRPr lang="en-US" sz="1300" dirty="0"/>
          </a:p>
          <a:p>
            <a:pPr marL="152400" indent="-152400">
              <a:spcAft>
                <a:spcPts val="500"/>
              </a:spcAft>
              <a:buSzPct val="100000"/>
              <a:buChar char="•"/>
            </a:pPr>
            <a:r>
              <a:rPr lang="en-US" sz="1300" dirty="0">
                <a:solidFill>
                  <a:srgbClr val="12303F"/>
                </a:solidFill>
                <a:latin typeface="Arial" pitchFamily="34" charset="0"/>
                <a:ea typeface="Arial" pitchFamily="34" charset="-122"/>
                <a:cs typeface="Arial" pitchFamily="34" charset="-120"/>
              </a:rPr>
              <a:t>Skewness · Kurtosis</a:t>
            </a:r>
            <a:endParaRPr lang="en-US" sz="1300" dirty="0"/>
          </a:p>
          <a:p>
            <a:pPr marL="152400" indent="-152400">
              <a:spcAft>
                <a:spcPts val="500"/>
              </a:spcAft>
              <a:buSzPct val="100000"/>
              <a:buChar char="•"/>
            </a:pPr>
            <a:r>
              <a:rPr lang="en-US" sz="1300" dirty="0">
                <a:solidFill>
                  <a:srgbClr val="12303F"/>
                </a:solidFill>
                <a:latin typeface="Arial" pitchFamily="34" charset="0"/>
                <a:ea typeface="Arial" pitchFamily="34" charset="-122"/>
                <a:cs typeface="Arial" pitchFamily="34" charset="-120"/>
              </a:rPr>
              <a:t>Min · Max</a:t>
            </a:r>
            <a:endParaRPr lang="en-US" sz="1300" dirty="0"/>
          </a:p>
          <a:p>
            <a:pPr marL="152400" indent="-152400">
              <a:spcAft>
                <a:spcPts val="500"/>
              </a:spcAft>
              <a:buSzPct val="100000"/>
              <a:buChar char="•"/>
            </a:pPr>
            <a:r>
              <a:rPr lang="en-US" sz="1300" dirty="0">
                <a:solidFill>
                  <a:srgbClr val="12303F"/>
                </a:solidFill>
                <a:latin typeface="Arial" pitchFamily="34" charset="0"/>
                <a:ea typeface="Arial" pitchFamily="34" charset="-122"/>
                <a:cs typeface="Arial" pitchFamily="34" charset="-120"/>
              </a:rPr>
              <a:t>Std · Mean</a:t>
            </a:r>
            <a:endParaRPr lang="en-US" sz="1300" dirty="0"/>
          </a:p>
        </p:txBody>
      </p:sp>
      <p:sp>
        <p:nvSpPr>
          <p:cNvPr id="9" name="Shape 7"/>
          <p:cNvSpPr/>
          <p:nvPr/>
        </p:nvSpPr>
        <p:spPr>
          <a:xfrm>
            <a:off x="4526280" y="1874520"/>
            <a:ext cx="3794760" cy="3063240"/>
          </a:xfrm>
          <a:prstGeom prst="roundRect">
            <a:avLst>
              <a:gd name="adj" fmla="val 2687"/>
            </a:avLst>
          </a:prstGeom>
          <a:solidFill>
            <a:srgbClr val="FFFFFF"/>
          </a:solidFill>
          <a:ln w="12700">
            <a:solidFill>
              <a:srgbClr val="D5E8E5"/>
            </a:solidFill>
            <a:prstDash val="solid"/>
          </a:ln>
        </p:spPr>
      </p:sp>
      <p:sp>
        <p:nvSpPr>
          <p:cNvPr id="10" name="Shape 8"/>
          <p:cNvSpPr/>
          <p:nvPr/>
        </p:nvSpPr>
        <p:spPr>
          <a:xfrm>
            <a:off x="4846320" y="2148840"/>
            <a:ext cx="384048" cy="384048"/>
          </a:xfrm>
          <a:prstGeom prst="ellipse">
            <a:avLst/>
          </a:prstGeom>
          <a:solidFill>
            <a:srgbClr val="00A896"/>
          </a:solidFill>
          <a:ln/>
        </p:spPr>
      </p:sp>
      <p:sp>
        <p:nvSpPr>
          <p:cNvPr id="11" name="Text 9"/>
          <p:cNvSpPr/>
          <p:nvPr/>
        </p:nvSpPr>
        <p:spPr>
          <a:xfrm>
            <a:off x="5394960" y="2103120"/>
            <a:ext cx="2743200" cy="365760"/>
          </a:xfrm>
          <a:prstGeom prst="rect">
            <a:avLst/>
          </a:prstGeom>
          <a:noFill/>
          <a:ln/>
        </p:spPr>
        <p:txBody>
          <a:bodyPr wrap="square" lIns="0" tIns="0" rIns="0" bIns="0" rtlCol="0" anchor="ctr"/>
          <a:lstStyle/>
          <a:p>
            <a:pPr marL="0" indent="0">
              <a:buNone/>
            </a:pPr>
            <a:r>
              <a:rPr lang="en-US" sz="1800" b="1" dirty="0">
                <a:solidFill>
                  <a:srgbClr val="0B2A4A"/>
                </a:solidFill>
                <a:latin typeface="Arial" pitchFamily="34" charset="0"/>
                <a:ea typeface="Arial" pitchFamily="34" charset="-122"/>
                <a:cs typeface="Arial" pitchFamily="34" charset="-120"/>
              </a:rPr>
              <a:t>6 miền tần số</a:t>
            </a:r>
            <a:endParaRPr lang="en-US" sz="1800" dirty="0"/>
          </a:p>
        </p:txBody>
      </p:sp>
      <p:sp>
        <p:nvSpPr>
          <p:cNvPr id="12" name="Text 10"/>
          <p:cNvSpPr/>
          <p:nvPr/>
        </p:nvSpPr>
        <p:spPr>
          <a:xfrm>
            <a:off x="4846320" y="2578608"/>
            <a:ext cx="3291840" cy="274320"/>
          </a:xfrm>
          <a:prstGeom prst="rect">
            <a:avLst/>
          </a:prstGeom>
          <a:noFill/>
          <a:ln/>
        </p:spPr>
        <p:txBody>
          <a:bodyPr wrap="square" lIns="0" tIns="0" rIns="0" bIns="0" rtlCol="0" anchor="ctr"/>
          <a:lstStyle/>
          <a:p>
            <a:pPr marL="0" indent="0">
              <a:buNone/>
            </a:pPr>
            <a:r>
              <a:rPr lang="en-US" sz="1150" dirty="0">
                <a:solidFill>
                  <a:srgbClr val="5B7280"/>
                </a:solidFill>
                <a:latin typeface="Arial" pitchFamily="34" charset="0"/>
                <a:ea typeface="Arial" pitchFamily="34" charset="-122"/>
                <a:cs typeface="Arial" pitchFamily="34" charset="-120"/>
              </a:rPr>
              <a:t>Frequency-domain features</a:t>
            </a:r>
            <a:endParaRPr lang="en-US" sz="1150" dirty="0"/>
          </a:p>
        </p:txBody>
      </p:sp>
      <p:sp>
        <p:nvSpPr>
          <p:cNvPr id="13" name="Text 11"/>
          <p:cNvSpPr/>
          <p:nvPr/>
        </p:nvSpPr>
        <p:spPr>
          <a:xfrm>
            <a:off x="4892040" y="2971800"/>
            <a:ext cx="3200400" cy="1828800"/>
          </a:xfrm>
          <a:prstGeom prst="rect">
            <a:avLst/>
          </a:prstGeom>
          <a:noFill/>
          <a:ln/>
        </p:spPr>
        <p:txBody>
          <a:bodyPr wrap="square" lIns="0" tIns="0" rIns="0" bIns="0" rtlCol="0" anchor="ctr"/>
          <a:lstStyle/>
          <a:p>
            <a:pPr marL="152400" indent="-152400">
              <a:spcAft>
                <a:spcPts val="500"/>
              </a:spcAft>
              <a:buSzPct val="100000"/>
              <a:buChar char="•"/>
            </a:pPr>
            <a:r>
              <a:rPr lang="en-US" sz="1300" dirty="0">
                <a:solidFill>
                  <a:srgbClr val="12303F"/>
                </a:solidFill>
                <a:latin typeface="Arial" pitchFamily="34" charset="0"/>
                <a:ea typeface="Arial" pitchFamily="34" charset="-122"/>
                <a:cs typeface="Arial" pitchFamily="34" charset="-120"/>
              </a:rPr>
              <a:t>Spectral Entropy</a:t>
            </a:r>
            <a:endParaRPr lang="en-US" sz="1300" dirty="0"/>
          </a:p>
          <a:p>
            <a:pPr marL="152400" indent="-152400">
              <a:spcAft>
                <a:spcPts val="500"/>
              </a:spcAft>
              <a:buSzPct val="100000"/>
              <a:buChar char="•"/>
            </a:pPr>
            <a:r>
              <a:rPr lang="en-US" sz="1300" dirty="0">
                <a:solidFill>
                  <a:srgbClr val="12303F"/>
                </a:solidFill>
                <a:latin typeface="Arial" pitchFamily="34" charset="0"/>
                <a:ea typeface="Arial" pitchFamily="34" charset="-122"/>
                <a:cs typeface="Arial" pitchFamily="34" charset="-120"/>
              </a:rPr>
              <a:t>Median Frequency (MDF)</a:t>
            </a:r>
            <a:endParaRPr lang="en-US" sz="1300" dirty="0"/>
          </a:p>
          <a:p>
            <a:pPr marL="152400" indent="-152400">
              <a:spcAft>
                <a:spcPts val="500"/>
              </a:spcAft>
              <a:buSzPct val="100000"/>
              <a:buChar char="•"/>
            </a:pPr>
            <a:r>
              <a:rPr lang="en-US" sz="1300" dirty="0">
                <a:solidFill>
                  <a:srgbClr val="12303F"/>
                </a:solidFill>
                <a:latin typeface="Arial" pitchFamily="34" charset="0"/>
                <a:ea typeface="Arial" pitchFamily="34" charset="-122"/>
                <a:cs typeface="Arial" pitchFamily="34" charset="-120"/>
              </a:rPr>
              <a:t>Mean Frequency (MNF)</a:t>
            </a:r>
            <a:endParaRPr lang="en-US" sz="1300" dirty="0"/>
          </a:p>
          <a:p>
            <a:pPr marL="152400" indent="-152400">
              <a:spcAft>
                <a:spcPts val="500"/>
              </a:spcAft>
              <a:buSzPct val="100000"/>
              <a:buChar char="•"/>
            </a:pPr>
            <a:r>
              <a:rPr lang="en-US" sz="1300" dirty="0">
                <a:solidFill>
                  <a:srgbClr val="12303F"/>
                </a:solidFill>
                <a:latin typeface="Arial" pitchFamily="34" charset="0"/>
                <a:ea typeface="Arial" pitchFamily="34" charset="-122"/>
                <a:cs typeface="Arial" pitchFamily="34" charset="-120"/>
              </a:rPr>
              <a:t>Spectral Min · Max · Std</a:t>
            </a:r>
            <a:endParaRPr lang="en-US" sz="1300" dirty="0"/>
          </a:p>
        </p:txBody>
      </p:sp>
      <p:sp>
        <p:nvSpPr>
          <p:cNvPr id="14" name="Shape 12"/>
          <p:cNvSpPr/>
          <p:nvPr/>
        </p:nvSpPr>
        <p:spPr>
          <a:xfrm>
            <a:off x="8732520" y="1874520"/>
            <a:ext cx="2926080" cy="3063240"/>
          </a:xfrm>
          <a:prstGeom prst="roundRect">
            <a:avLst>
              <a:gd name="adj" fmla="val 2813"/>
            </a:avLst>
          </a:prstGeom>
          <a:solidFill>
            <a:srgbClr val="0B2A4A"/>
          </a:solidFill>
          <a:ln/>
        </p:spPr>
      </p:sp>
      <p:sp>
        <p:nvSpPr>
          <p:cNvPr id="15" name="Text 13"/>
          <p:cNvSpPr/>
          <p:nvPr/>
        </p:nvSpPr>
        <p:spPr>
          <a:xfrm>
            <a:off x="9052560" y="2148840"/>
            <a:ext cx="2286000" cy="320040"/>
          </a:xfrm>
          <a:prstGeom prst="rect">
            <a:avLst/>
          </a:prstGeom>
          <a:noFill/>
          <a:ln/>
        </p:spPr>
        <p:txBody>
          <a:bodyPr wrap="square" lIns="0" tIns="0" rIns="0" bIns="0" rtlCol="0" anchor="ctr"/>
          <a:lstStyle/>
          <a:p>
            <a:pPr marL="0" indent="0">
              <a:buNone/>
            </a:pPr>
            <a:r>
              <a:rPr lang="en-US" sz="1200" b="1" kern="0" spc="150" dirty="0">
                <a:solidFill>
                  <a:srgbClr val="6FD3C9"/>
                </a:solidFill>
                <a:latin typeface="Arial" pitchFamily="34" charset="0"/>
                <a:ea typeface="Arial" pitchFamily="34" charset="-122"/>
                <a:cs typeface="Arial" pitchFamily="34" charset="-120"/>
              </a:rPr>
              <a:t>TOP 3 THEO mRMR</a:t>
            </a:r>
            <a:endParaRPr lang="en-US" sz="1200" dirty="0"/>
          </a:p>
        </p:txBody>
      </p:sp>
      <p:sp>
        <p:nvSpPr>
          <p:cNvPr id="16" name="Text 14"/>
          <p:cNvSpPr/>
          <p:nvPr/>
        </p:nvSpPr>
        <p:spPr>
          <a:xfrm>
            <a:off x="9052560" y="2606040"/>
            <a:ext cx="457200" cy="502920"/>
          </a:xfrm>
          <a:prstGeom prst="rect">
            <a:avLst/>
          </a:prstGeom>
          <a:noFill/>
          <a:ln/>
        </p:spPr>
        <p:txBody>
          <a:bodyPr wrap="square" lIns="0" tIns="0" rIns="0" bIns="0" rtlCol="0" anchor="ctr"/>
          <a:lstStyle/>
          <a:p>
            <a:pPr marL="0" indent="0">
              <a:buNone/>
            </a:pPr>
            <a:r>
              <a:rPr lang="en-US" sz="2200" b="1" dirty="0">
                <a:solidFill>
                  <a:srgbClr val="C9A227"/>
                </a:solidFill>
                <a:latin typeface="Cambria" pitchFamily="34" charset="0"/>
                <a:ea typeface="Cambria" pitchFamily="34" charset="-122"/>
                <a:cs typeface="Cambria" pitchFamily="34" charset="-120"/>
              </a:rPr>
              <a:t>1</a:t>
            </a:r>
            <a:endParaRPr lang="en-US" sz="2200" dirty="0"/>
          </a:p>
        </p:txBody>
      </p:sp>
      <p:sp>
        <p:nvSpPr>
          <p:cNvPr id="17" name="Text 15"/>
          <p:cNvSpPr/>
          <p:nvPr/>
        </p:nvSpPr>
        <p:spPr>
          <a:xfrm>
            <a:off x="9601200" y="2606040"/>
            <a:ext cx="1828800" cy="50292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MAV</a:t>
            </a:r>
            <a:endParaRPr lang="en-US" sz="1900" dirty="0"/>
          </a:p>
        </p:txBody>
      </p:sp>
      <p:sp>
        <p:nvSpPr>
          <p:cNvPr id="18" name="Text 16"/>
          <p:cNvSpPr/>
          <p:nvPr/>
        </p:nvSpPr>
        <p:spPr>
          <a:xfrm>
            <a:off x="9052560" y="3264408"/>
            <a:ext cx="457200" cy="502920"/>
          </a:xfrm>
          <a:prstGeom prst="rect">
            <a:avLst/>
          </a:prstGeom>
          <a:noFill/>
          <a:ln/>
        </p:spPr>
        <p:txBody>
          <a:bodyPr wrap="square" lIns="0" tIns="0" rIns="0" bIns="0" rtlCol="0" anchor="ctr"/>
          <a:lstStyle/>
          <a:p>
            <a:pPr marL="0" indent="0">
              <a:buNone/>
            </a:pPr>
            <a:r>
              <a:rPr lang="en-US" sz="2200" b="1" dirty="0">
                <a:solidFill>
                  <a:srgbClr val="C9A227"/>
                </a:solidFill>
                <a:latin typeface="Cambria" pitchFamily="34" charset="0"/>
                <a:ea typeface="Cambria" pitchFamily="34" charset="-122"/>
                <a:cs typeface="Cambria" pitchFamily="34" charset="-120"/>
              </a:rPr>
              <a:t>2</a:t>
            </a:r>
            <a:endParaRPr lang="en-US" sz="2200" dirty="0"/>
          </a:p>
        </p:txBody>
      </p:sp>
      <p:sp>
        <p:nvSpPr>
          <p:cNvPr id="19" name="Text 17"/>
          <p:cNvSpPr/>
          <p:nvPr/>
        </p:nvSpPr>
        <p:spPr>
          <a:xfrm>
            <a:off x="9601200" y="3264408"/>
            <a:ext cx="1828800" cy="50292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Skewness</a:t>
            </a:r>
            <a:endParaRPr lang="en-US" sz="1900" dirty="0"/>
          </a:p>
        </p:txBody>
      </p:sp>
      <p:sp>
        <p:nvSpPr>
          <p:cNvPr id="20" name="Text 18"/>
          <p:cNvSpPr/>
          <p:nvPr/>
        </p:nvSpPr>
        <p:spPr>
          <a:xfrm>
            <a:off x="9052560" y="3922776"/>
            <a:ext cx="457200" cy="502920"/>
          </a:xfrm>
          <a:prstGeom prst="rect">
            <a:avLst/>
          </a:prstGeom>
          <a:noFill/>
          <a:ln/>
        </p:spPr>
        <p:txBody>
          <a:bodyPr wrap="square" lIns="0" tIns="0" rIns="0" bIns="0" rtlCol="0" anchor="ctr"/>
          <a:lstStyle/>
          <a:p>
            <a:pPr marL="0" indent="0">
              <a:buNone/>
            </a:pPr>
            <a:r>
              <a:rPr lang="en-US" sz="2200" b="1" dirty="0">
                <a:solidFill>
                  <a:srgbClr val="C9A227"/>
                </a:solidFill>
                <a:latin typeface="Cambria" pitchFamily="34" charset="0"/>
                <a:ea typeface="Cambria" pitchFamily="34" charset="-122"/>
                <a:cs typeface="Cambria" pitchFamily="34" charset="-120"/>
              </a:rPr>
              <a:t>3</a:t>
            </a:r>
            <a:endParaRPr lang="en-US" sz="2200" dirty="0"/>
          </a:p>
        </p:txBody>
      </p:sp>
      <p:sp>
        <p:nvSpPr>
          <p:cNvPr id="21" name="Text 19"/>
          <p:cNvSpPr/>
          <p:nvPr/>
        </p:nvSpPr>
        <p:spPr>
          <a:xfrm>
            <a:off x="9601200" y="3922776"/>
            <a:ext cx="1828800" cy="50292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Mean</a:t>
            </a:r>
            <a:endParaRPr lang="en-US" sz="1900" dirty="0"/>
          </a:p>
        </p:txBody>
      </p:sp>
      <p:sp>
        <p:nvSpPr>
          <p:cNvPr id="22" name="Text 20"/>
          <p:cNvSpPr/>
          <p:nvPr/>
        </p:nvSpPr>
        <p:spPr>
          <a:xfrm>
            <a:off x="9052560" y="4617720"/>
            <a:ext cx="2377440" cy="274320"/>
          </a:xfrm>
          <a:prstGeom prst="rect">
            <a:avLst/>
          </a:prstGeom>
          <a:noFill/>
          <a:ln/>
        </p:spPr>
        <p:txBody>
          <a:bodyPr wrap="square" lIns="0" tIns="0" rIns="0" bIns="0" rtlCol="0" anchor="ctr"/>
          <a:lstStyle/>
          <a:p>
            <a:pPr marL="0" indent="0">
              <a:buNone/>
            </a:pPr>
            <a:r>
              <a:rPr lang="en-US" sz="1000" i="1" dirty="0">
                <a:solidFill>
                  <a:srgbClr val="9FC9C6"/>
                </a:solidFill>
                <a:latin typeface="Arial" pitchFamily="34" charset="0"/>
                <a:ea typeface="Arial" pitchFamily="34" charset="-122"/>
                <a:cs typeface="Arial" pitchFamily="34" charset="-120"/>
              </a:rPr>
              <a:t>Đặc trưng phân biệt mỏi cơ mạnh nhất khi đánh giá độc lập.</a:t>
            </a:r>
            <a:endParaRPr lang="en-US" sz="1000" dirty="0"/>
          </a:p>
        </p:txBody>
      </p:sp>
      <p:sp>
        <p:nvSpPr>
          <p:cNvPr id="23" name="Text 21"/>
          <p:cNvSpPr/>
          <p:nvPr/>
        </p:nvSpPr>
        <p:spPr>
          <a:xfrm>
            <a:off x="502920" y="6473952"/>
            <a:ext cx="5486400" cy="274320"/>
          </a:xfrm>
          <a:prstGeom prst="rect">
            <a:avLst/>
          </a:prstGeom>
          <a:noFill/>
          <a:ln/>
        </p:spPr>
        <p:txBody>
          <a:bodyPr wrap="square" lIns="0" tIns="0" rIns="0" bIns="0" rtlCol="0" anchor="ctr"/>
          <a:lstStyle/>
          <a:p>
            <a:pPr marL="0" indent="0">
              <a:buNone/>
            </a:pPr>
            <a:r>
              <a:rPr lang="en-US" sz="900" dirty="0">
                <a:solidFill>
                  <a:srgbClr val="5B7280"/>
                </a:solidFill>
                <a:latin typeface="Arial" pitchFamily="34" charset="0"/>
                <a:ea typeface="Arial" pitchFamily="34" charset="-122"/>
                <a:cs typeface="Arial" pitchFamily="34" charset="-120"/>
              </a:rPr>
              <a:t>sEMG Fatigue Detection · Springer 2025</a:t>
            </a:r>
            <a:endParaRPr lang="en-US" sz="900" dirty="0"/>
          </a:p>
        </p:txBody>
      </p:sp>
      <p:sp>
        <p:nvSpPr>
          <p:cNvPr id="24" name="Text 22"/>
          <p:cNvSpPr/>
          <p:nvPr/>
        </p:nvSpPr>
        <p:spPr>
          <a:xfrm>
            <a:off x="11277295" y="6473952"/>
            <a:ext cx="411480" cy="274320"/>
          </a:xfrm>
          <a:prstGeom prst="rect">
            <a:avLst/>
          </a:prstGeom>
          <a:noFill/>
          <a:ln/>
        </p:spPr>
        <p:txBody>
          <a:bodyPr wrap="square" lIns="0" tIns="0" rIns="0" bIns="0" rtlCol="0" anchor="ctr"/>
          <a:lstStyle/>
          <a:p>
            <a:pPr marL="0" indent="0" algn="r">
              <a:buNone/>
            </a:pPr>
            <a:r>
              <a:rPr lang="en-US" sz="900" dirty="0">
                <a:solidFill>
                  <a:srgbClr val="5B7280"/>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marL="0" indent="0">
              <a:buNone/>
            </a:pPr>
            <a:r>
              <a:rPr lang="en-US" sz="1250" b="1" kern="0" spc="200" dirty="0">
                <a:solidFill>
                  <a:srgbClr val="028090"/>
                </a:solidFill>
                <a:latin typeface="Arial" pitchFamily="34" charset="0"/>
                <a:ea typeface="Arial" pitchFamily="34" charset="-122"/>
                <a:cs typeface="Arial" pitchFamily="34" charset="-120"/>
              </a:rPr>
              <a:t>03 · GIAO THỨC THU DỮ LIỆU</a:t>
            </a:r>
            <a:endParaRPr lang="en-US" sz="1250" dirty="0"/>
          </a:p>
        </p:txBody>
      </p:sp>
      <p:sp>
        <p:nvSpPr>
          <p:cNvPr id="3" name="Text 1"/>
          <p:cNvSpPr/>
          <p:nvPr/>
        </p:nvSpPr>
        <p:spPr>
          <a:xfrm>
            <a:off x="548640" y="822960"/>
            <a:ext cx="10972800" cy="731520"/>
          </a:xfrm>
          <a:prstGeom prst="rect">
            <a:avLst/>
          </a:prstGeom>
          <a:noFill/>
          <a:ln/>
        </p:spPr>
        <p:txBody>
          <a:bodyPr wrap="square" lIns="0" tIns="0" rIns="0" bIns="0" rtlCol="0" anchor="ctr"/>
          <a:lstStyle/>
          <a:p>
            <a:pPr marL="0" indent="0">
              <a:buNone/>
            </a:pPr>
            <a:r>
              <a:rPr lang="en-US" sz="3100" b="1" dirty="0">
                <a:solidFill>
                  <a:srgbClr val="0B2A4A"/>
                </a:solidFill>
                <a:latin typeface="Cambria" pitchFamily="34" charset="0"/>
                <a:ea typeface="Cambria" pitchFamily="34" charset="-122"/>
                <a:cs typeface="Cambria" pitchFamily="34" charset="-120"/>
              </a:rPr>
              <a:t>Dòng thời gian: giao thức %MVC</a:t>
            </a:r>
            <a:endParaRPr lang="en-US" sz="3100" dirty="0"/>
          </a:p>
        </p:txBody>
      </p:sp>
      <p:sp>
        <p:nvSpPr>
          <p:cNvPr id="4" name="Shape 2"/>
          <p:cNvSpPr/>
          <p:nvPr/>
        </p:nvSpPr>
        <p:spPr>
          <a:xfrm>
            <a:off x="2011680" y="1810512"/>
            <a:ext cx="146304" cy="146304"/>
          </a:xfrm>
          <a:prstGeom prst="ellipse">
            <a:avLst/>
          </a:prstGeom>
          <a:solidFill>
            <a:srgbClr val="028090"/>
          </a:solidFill>
          <a:ln/>
        </p:spPr>
      </p:sp>
      <p:sp>
        <p:nvSpPr>
          <p:cNvPr id="5" name="Text 3"/>
          <p:cNvSpPr/>
          <p:nvPr/>
        </p:nvSpPr>
        <p:spPr>
          <a:xfrm>
            <a:off x="2212848" y="1755648"/>
            <a:ext cx="1920240" cy="256032"/>
          </a:xfrm>
          <a:prstGeom prst="rect">
            <a:avLst/>
          </a:prstGeom>
          <a:noFill/>
          <a:ln/>
        </p:spPr>
        <p:txBody>
          <a:bodyPr wrap="square" lIns="0" tIns="0" rIns="0" bIns="0" rtlCol="0" anchor="ctr"/>
          <a:lstStyle/>
          <a:p>
            <a:pPr marL="0" indent="0">
              <a:buNone/>
            </a:pPr>
            <a:r>
              <a:rPr lang="en-US" sz="1100" dirty="0">
                <a:solidFill>
                  <a:srgbClr val="12303F"/>
                </a:solidFill>
                <a:latin typeface="Arial" pitchFamily="34" charset="0"/>
                <a:ea typeface="Arial" pitchFamily="34" charset="-122"/>
                <a:cs typeface="Arial" pitchFamily="34" charset="-120"/>
              </a:rPr>
              <a:t>Trạng thái Normal</a:t>
            </a:r>
            <a:endParaRPr lang="en-US" sz="1100" dirty="0"/>
          </a:p>
        </p:txBody>
      </p:sp>
      <p:sp>
        <p:nvSpPr>
          <p:cNvPr id="6" name="Shape 4"/>
          <p:cNvSpPr/>
          <p:nvPr/>
        </p:nvSpPr>
        <p:spPr>
          <a:xfrm>
            <a:off x="4572000" y="1810512"/>
            <a:ext cx="146304" cy="146304"/>
          </a:xfrm>
          <a:prstGeom prst="ellipse">
            <a:avLst/>
          </a:prstGeom>
          <a:solidFill>
            <a:srgbClr val="C0392B"/>
          </a:solidFill>
          <a:ln/>
        </p:spPr>
      </p:sp>
      <p:sp>
        <p:nvSpPr>
          <p:cNvPr id="7" name="Text 5"/>
          <p:cNvSpPr/>
          <p:nvPr/>
        </p:nvSpPr>
        <p:spPr>
          <a:xfrm>
            <a:off x="4773168" y="1755648"/>
            <a:ext cx="1920240" cy="256032"/>
          </a:xfrm>
          <a:prstGeom prst="rect">
            <a:avLst/>
          </a:prstGeom>
          <a:noFill/>
          <a:ln/>
        </p:spPr>
        <p:txBody>
          <a:bodyPr wrap="square" lIns="0" tIns="0" rIns="0" bIns="0" rtlCol="0" anchor="ctr"/>
          <a:lstStyle/>
          <a:p>
            <a:pPr marL="0" indent="0">
              <a:buNone/>
            </a:pPr>
            <a:r>
              <a:rPr lang="en-US" sz="1100" dirty="0">
                <a:solidFill>
                  <a:srgbClr val="12303F"/>
                </a:solidFill>
                <a:latin typeface="Arial" pitchFamily="34" charset="0"/>
                <a:ea typeface="Arial" pitchFamily="34" charset="-122"/>
                <a:cs typeface="Arial" pitchFamily="34" charset="-120"/>
              </a:rPr>
              <a:t>Gây mỏi (Fatigue)</a:t>
            </a:r>
            <a:endParaRPr lang="en-US" sz="1100" dirty="0"/>
          </a:p>
        </p:txBody>
      </p:sp>
      <p:sp>
        <p:nvSpPr>
          <p:cNvPr id="8" name="Shape 6"/>
          <p:cNvSpPr/>
          <p:nvPr/>
        </p:nvSpPr>
        <p:spPr>
          <a:xfrm>
            <a:off x="548640" y="2331720"/>
            <a:ext cx="2423160" cy="868680"/>
          </a:xfrm>
          <a:prstGeom prst="roundRect">
            <a:avLst>
              <a:gd name="adj" fmla="val 8421"/>
            </a:avLst>
          </a:prstGeom>
          <a:solidFill>
            <a:srgbClr val="028090"/>
          </a:solidFill>
          <a:ln/>
        </p:spPr>
      </p:sp>
      <p:sp>
        <p:nvSpPr>
          <p:cNvPr id="9" name="Text 7"/>
          <p:cNvSpPr/>
          <p:nvPr/>
        </p:nvSpPr>
        <p:spPr>
          <a:xfrm>
            <a:off x="548640" y="2459736"/>
            <a:ext cx="2423160"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10% MVC</a:t>
            </a:r>
            <a:endParaRPr lang="en-US" sz="1700" dirty="0"/>
          </a:p>
        </p:txBody>
      </p:sp>
      <p:sp>
        <p:nvSpPr>
          <p:cNvPr id="10" name="Text 8"/>
          <p:cNvSpPr/>
          <p:nvPr/>
        </p:nvSpPr>
        <p:spPr>
          <a:xfrm>
            <a:off x="548640" y="2825496"/>
            <a:ext cx="2423160" cy="292608"/>
          </a:xfrm>
          <a:prstGeom prst="rect">
            <a:avLst/>
          </a:prstGeom>
          <a:noFill/>
          <a:ln/>
        </p:spPr>
        <p:txBody>
          <a:bodyPr wrap="square" lIns="0" tIns="0" rIns="0" bIns="0" rtlCol="0" anchor="ctr"/>
          <a:lstStyle/>
          <a:p>
            <a:pPr marL="0" indent="0" algn="ctr">
              <a:buNone/>
            </a:pPr>
            <a:r>
              <a:rPr lang="en-US" sz="1200" dirty="0">
                <a:solidFill>
                  <a:srgbClr val="E4F5F1"/>
                </a:solidFill>
                <a:latin typeface="Arial" pitchFamily="34" charset="0"/>
                <a:ea typeface="Arial" pitchFamily="34" charset="-122"/>
                <a:cs typeface="Arial" pitchFamily="34" charset="-120"/>
              </a:rPr>
              <a:t>Khởi động</a:t>
            </a:r>
            <a:endParaRPr lang="en-US" sz="1200" dirty="0"/>
          </a:p>
        </p:txBody>
      </p:sp>
      <p:sp>
        <p:nvSpPr>
          <p:cNvPr id="11" name="Text 9"/>
          <p:cNvSpPr/>
          <p:nvPr/>
        </p:nvSpPr>
        <p:spPr>
          <a:xfrm>
            <a:off x="2971800" y="2587752"/>
            <a:ext cx="320040" cy="365760"/>
          </a:xfrm>
          <a:prstGeom prst="rect">
            <a:avLst/>
          </a:prstGeom>
          <a:noFill/>
          <a:ln/>
        </p:spPr>
        <p:txBody>
          <a:bodyPr wrap="square" lIns="0" tIns="0" rIns="0" bIns="0" rtlCol="0" anchor="ctr"/>
          <a:lstStyle/>
          <a:p>
            <a:pPr marL="0" indent="0" algn="ctr">
              <a:buNone/>
            </a:pPr>
            <a:r>
              <a:rPr lang="en-US" sz="2000" b="1" dirty="0">
                <a:solidFill>
                  <a:srgbClr val="5B7280"/>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3291840" y="2331720"/>
            <a:ext cx="2423160" cy="868680"/>
          </a:xfrm>
          <a:prstGeom prst="roundRect">
            <a:avLst>
              <a:gd name="adj" fmla="val 8421"/>
            </a:avLst>
          </a:prstGeom>
          <a:solidFill>
            <a:srgbClr val="028090"/>
          </a:solidFill>
          <a:ln/>
        </p:spPr>
      </p:sp>
      <p:sp>
        <p:nvSpPr>
          <p:cNvPr id="13" name="Text 11"/>
          <p:cNvSpPr/>
          <p:nvPr/>
        </p:nvSpPr>
        <p:spPr>
          <a:xfrm>
            <a:off x="3291840" y="2459736"/>
            <a:ext cx="2423160"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20-90% MVC</a:t>
            </a:r>
            <a:endParaRPr lang="en-US" sz="1700" dirty="0"/>
          </a:p>
        </p:txBody>
      </p:sp>
      <p:sp>
        <p:nvSpPr>
          <p:cNvPr id="14" name="Text 12"/>
          <p:cNvSpPr/>
          <p:nvPr/>
        </p:nvSpPr>
        <p:spPr>
          <a:xfrm>
            <a:off x="3291840" y="2825496"/>
            <a:ext cx="2423160" cy="292608"/>
          </a:xfrm>
          <a:prstGeom prst="rect">
            <a:avLst/>
          </a:prstGeom>
          <a:noFill/>
          <a:ln/>
        </p:spPr>
        <p:txBody>
          <a:bodyPr wrap="square" lIns="0" tIns="0" rIns="0" bIns="0" rtlCol="0" anchor="ctr"/>
          <a:lstStyle/>
          <a:p>
            <a:pPr marL="0" indent="0" algn="ctr">
              <a:buNone/>
            </a:pPr>
            <a:r>
              <a:rPr lang="en-US" sz="1200" dirty="0">
                <a:solidFill>
                  <a:srgbClr val="E4F5F1"/>
                </a:solidFill>
                <a:latin typeface="Arial" pitchFamily="34" charset="0"/>
                <a:ea typeface="Arial" pitchFamily="34" charset="-122"/>
                <a:cs typeface="Arial" pitchFamily="34" charset="-120"/>
              </a:rPr>
              <a:t>Ngẫu nhiên</a:t>
            </a:r>
            <a:endParaRPr lang="en-US" sz="1200" dirty="0"/>
          </a:p>
        </p:txBody>
      </p:sp>
      <p:sp>
        <p:nvSpPr>
          <p:cNvPr id="15" name="Text 13"/>
          <p:cNvSpPr/>
          <p:nvPr/>
        </p:nvSpPr>
        <p:spPr>
          <a:xfrm>
            <a:off x="5715000" y="2587752"/>
            <a:ext cx="320040" cy="365760"/>
          </a:xfrm>
          <a:prstGeom prst="rect">
            <a:avLst/>
          </a:prstGeom>
          <a:noFill/>
          <a:ln/>
        </p:spPr>
        <p:txBody>
          <a:bodyPr wrap="square" lIns="0" tIns="0" rIns="0" bIns="0" rtlCol="0" anchor="ctr"/>
          <a:lstStyle/>
          <a:p>
            <a:pPr marL="0" indent="0" algn="ctr">
              <a:buNone/>
            </a:pPr>
            <a:r>
              <a:rPr lang="en-US" sz="2000" b="1" dirty="0">
                <a:solidFill>
                  <a:srgbClr val="5B7280"/>
                </a:solidFill>
                <a:latin typeface="Arial" pitchFamily="34" charset="0"/>
                <a:ea typeface="Arial" pitchFamily="34" charset="-122"/>
                <a:cs typeface="Arial" pitchFamily="34" charset="-120"/>
              </a:rPr>
              <a:t>→</a:t>
            </a:r>
            <a:endParaRPr lang="en-US" sz="2000" dirty="0"/>
          </a:p>
        </p:txBody>
      </p:sp>
      <p:sp>
        <p:nvSpPr>
          <p:cNvPr id="16" name="Shape 14"/>
          <p:cNvSpPr/>
          <p:nvPr/>
        </p:nvSpPr>
        <p:spPr>
          <a:xfrm>
            <a:off x="6035040" y="2331720"/>
            <a:ext cx="2423160" cy="868680"/>
          </a:xfrm>
          <a:prstGeom prst="roundRect">
            <a:avLst>
              <a:gd name="adj" fmla="val 8421"/>
            </a:avLst>
          </a:prstGeom>
          <a:solidFill>
            <a:srgbClr val="C0392B"/>
          </a:solidFill>
          <a:ln/>
        </p:spPr>
      </p:sp>
      <p:sp>
        <p:nvSpPr>
          <p:cNvPr id="17" name="Text 15"/>
          <p:cNvSpPr/>
          <p:nvPr/>
        </p:nvSpPr>
        <p:spPr>
          <a:xfrm>
            <a:off x="6035040" y="2459736"/>
            <a:ext cx="2423160"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70% MVC</a:t>
            </a:r>
            <a:endParaRPr lang="en-US" sz="1700" dirty="0"/>
          </a:p>
        </p:txBody>
      </p:sp>
      <p:sp>
        <p:nvSpPr>
          <p:cNvPr id="18" name="Text 16"/>
          <p:cNvSpPr/>
          <p:nvPr/>
        </p:nvSpPr>
        <p:spPr>
          <a:xfrm>
            <a:off x="6035040" y="2825496"/>
            <a:ext cx="2423160" cy="292608"/>
          </a:xfrm>
          <a:prstGeom prst="rect">
            <a:avLst/>
          </a:prstGeom>
          <a:noFill/>
          <a:ln/>
        </p:spPr>
        <p:txBody>
          <a:bodyPr wrap="square" lIns="0" tIns="0" rIns="0" bIns="0" rtlCol="0" anchor="ctr"/>
          <a:lstStyle/>
          <a:p>
            <a:pPr marL="0" indent="0" algn="ctr">
              <a:buNone/>
            </a:pPr>
            <a:r>
              <a:rPr lang="en-US" sz="1200" dirty="0">
                <a:solidFill>
                  <a:srgbClr val="E4F5F1"/>
                </a:solidFill>
                <a:latin typeface="Arial" pitchFamily="34" charset="0"/>
                <a:ea typeface="Arial" pitchFamily="34" charset="-122"/>
                <a:cs typeface="Arial" pitchFamily="34" charset="-120"/>
              </a:rPr>
              <a:t>Đến kiệt sức</a:t>
            </a:r>
            <a:endParaRPr lang="en-US" sz="1200" dirty="0"/>
          </a:p>
        </p:txBody>
      </p:sp>
      <p:sp>
        <p:nvSpPr>
          <p:cNvPr id="19" name="Text 17"/>
          <p:cNvSpPr/>
          <p:nvPr/>
        </p:nvSpPr>
        <p:spPr>
          <a:xfrm>
            <a:off x="8458200" y="2587752"/>
            <a:ext cx="320040" cy="365760"/>
          </a:xfrm>
          <a:prstGeom prst="rect">
            <a:avLst/>
          </a:prstGeom>
          <a:noFill/>
          <a:ln/>
        </p:spPr>
        <p:txBody>
          <a:bodyPr wrap="square" lIns="0" tIns="0" rIns="0" bIns="0" rtlCol="0" anchor="ctr"/>
          <a:lstStyle/>
          <a:p>
            <a:pPr marL="0" indent="0" algn="ctr">
              <a:buNone/>
            </a:pPr>
            <a:r>
              <a:rPr lang="en-US" sz="2000" b="1" dirty="0">
                <a:solidFill>
                  <a:srgbClr val="5B7280"/>
                </a:solidFill>
                <a:latin typeface="Arial" pitchFamily="34" charset="0"/>
                <a:ea typeface="Arial" pitchFamily="34" charset="-122"/>
                <a:cs typeface="Arial" pitchFamily="34" charset="-120"/>
              </a:rPr>
              <a:t>→</a:t>
            </a:r>
            <a:endParaRPr lang="en-US" sz="2000" dirty="0"/>
          </a:p>
        </p:txBody>
      </p:sp>
      <p:sp>
        <p:nvSpPr>
          <p:cNvPr id="20" name="Shape 18"/>
          <p:cNvSpPr/>
          <p:nvPr/>
        </p:nvSpPr>
        <p:spPr>
          <a:xfrm>
            <a:off x="8778240" y="2331720"/>
            <a:ext cx="2423160" cy="868680"/>
          </a:xfrm>
          <a:prstGeom prst="roundRect">
            <a:avLst>
              <a:gd name="adj" fmla="val 8421"/>
            </a:avLst>
          </a:prstGeom>
          <a:solidFill>
            <a:srgbClr val="028090"/>
          </a:solidFill>
          <a:ln/>
        </p:spPr>
      </p:sp>
      <p:sp>
        <p:nvSpPr>
          <p:cNvPr id="21" name="Text 19"/>
          <p:cNvSpPr/>
          <p:nvPr/>
        </p:nvSpPr>
        <p:spPr>
          <a:xfrm>
            <a:off x="8778240" y="2459736"/>
            <a:ext cx="2423160"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10% MVC</a:t>
            </a:r>
            <a:endParaRPr lang="en-US" sz="1700" dirty="0"/>
          </a:p>
        </p:txBody>
      </p:sp>
      <p:sp>
        <p:nvSpPr>
          <p:cNvPr id="22" name="Text 20"/>
          <p:cNvSpPr/>
          <p:nvPr/>
        </p:nvSpPr>
        <p:spPr>
          <a:xfrm>
            <a:off x="8778240" y="2825496"/>
            <a:ext cx="2423160" cy="292608"/>
          </a:xfrm>
          <a:prstGeom prst="rect">
            <a:avLst/>
          </a:prstGeom>
          <a:noFill/>
          <a:ln/>
        </p:spPr>
        <p:txBody>
          <a:bodyPr wrap="square" lIns="0" tIns="0" rIns="0" bIns="0" rtlCol="0" anchor="ctr"/>
          <a:lstStyle/>
          <a:p>
            <a:pPr marL="0" indent="0" algn="ctr">
              <a:buNone/>
            </a:pPr>
            <a:r>
              <a:rPr lang="en-US" sz="1200" dirty="0">
                <a:solidFill>
                  <a:srgbClr val="E4F5F1"/>
                </a:solidFill>
                <a:latin typeface="Arial" pitchFamily="34" charset="0"/>
                <a:ea typeface="Arial" pitchFamily="34" charset="-122"/>
                <a:cs typeface="Arial" pitchFamily="34" charset="-120"/>
              </a:rPr>
              <a:t>Hồi phục</a:t>
            </a:r>
            <a:endParaRPr lang="en-US" sz="1200" dirty="0"/>
          </a:p>
        </p:txBody>
      </p:sp>
      <p:sp>
        <p:nvSpPr>
          <p:cNvPr id="23" name="Shape 21"/>
          <p:cNvSpPr/>
          <p:nvPr/>
        </p:nvSpPr>
        <p:spPr>
          <a:xfrm>
            <a:off x="548640" y="3456432"/>
            <a:ext cx="5166360" cy="0"/>
          </a:xfrm>
          <a:prstGeom prst="line">
            <a:avLst/>
          </a:prstGeom>
          <a:noFill/>
          <a:ln w="15875">
            <a:solidFill>
              <a:srgbClr val="028090"/>
            </a:solidFill>
            <a:prstDash val="solid"/>
          </a:ln>
        </p:spPr>
      </p:sp>
      <p:sp>
        <p:nvSpPr>
          <p:cNvPr id="24" name="Text 22"/>
          <p:cNvSpPr/>
          <p:nvPr/>
        </p:nvSpPr>
        <p:spPr>
          <a:xfrm>
            <a:off x="548640" y="3529584"/>
            <a:ext cx="5166360" cy="274320"/>
          </a:xfrm>
          <a:prstGeom prst="rect">
            <a:avLst/>
          </a:prstGeom>
          <a:noFill/>
          <a:ln/>
        </p:spPr>
        <p:txBody>
          <a:bodyPr wrap="square" lIns="0" tIns="0" rIns="0" bIns="0" rtlCol="0" anchor="ctr"/>
          <a:lstStyle/>
          <a:p>
            <a:pPr marL="0" indent="0" algn="ctr">
              <a:buNone/>
            </a:pPr>
            <a:r>
              <a:rPr lang="en-US" sz="1100" b="1" dirty="0">
                <a:solidFill>
                  <a:srgbClr val="028090"/>
                </a:solidFill>
                <a:latin typeface="Arial" pitchFamily="34" charset="0"/>
                <a:ea typeface="Arial" pitchFamily="34" charset="-122"/>
                <a:cs typeface="Arial" pitchFamily="34" charset="-120"/>
              </a:rPr>
              <a:t>Normal</a:t>
            </a:r>
            <a:endParaRPr lang="en-US" sz="1100" dirty="0"/>
          </a:p>
        </p:txBody>
      </p:sp>
      <p:sp>
        <p:nvSpPr>
          <p:cNvPr id="25" name="Shape 23"/>
          <p:cNvSpPr/>
          <p:nvPr/>
        </p:nvSpPr>
        <p:spPr>
          <a:xfrm>
            <a:off x="6035040" y="3456432"/>
            <a:ext cx="2423160" cy="0"/>
          </a:xfrm>
          <a:prstGeom prst="line">
            <a:avLst/>
          </a:prstGeom>
          <a:noFill/>
          <a:ln w="15875">
            <a:solidFill>
              <a:srgbClr val="C0392B"/>
            </a:solidFill>
            <a:prstDash val="solid"/>
          </a:ln>
        </p:spPr>
      </p:sp>
      <p:sp>
        <p:nvSpPr>
          <p:cNvPr id="26" name="Text 24"/>
          <p:cNvSpPr/>
          <p:nvPr/>
        </p:nvSpPr>
        <p:spPr>
          <a:xfrm>
            <a:off x="6035040" y="3529584"/>
            <a:ext cx="2423160" cy="274320"/>
          </a:xfrm>
          <a:prstGeom prst="rect">
            <a:avLst/>
          </a:prstGeom>
          <a:noFill/>
          <a:ln/>
        </p:spPr>
        <p:txBody>
          <a:bodyPr wrap="square" lIns="0" tIns="0" rIns="0" bIns="0" rtlCol="0" anchor="ctr"/>
          <a:lstStyle/>
          <a:p>
            <a:pPr marL="0" indent="0" algn="ctr">
              <a:buNone/>
            </a:pPr>
            <a:r>
              <a:rPr lang="en-US" sz="1100" b="1" dirty="0">
                <a:solidFill>
                  <a:srgbClr val="C0392B"/>
                </a:solidFill>
                <a:latin typeface="Arial" pitchFamily="34" charset="0"/>
                <a:ea typeface="Arial" pitchFamily="34" charset="-122"/>
                <a:cs typeface="Arial" pitchFamily="34" charset="-120"/>
              </a:rPr>
              <a:t>Fatigue</a:t>
            </a:r>
            <a:endParaRPr lang="en-US" sz="1100" dirty="0"/>
          </a:p>
        </p:txBody>
      </p:sp>
      <p:sp>
        <p:nvSpPr>
          <p:cNvPr id="27" name="Shape 25"/>
          <p:cNvSpPr/>
          <p:nvPr/>
        </p:nvSpPr>
        <p:spPr>
          <a:xfrm>
            <a:off x="8778240" y="3456432"/>
            <a:ext cx="2423160" cy="0"/>
          </a:xfrm>
          <a:prstGeom prst="line">
            <a:avLst/>
          </a:prstGeom>
          <a:noFill/>
          <a:ln w="15875">
            <a:solidFill>
              <a:srgbClr val="028090"/>
            </a:solidFill>
            <a:prstDash val="solid"/>
          </a:ln>
        </p:spPr>
      </p:sp>
      <p:sp>
        <p:nvSpPr>
          <p:cNvPr id="28" name="Text 26"/>
          <p:cNvSpPr/>
          <p:nvPr/>
        </p:nvSpPr>
        <p:spPr>
          <a:xfrm>
            <a:off x="8778240" y="3529584"/>
            <a:ext cx="2423160" cy="274320"/>
          </a:xfrm>
          <a:prstGeom prst="rect">
            <a:avLst/>
          </a:prstGeom>
          <a:noFill/>
          <a:ln/>
        </p:spPr>
        <p:txBody>
          <a:bodyPr wrap="square" lIns="0" tIns="0" rIns="0" bIns="0" rtlCol="0" anchor="ctr"/>
          <a:lstStyle/>
          <a:p>
            <a:pPr marL="0" indent="0" algn="ctr">
              <a:buNone/>
            </a:pPr>
            <a:r>
              <a:rPr lang="en-US" sz="1100" b="1" dirty="0">
                <a:solidFill>
                  <a:srgbClr val="028090"/>
                </a:solidFill>
                <a:latin typeface="Arial" pitchFamily="34" charset="0"/>
                <a:ea typeface="Arial" pitchFamily="34" charset="-122"/>
                <a:cs typeface="Arial" pitchFamily="34" charset="-120"/>
              </a:rPr>
              <a:t>Recovery</a:t>
            </a:r>
            <a:endParaRPr lang="en-US" sz="1100" dirty="0"/>
          </a:p>
        </p:txBody>
      </p:sp>
      <p:sp>
        <p:nvSpPr>
          <p:cNvPr id="29" name="Shape 27"/>
          <p:cNvSpPr/>
          <p:nvPr/>
        </p:nvSpPr>
        <p:spPr>
          <a:xfrm>
            <a:off x="548640" y="5120640"/>
            <a:ext cx="11109960" cy="777240"/>
          </a:xfrm>
          <a:prstGeom prst="roundRect">
            <a:avLst>
              <a:gd name="adj" fmla="val 10588"/>
            </a:avLst>
          </a:prstGeom>
          <a:solidFill>
            <a:srgbClr val="F1FAF9"/>
          </a:solidFill>
          <a:ln w="12700">
            <a:solidFill>
              <a:srgbClr val="D5E8E5"/>
            </a:solidFill>
            <a:prstDash val="solid"/>
          </a:ln>
        </p:spPr>
      </p:sp>
      <p:sp>
        <p:nvSpPr>
          <p:cNvPr id="30" name="Text 28"/>
          <p:cNvSpPr/>
          <p:nvPr/>
        </p:nvSpPr>
        <p:spPr>
          <a:xfrm>
            <a:off x="822960" y="5120640"/>
            <a:ext cx="10607040" cy="777240"/>
          </a:xfrm>
          <a:prstGeom prst="rect">
            <a:avLst/>
          </a:prstGeom>
          <a:noFill/>
          <a:ln/>
        </p:spPr>
        <p:txBody>
          <a:bodyPr wrap="square" lIns="0" tIns="0" rIns="0" bIns="0" rtlCol="0" anchor="ctr"/>
          <a:lstStyle/>
          <a:p>
            <a:pPr marL="0" indent="0" algn="ctr">
              <a:buNone/>
            </a:pPr>
            <a:r>
              <a:rPr lang="en-US" sz="1250" i="1" dirty="0">
                <a:solidFill>
                  <a:srgbClr val="12303F"/>
                </a:solidFill>
                <a:latin typeface="Arial" pitchFamily="34" charset="0"/>
                <a:ea typeface="Arial" pitchFamily="34" charset="-122"/>
                <a:cs typeface="Arial" pitchFamily="34" charset="-120"/>
              </a:rPr>
              <a:t>Nghỉ 5 phút giữa mỗi lần đo · giữ lực tối thiểu 10 giây · thứ tự 20/40/60/90% MVC ngẫu nhiên để tránh học thuộc mẫu</a:t>
            </a:r>
            <a:endParaRPr lang="en-US" sz="1250" dirty="0"/>
          </a:p>
        </p:txBody>
      </p:sp>
      <p:sp>
        <p:nvSpPr>
          <p:cNvPr id="31" name="Text 29"/>
          <p:cNvSpPr/>
          <p:nvPr/>
        </p:nvSpPr>
        <p:spPr>
          <a:xfrm>
            <a:off x="502920" y="6473952"/>
            <a:ext cx="5486400" cy="274320"/>
          </a:xfrm>
          <a:prstGeom prst="rect">
            <a:avLst/>
          </a:prstGeom>
          <a:noFill/>
          <a:ln/>
        </p:spPr>
        <p:txBody>
          <a:bodyPr wrap="square" lIns="0" tIns="0" rIns="0" bIns="0" rtlCol="0" anchor="ctr"/>
          <a:lstStyle/>
          <a:p>
            <a:pPr marL="0" indent="0">
              <a:buNone/>
            </a:pPr>
            <a:r>
              <a:rPr lang="en-US" sz="900" dirty="0">
                <a:solidFill>
                  <a:srgbClr val="5B7280"/>
                </a:solidFill>
                <a:latin typeface="Arial" pitchFamily="34" charset="0"/>
                <a:ea typeface="Arial" pitchFamily="34" charset="-122"/>
                <a:cs typeface="Arial" pitchFamily="34" charset="-120"/>
              </a:rPr>
              <a:t>sEMG Fatigue Detection · Springer 2025</a:t>
            </a:r>
            <a:endParaRPr lang="en-US" sz="900" dirty="0"/>
          </a:p>
        </p:txBody>
      </p:sp>
      <p:sp>
        <p:nvSpPr>
          <p:cNvPr id="32" name="Text 30"/>
          <p:cNvSpPr/>
          <p:nvPr/>
        </p:nvSpPr>
        <p:spPr>
          <a:xfrm>
            <a:off x="11277295" y="6473952"/>
            <a:ext cx="411480" cy="274320"/>
          </a:xfrm>
          <a:prstGeom prst="rect">
            <a:avLst/>
          </a:prstGeom>
          <a:noFill/>
          <a:ln/>
        </p:spPr>
        <p:txBody>
          <a:bodyPr wrap="square" lIns="0" tIns="0" rIns="0" bIns="0" rtlCol="0" anchor="ctr"/>
          <a:lstStyle/>
          <a:p>
            <a:pPr marL="0" indent="0" algn="r">
              <a:buNone/>
            </a:pPr>
            <a:r>
              <a:rPr lang="en-US" sz="900" dirty="0">
                <a:solidFill>
                  <a:srgbClr val="5B7280"/>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AF9"/>
        </a:solidFill>
        <a:effectLst/>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marL="0" indent="0">
              <a:buNone/>
            </a:pPr>
            <a:r>
              <a:rPr lang="en-US" sz="1250" b="1" kern="0" spc="200" dirty="0">
                <a:solidFill>
                  <a:srgbClr val="028090"/>
                </a:solidFill>
                <a:latin typeface="Arial" pitchFamily="34" charset="0"/>
                <a:ea typeface="Arial" pitchFamily="34" charset="-122"/>
                <a:cs typeface="Arial" pitchFamily="34" charset="-120"/>
              </a:rPr>
              <a:t>03 · SƠ ĐỒ PIPELINE</a:t>
            </a:r>
            <a:endParaRPr lang="en-US" sz="1250" dirty="0"/>
          </a:p>
        </p:txBody>
      </p:sp>
      <p:sp>
        <p:nvSpPr>
          <p:cNvPr id="3" name="Text 1"/>
          <p:cNvSpPr/>
          <p:nvPr/>
        </p:nvSpPr>
        <p:spPr>
          <a:xfrm>
            <a:off x="548640" y="822960"/>
            <a:ext cx="10972800" cy="731520"/>
          </a:xfrm>
          <a:prstGeom prst="rect">
            <a:avLst/>
          </a:prstGeom>
          <a:noFill/>
          <a:ln/>
        </p:spPr>
        <p:txBody>
          <a:bodyPr wrap="square" lIns="0" tIns="0" rIns="0" bIns="0" rtlCol="0" anchor="ctr"/>
          <a:lstStyle/>
          <a:p>
            <a:pPr marL="0" indent="0">
              <a:buNone/>
            </a:pPr>
            <a:r>
              <a:rPr lang="en-US" sz="3100" b="1" dirty="0">
                <a:solidFill>
                  <a:srgbClr val="0B2A4A"/>
                </a:solidFill>
                <a:latin typeface="Cambria" pitchFamily="34" charset="0"/>
                <a:ea typeface="Cambria" pitchFamily="34" charset="-122"/>
                <a:cs typeface="Cambria" pitchFamily="34" charset="-120"/>
              </a:rPr>
              <a:t>Từ tín hiệu thô đến vector đặc trưng</a:t>
            </a:r>
            <a:endParaRPr lang="en-US" sz="3100" dirty="0"/>
          </a:p>
        </p:txBody>
      </p:sp>
      <p:sp>
        <p:nvSpPr>
          <p:cNvPr id="4" name="Shape 2"/>
          <p:cNvSpPr/>
          <p:nvPr/>
        </p:nvSpPr>
        <p:spPr>
          <a:xfrm>
            <a:off x="5088636" y="1783080"/>
            <a:ext cx="2011680" cy="457200"/>
          </a:xfrm>
          <a:prstGeom prst="roundRect">
            <a:avLst>
              <a:gd name="adj" fmla="val 16000"/>
            </a:avLst>
          </a:prstGeom>
          <a:solidFill>
            <a:srgbClr val="0B2A4A"/>
          </a:solidFill>
          <a:ln/>
        </p:spPr>
      </p:sp>
      <p:sp>
        <p:nvSpPr>
          <p:cNvPr id="5" name="Text 3"/>
          <p:cNvSpPr/>
          <p:nvPr/>
        </p:nvSpPr>
        <p:spPr>
          <a:xfrm>
            <a:off x="5088636" y="1783080"/>
            <a:ext cx="20116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Tín hiệu sEMG</a:t>
            </a:r>
            <a:endParaRPr lang="en-US" sz="1400" dirty="0"/>
          </a:p>
        </p:txBody>
      </p:sp>
      <p:sp>
        <p:nvSpPr>
          <p:cNvPr id="6" name="Shape 4"/>
          <p:cNvSpPr/>
          <p:nvPr/>
        </p:nvSpPr>
        <p:spPr>
          <a:xfrm>
            <a:off x="685800" y="2606040"/>
            <a:ext cx="3566160" cy="777240"/>
          </a:xfrm>
          <a:prstGeom prst="roundRect">
            <a:avLst>
              <a:gd name="adj" fmla="val 9412"/>
            </a:avLst>
          </a:prstGeom>
          <a:solidFill>
            <a:srgbClr val="028090"/>
          </a:solidFill>
          <a:ln/>
        </p:spPr>
      </p:sp>
      <p:sp>
        <p:nvSpPr>
          <p:cNvPr id="7" name="Text 5"/>
          <p:cNvSpPr/>
          <p:nvPr/>
        </p:nvSpPr>
        <p:spPr>
          <a:xfrm>
            <a:off x="685800" y="2699309"/>
            <a:ext cx="3566160" cy="3886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Miền thời gian</a:t>
            </a:r>
            <a:endParaRPr lang="en-US" sz="1400" dirty="0"/>
          </a:p>
        </p:txBody>
      </p:sp>
      <p:sp>
        <p:nvSpPr>
          <p:cNvPr id="8" name="Text 6"/>
          <p:cNvSpPr/>
          <p:nvPr/>
        </p:nvSpPr>
        <p:spPr>
          <a:xfrm>
            <a:off x="685800" y="3033522"/>
            <a:ext cx="3566160" cy="310896"/>
          </a:xfrm>
          <a:prstGeom prst="rect">
            <a:avLst/>
          </a:prstGeom>
          <a:noFill/>
          <a:ln/>
        </p:spPr>
        <p:txBody>
          <a:bodyPr wrap="square" lIns="0" tIns="0" rIns="0" bIns="0" rtlCol="0" anchor="ctr"/>
          <a:lstStyle/>
          <a:p>
            <a:pPr marL="0" indent="0" algn="ctr">
              <a:buNone/>
            </a:pPr>
            <a:r>
              <a:rPr lang="en-US" sz="1050" dirty="0">
                <a:solidFill>
                  <a:srgbClr val="D6EFEA"/>
                </a:solidFill>
                <a:latin typeface="Arial" pitchFamily="34" charset="0"/>
                <a:ea typeface="Arial" pitchFamily="34" charset="-122"/>
                <a:cs typeface="Arial" pitchFamily="34" charset="-120"/>
              </a:rPr>
              <a:t>8 đặc trưng: MAV, RMS, Skewness, Kurtosis...</a:t>
            </a:r>
            <a:endParaRPr lang="en-US" sz="1050" dirty="0"/>
          </a:p>
        </p:txBody>
      </p:sp>
      <p:sp>
        <p:nvSpPr>
          <p:cNvPr id="9" name="Shape 7"/>
          <p:cNvSpPr/>
          <p:nvPr/>
        </p:nvSpPr>
        <p:spPr>
          <a:xfrm>
            <a:off x="7863840" y="2606040"/>
            <a:ext cx="3611880" cy="777240"/>
          </a:xfrm>
          <a:prstGeom prst="roundRect">
            <a:avLst>
              <a:gd name="adj" fmla="val 9412"/>
            </a:avLst>
          </a:prstGeom>
          <a:solidFill>
            <a:srgbClr val="00A896"/>
          </a:solidFill>
          <a:ln/>
        </p:spPr>
      </p:sp>
      <p:sp>
        <p:nvSpPr>
          <p:cNvPr id="10" name="Text 8"/>
          <p:cNvSpPr/>
          <p:nvPr/>
        </p:nvSpPr>
        <p:spPr>
          <a:xfrm>
            <a:off x="7863840" y="2699309"/>
            <a:ext cx="3611880" cy="3886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Miền tần số</a:t>
            </a:r>
            <a:endParaRPr lang="en-US" sz="1400" dirty="0"/>
          </a:p>
        </p:txBody>
      </p:sp>
      <p:sp>
        <p:nvSpPr>
          <p:cNvPr id="11" name="Text 9"/>
          <p:cNvSpPr/>
          <p:nvPr/>
        </p:nvSpPr>
        <p:spPr>
          <a:xfrm>
            <a:off x="7863840" y="3033522"/>
            <a:ext cx="3611880" cy="310896"/>
          </a:xfrm>
          <a:prstGeom prst="rect">
            <a:avLst/>
          </a:prstGeom>
          <a:noFill/>
          <a:ln/>
        </p:spPr>
        <p:txBody>
          <a:bodyPr wrap="square" lIns="0" tIns="0" rIns="0" bIns="0" rtlCol="0" anchor="ctr"/>
          <a:lstStyle/>
          <a:p>
            <a:pPr marL="0" indent="0" algn="ctr">
              <a:buNone/>
            </a:pPr>
            <a:r>
              <a:rPr lang="en-US" sz="1050" dirty="0">
                <a:solidFill>
                  <a:srgbClr val="D6F3EE"/>
                </a:solidFill>
                <a:latin typeface="Arial" pitchFamily="34" charset="0"/>
                <a:ea typeface="Arial" pitchFamily="34" charset="-122"/>
                <a:cs typeface="Arial" pitchFamily="34" charset="-120"/>
              </a:rPr>
              <a:t>FFT → 6 đặc trưng: MNF, MDF, Spectral Entropy...</a:t>
            </a:r>
            <a:endParaRPr lang="en-US" sz="1050" dirty="0"/>
          </a:p>
        </p:txBody>
      </p:sp>
      <p:sp>
        <p:nvSpPr>
          <p:cNvPr id="12" name="Shape 10"/>
          <p:cNvSpPr/>
          <p:nvPr/>
        </p:nvSpPr>
        <p:spPr>
          <a:xfrm flipH="1">
            <a:off x="2468880" y="2240280"/>
            <a:ext cx="3625596" cy="365760"/>
          </a:xfrm>
          <a:prstGeom prst="line">
            <a:avLst/>
          </a:prstGeom>
          <a:noFill/>
          <a:ln w="15875">
            <a:solidFill>
              <a:srgbClr val="9DBDB9"/>
            </a:solidFill>
            <a:prstDash val="solid"/>
          </a:ln>
        </p:spPr>
      </p:sp>
      <p:sp>
        <p:nvSpPr>
          <p:cNvPr id="13" name="Shape 11"/>
          <p:cNvSpPr/>
          <p:nvPr/>
        </p:nvSpPr>
        <p:spPr>
          <a:xfrm>
            <a:off x="6094476" y="2240280"/>
            <a:ext cx="3552444" cy="365760"/>
          </a:xfrm>
          <a:prstGeom prst="line">
            <a:avLst/>
          </a:prstGeom>
          <a:noFill/>
          <a:ln w="15875">
            <a:solidFill>
              <a:srgbClr val="9DBDB9"/>
            </a:solidFill>
            <a:prstDash val="solid"/>
          </a:ln>
        </p:spPr>
      </p:sp>
      <p:sp>
        <p:nvSpPr>
          <p:cNvPr id="14" name="Shape 12"/>
          <p:cNvSpPr/>
          <p:nvPr/>
        </p:nvSpPr>
        <p:spPr>
          <a:xfrm>
            <a:off x="4539996" y="3703320"/>
            <a:ext cx="3108960" cy="502920"/>
          </a:xfrm>
          <a:prstGeom prst="roundRect">
            <a:avLst>
              <a:gd name="adj" fmla="val 14545"/>
            </a:avLst>
          </a:prstGeom>
          <a:solidFill>
            <a:srgbClr val="FFFFFF"/>
          </a:solidFill>
          <a:ln w="12700">
            <a:solidFill>
              <a:srgbClr val="D5E8E5"/>
            </a:solidFill>
            <a:prstDash val="solid"/>
          </a:ln>
        </p:spPr>
      </p:sp>
      <p:sp>
        <p:nvSpPr>
          <p:cNvPr id="15" name="Text 13"/>
          <p:cNvSpPr/>
          <p:nvPr/>
        </p:nvSpPr>
        <p:spPr>
          <a:xfrm>
            <a:off x="4539996" y="3703320"/>
            <a:ext cx="3108960" cy="502920"/>
          </a:xfrm>
          <a:prstGeom prst="rect">
            <a:avLst/>
          </a:prstGeom>
          <a:noFill/>
          <a:ln/>
        </p:spPr>
        <p:txBody>
          <a:bodyPr wrap="square" lIns="0" tIns="0" rIns="0" bIns="0" rtlCol="0" anchor="ctr"/>
          <a:lstStyle/>
          <a:p>
            <a:pPr marL="0" indent="0" algn="ctr">
              <a:buNone/>
            </a:pPr>
            <a:r>
              <a:rPr lang="en-US" sz="1350" b="1" dirty="0">
                <a:solidFill>
                  <a:srgbClr val="0B2A4A"/>
                </a:solidFill>
                <a:latin typeface="Arial" pitchFamily="34" charset="0"/>
                <a:ea typeface="Arial" pitchFamily="34" charset="-122"/>
                <a:cs typeface="Arial" pitchFamily="34" charset="-120"/>
              </a:rPr>
              <a:t>Vector đặc trưng — 14 chiều</a:t>
            </a:r>
            <a:endParaRPr lang="en-US" sz="1350" dirty="0"/>
          </a:p>
        </p:txBody>
      </p:sp>
      <p:sp>
        <p:nvSpPr>
          <p:cNvPr id="16" name="Shape 14"/>
          <p:cNvSpPr/>
          <p:nvPr/>
        </p:nvSpPr>
        <p:spPr>
          <a:xfrm>
            <a:off x="2468880" y="3383280"/>
            <a:ext cx="3625596" cy="320040"/>
          </a:xfrm>
          <a:prstGeom prst="line">
            <a:avLst/>
          </a:prstGeom>
          <a:noFill/>
          <a:ln w="15875">
            <a:solidFill>
              <a:srgbClr val="9DBDB9"/>
            </a:solidFill>
            <a:prstDash val="solid"/>
          </a:ln>
        </p:spPr>
      </p:sp>
      <p:sp>
        <p:nvSpPr>
          <p:cNvPr id="17" name="Shape 15"/>
          <p:cNvSpPr/>
          <p:nvPr/>
        </p:nvSpPr>
        <p:spPr>
          <a:xfrm flipH="1">
            <a:off x="6094476" y="3383280"/>
            <a:ext cx="3552444" cy="320040"/>
          </a:xfrm>
          <a:prstGeom prst="line">
            <a:avLst/>
          </a:prstGeom>
          <a:noFill/>
          <a:ln w="15875">
            <a:solidFill>
              <a:srgbClr val="9DBDB9"/>
            </a:solidFill>
            <a:prstDash val="solid"/>
          </a:ln>
        </p:spPr>
      </p:sp>
      <p:sp>
        <p:nvSpPr>
          <p:cNvPr id="18" name="Shape 16"/>
          <p:cNvSpPr/>
          <p:nvPr/>
        </p:nvSpPr>
        <p:spPr>
          <a:xfrm>
            <a:off x="3991356" y="4434840"/>
            <a:ext cx="4206240" cy="548640"/>
          </a:xfrm>
          <a:prstGeom prst="roundRect">
            <a:avLst>
              <a:gd name="adj" fmla="val 13333"/>
            </a:avLst>
          </a:prstGeom>
          <a:solidFill>
            <a:srgbClr val="C9A227"/>
          </a:solidFill>
          <a:ln/>
        </p:spPr>
      </p:sp>
      <p:sp>
        <p:nvSpPr>
          <p:cNvPr id="19" name="Text 17"/>
          <p:cNvSpPr/>
          <p:nvPr/>
        </p:nvSpPr>
        <p:spPr>
          <a:xfrm>
            <a:off x="3991356" y="4480560"/>
            <a:ext cx="4206240" cy="292608"/>
          </a:xfrm>
          <a:prstGeom prst="rect">
            <a:avLst/>
          </a:prstGeom>
          <a:noFill/>
          <a:ln/>
        </p:spPr>
        <p:txBody>
          <a:bodyPr wrap="square" lIns="0" tIns="0" rIns="0" bIns="0" rtlCol="0" anchor="ctr"/>
          <a:lstStyle/>
          <a:p>
            <a:pPr marL="0" indent="0" algn="ctr">
              <a:buNone/>
            </a:pPr>
            <a:r>
              <a:rPr lang="en-US" sz="1350" b="1" dirty="0">
                <a:solidFill>
                  <a:srgbClr val="0B2A4A"/>
                </a:solidFill>
                <a:latin typeface="Arial" pitchFamily="34" charset="0"/>
                <a:ea typeface="Arial" pitchFamily="34" charset="-122"/>
                <a:cs typeface="Arial" pitchFamily="34" charset="-120"/>
              </a:rPr>
              <a:t>Chọn đặc trưng (mRMR)</a:t>
            </a:r>
            <a:endParaRPr lang="en-US" sz="1350" dirty="0"/>
          </a:p>
        </p:txBody>
      </p:sp>
      <p:sp>
        <p:nvSpPr>
          <p:cNvPr id="20" name="Text 18"/>
          <p:cNvSpPr/>
          <p:nvPr/>
        </p:nvSpPr>
        <p:spPr>
          <a:xfrm>
            <a:off x="3991356" y="4754880"/>
            <a:ext cx="4206240" cy="219456"/>
          </a:xfrm>
          <a:prstGeom prst="rect">
            <a:avLst/>
          </a:prstGeom>
          <a:noFill/>
          <a:ln/>
        </p:spPr>
        <p:txBody>
          <a:bodyPr wrap="square" lIns="0" tIns="0" rIns="0" bIns="0" rtlCol="0" anchor="ctr"/>
          <a:lstStyle/>
          <a:p>
            <a:pPr marL="0" indent="0" algn="ctr">
              <a:buNone/>
            </a:pPr>
            <a:r>
              <a:rPr lang="en-US" sz="1050" dirty="0">
                <a:solidFill>
                  <a:srgbClr val="0B2A4A"/>
                </a:solidFill>
                <a:latin typeface="Arial" pitchFamily="34" charset="0"/>
                <a:ea typeface="Arial" pitchFamily="34" charset="-122"/>
                <a:cs typeface="Arial" pitchFamily="34" charset="-120"/>
              </a:rPr>
              <a:t>Top 3: MAV, Skewness, Mean</a:t>
            </a:r>
            <a:endParaRPr lang="en-US" sz="1050" dirty="0"/>
          </a:p>
        </p:txBody>
      </p:sp>
      <p:sp>
        <p:nvSpPr>
          <p:cNvPr id="21" name="Shape 19"/>
          <p:cNvSpPr/>
          <p:nvPr/>
        </p:nvSpPr>
        <p:spPr>
          <a:xfrm>
            <a:off x="6094476" y="4206240"/>
            <a:ext cx="0" cy="228600"/>
          </a:xfrm>
          <a:prstGeom prst="line">
            <a:avLst/>
          </a:prstGeom>
          <a:noFill/>
          <a:ln w="15875">
            <a:solidFill>
              <a:srgbClr val="9DBDB9"/>
            </a:solidFill>
            <a:prstDash val="solid"/>
          </a:ln>
        </p:spPr>
      </p:sp>
      <p:sp>
        <p:nvSpPr>
          <p:cNvPr id="22" name="Shape 20"/>
          <p:cNvSpPr/>
          <p:nvPr/>
        </p:nvSpPr>
        <p:spPr>
          <a:xfrm>
            <a:off x="4814316" y="5166360"/>
            <a:ext cx="2560320" cy="502920"/>
          </a:xfrm>
          <a:prstGeom prst="roundRect">
            <a:avLst>
              <a:gd name="adj" fmla="val 14545"/>
            </a:avLst>
          </a:prstGeom>
          <a:solidFill>
            <a:srgbClr val="0B2A4A"/>
          </a:solidFill>
          <a:ln/>
        </p:spPr>
      </p:sp>
      <p:sp>
        <p:nvSpPr>
          <p:cNvPr id="23" name="Text 21"/>
          <p:cNvSpPr/>
          <p:nvPr/>
        </p:nvSpPr>
        <p:spPr>
          <a:xfrm>
            <a:off x="4814316" y="5166360"/>
            <a:ext cx="2560320" cy="502920"/>
          </a:xfrm>
          <a:prstGeom prst="rect">
            <a:avLst/>
          </a:prstGeom>
          <a:noFill/>
          <a:ln/>
        </p:spPr>
        <p:txBody>
          <a:bodyPr wrap="square" lIns="0" tIns="0" rIns="0" bIns="0" rtlCol="0" anchor="ctr"/>
          <a:lstStyle/>
          <a:p>
            <a:pPr marL="0" indent="0" algn="ctr">
              <a:buNone/>
            </a:pPr>
            <a:r>
              <a:rPr lang="en-US" sz="1350" b="1" dirty="0">
                <a:solidFill>
                  <a:srgbClr val="FFFFFF"/>
                </a:solidFill>
                <a:latin typeface="Arial" pitchFamily="34" charset="0"/>
                <a:ea typeface="Arial" pitchFamily="34" charset="-122"/>
                <a:cs typeface="Arial" pitchFamily="34" charset="-120"/>
              </a:rPr>
              <a:t>SVM · LDA · KNN</a:t>
            </a:r>
            <a:endParaRPr lang="en-US" sz="1350" dirty="0"/>
          </a:p>
        </p:txBody>
      </p:sp>
      <p:sp>
        <p:nvSpPr>
          <p:cNvPr id="24" name="Shape 22"/>
          <p:cNvSpPr/>
          <p:nvPr/>
        </p:nvSpPr>
        <p:spPr>
          <a:xfrm>
            <a:off x="6094476" y="4983480"/>
            <a:ext cx="0" cy="182880"/>
          </a:xfrm>
          <a:prstGeom prst="line">
            <a:avLst/>
          </a:prstGeom>
          <a:noFill/>
          <a:ln w="15875">
            <a:solidFill>
              <a:srgbClr val="9DBDB9"/>
            </a:solidFill>
            <a:prstDash val="solid"/>
          </a:ln>
        </p:spPr>
      </p:sp>
      <p:sp>
        <p:nvSpPr>
          <p:cNvPr id="25" name="Shape 23"/>
          <p:cNvSpPr/>
          <p:nvPr/>
        </p:nvSpPr>
        <p:spPr>
          <a:xfrm>
            <a:off x="5042916" y="5852160"/>
            <a:ext cx="2103120" cy="384048"/>
          </a:xfrm>
          <a:prstGeom prst="roundRect">
            <a:avLst>
              <a:gd name="adj" fmla="val 14286"/>
            </a:avLst>
          </a:prstGeom>
          <a:solidFill>
            <a:srgbClr val="F1FAF9"/>
          </a:solidFill>
          <a:ln w="15875">
            <a:solidFill>
              <a:srgbClr val="00A896"/>
            </a:solidFill>
            <a:prstDash val="solid"/>
          </a:ln>
        </p:spPr>
      </p:sp>
      <p:sp>
        <p:nvSpPr>
          <p:cNvPr id="26" name="Text 24"/>
          <p:cNvSpPr/>
          <p:nvPr/>
        </p:nvSpPr>
        <p:spPr>
          <a:xfrm>
            <a:off x="5042916" y="5852160"/>
            <a:ext cx="2103120" cy="384048"/>
          </a:xfrm>
          <a:prstGeom prst="rect">
            <a:avLst/>
          </a:prstGeom>
          <a:noFill/>
          <a:ln/>
        </p:spPr>
        <p:txBody>
          <a:bodyPr wrap="square" lIns="0" tIns="0" rIns="0" bIns="0" rtlCol="0" anchor="ctr"/>
          <a:lstStyle/>
          <a:p>
            <a:pPr marL="0" indent="0" algn="ctr">
              <a:buNone/>
            </a:pPr>
            <a:r>
              <a:rPr lang="en-US" sz="1200" b="1" dirty="0">
                <a:solidFill>
                  <a:srgbClr val="028090"/>
                </a:solidFill>
                <a:latin typeface="Arial" pitchFamily="34" charset="0"/>
                <a:ea typeface="Arial" pitchFamily="34" charset="-122"/>
                <a:cs typeface="Arial" pitchFamily="34" charset="-120"/>
              </a:rPr>
              <a:t>Normal / Fatigue</a:t>
            </a:r>
            <a:endParaRPr lang="en-US" sz="1200" dirty="0"/>
          </a:p>
        </p:txBody>
      </p:sp>
      <p:sp>
        <p:nvSpPr>
          <p:cNvPr id="27" name="Shape 25"/>
          <p:cNvSpPr/>
          <p:nvPr/>
        </p:nvSpPr>
        <p:spPr>
          <a:xfrm>
            <a:off x="6094476" y="5669280"/>
            <a:ext cx="0" cy="182880"/>
          </a:xfrm>
          <a:prstGeom prst="line">
            <a:avLst/>
          </a:prstGeom>
          <a:noFill/>
          <a:ln w="15875">
            <a:solidFill>
              <a:srgbClr val="9DBDB9"/>
            </a:solidFill>
            <a:prstDash val="solid"/>
          </a:ln>
        </p:spPr>
      </p:sp>
      <p:sp>
        <p:nvSpPr>
          <p:cNvPr id="28" name="Text 26"/>
          <p:cNvSpPr/>
          <p:nvPr/>
        </p:nvSpPr>
        <p:spPr>
          <a:xfrm>
            <a:off x="502920" y="6473952"/>
            <a:ext cx="5486400" cy="274320"/>
          </a:xfrm>
          <a:prstGeom prst="rect">
            <a:avLst/>
          </a:prstGeom>
          <a:noFill/>
          <a:ln/>
        </p:spPr>
        <p:txBody>
          <a:bodyPr wrap="square" lIns="0" tIns="0" rIns="0" bIns="0" rtlCol="0" anchor="ctr"/>
          <a:lstStyle/>
          <a:p>
            <a:pPr marL="0" indent="0">
              <a:buNone/>
            </a:pPr>
            <a:r>
              <a:rPr lang="en-US" sz="900" dirty="0">
                <a:solidFill>
                  <a:srgbClr val="5B7280"/>
                </a:solidFill>
                <a:latin typeface="Arial" pitchFamily="34" charset="0"/>
                <a:ea typeface="Arial" pitchFamily="34" charset="-122"/>
                <a:cs typeface="Arial" pitchFamily="34" charset="-120"/>
              </a:rPr>
              <a:t>sEMG Fatigue Detection · Springer 2025</a:t>
            </a:r>
            <a:endParaRPr lang="en-US" sz="900" dirty="0"/>
          </a:p>
        </p:txBody>
      </p:sp>
      <p:sp>
        <p:nvSpPr>
          <p:cNvPr id="29" name="Text 27"/>
          <p:cNvSpPr/>
          <p:nvPr/>
        </p:nvSpPr>
        <p:spPr>
          <a:xfrm>
            <a:off x="11277295" y="6473952"/>
            <a:ext cx="411480" cy="274320"/>
          </a:xfrm>
          <a:prstGeom prst="rect">
            <a:avLst/>
          </a:prstGeom>
          <a:noFill/>
          <a:ln/>
        </p:spPr>
        <p:txBody>
          <a:bodyPr wrap="square" lIns="0" tIns="0" rIns="0" bIns="0" rtlCol="0" anchor="ctr"/>
          <a:lstStyle/>
          <a:p>
            <a:pPr marL="0" indent="0" algn="r">
              <a:buNone/>
            </a:pPr>
            <a:r>
              <a:rPr lang="en-US" sz="900" dirty="0">
                <a:solidFill>
                  <a:srgbClr val="5B7280"/>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marL="0" indent="0">
              <a:buNone/>
            </a:pPr>
            <a:r>
              <a:rPr lang="en-US" sz="1250" b="1" kern="0" spc="200" dirty="0">
                <a:solidFill>
                  <a:srgbClr val="028090"/>
                </a:solidFill>
                <a:latin typeface="Arial" pitchFamily="34" charset="0"/>
                <a:ea typeface="Arial" pitchFamily="34" charset="-122"/>
                <a:cs typeface="Arial" pitchFamily="34" charset="-120"/>
              </a:rPr>
              <a:t>03 · CÔNG THỨC ĐẶC TRƯNG</a:t>
            </a:r>
            <a:endParaRPr lang="en-US" sz="1250" dirty="0"/>
          </a:p>
        </p:txBody>
      </p:sp>
      <p:sp>
        <p:nvSpPr>
          <p:cNvPr id="3" name="Text 1"/>
          <p:cNvSpPr/>
          <p:nvPr/>
        </p:nvSpPr>
        <p:spPr>
          <a:xfrm>
            <a:off x="548640" y="822960"/>
            <a:ext cx="10972800" cy="731520"/>
          </a:xfrm>
          <a:prstGeom prst="rect">
            <a:avLst/>
          </a:prstGeom>
          <a:noFill/>
          <a:ln/>
        </p:spPr>
        <p:txBody>
          <a:bodyPr wrap="square" lIns="0" tIns="0" rIns="0" bIns="0" rtlCol="0" anchor="ctr"/>
          <a:lstStyle/>
          <a:p>
            <a:pPr marL="0" indent="0">
              <a:buNone/>
            </a:pPr>
            <a:r>
              <a:rPr lang="en-US" sz="3100" b="1" dirty="0">
                <a:solidFill>
                  <a:srgbClr val="0B2A4A"/>
                </a:solidFill>
                <a:latin typeface="Cambria" pitchFamily="34" charset="0"/>
                <a:ea typeface="Cambria" pitchFamily="34" charset="-122"/>
                <a:cs typeface="Cambria" pitchFamily="34" charset="-120"/>
              </a:rPr>
              <a:t>Công thức tính 14 đặc trưng</a:t>
            </a:r>
            <a:endParaRPr lang="en-US" sz="3100" dirty="0"/>
          </a:p>
        </p:txBody>
      </p:sp>
      <p:sp>
        <p:nvSpPr>
          <p:cNvPr id="4" name="Text 2"/>
          <p:cNvSpPr/>
          <p:nvPr/>
        </p:nvSpPr>
        <p:spPr>
          <a:xfrm>
            <a:off x="548640" y="1627632"/>
            <a:ext cx="5212080" cy="256032"/>
          </a:xfrm>
          <a:prstGeom prst="rect">
            <a:avLst/>
          </a:prstGeom>
          <a:noFill/>
          <a:ln/>
        </p:spPr>
        <p:txBody>
          <a:bodyPr wrap="square" lIns="0" tIns="0" rIns="0" bIns="0" rtlCol="0" anchor="ctr"/>
          <a:lstStyle/>
          <a:p>
            <a:pPr marL="0" indent="0">
              <a:buNone/>
            </a:pPr>
            <a:r>
              <a:rPr lang="en-US" sz="1150" b="1" kern="0" spc="150" dirty="0">
                <a:solidFill>
                  <a:srgbClr val="028090"/>
                </a:solidFill>
                <a:latin typeface="Arial" pitchFamily="34" charset="0"/>
                <a:ea typeface="Arial" pitchFamily="34" charset="-122"/>
                <a:cs typeface="Arial" pitchFamily="34" charset="-120"/>
              </a:rPr>
              <a:t>MIỀN THỜI GIAN</a:t>
            </a:r>
            <a:endParaRPr lang="en-US" sz="1150" dirty="0"/>
          </a:p>
        </p:txBody>
      </p:sp>
      <p:sp>
        <p:nvSpPr>
          <p:cNvPr id="5" name="Shape 3"/>
          <p:cNvSpPr/>
          <p:nvPr/>
        </p:nvSpPr>
        <p:spPr>
          <a:xfrm>
            <a:off x="548640" y="1920240"/>
            <a:ext cx="2542032" cy="896112"/>
          </a:xfrm>
          <a:prstGeom prst="roundRect">
            <a:avLst>
              <a:gd name="adj" fmla="val 6122"/>
            </a:avLst>
          </a:prstGeom>
          <a:solidFill>
            <a:srgbClr val="FFFFFF"/>
          </a:solidFill>
          <a:ln w="12700">
            <a:solidFill>
              <a:srgbClr val="D5E8E5"/>
            </a:solidFill>
            <a:prstDash val="solid"/>
          </a:ln>
        </p:spPr>
      </p:sp>
      <p:sp>
        <p:nvSpPr>
          <p:cNvPr id="6" name="Shape 4"/>
          <p:cNvSpPr/>
          <p:nvPr/>
        </p:nvSpPr>
        <p:spPr>
          <a:xfrm>
            <a:off x="548640" y="1920240"/>
            <a:ext cx="54864" cy="896112"/>
          </a:xfrm>
          <a:prstGeom prst="rect">
            <a:avLst/>
          </a:prstGeom>
          <a:solidFill>
            <a:srgbClr val="028090"/>
          </a:solidFill>
          <a:ln/>
        </p:spPr>
      </p:sp>
      <p:sp>
        <p:nvSpPr>
          <p:cNvPr id="7" name="Text 5"/>
          <p:cNvSpPr/>
          <p:nvPr/>
        </p:nvSpPr>
        <p:spPr>
          <a:xfrm>
            <a:off x="731520" y="1975104"/>
            <a:ext cx="2221992" cy="237744"/>
          </a:xfrm>
          <a:prstGeom prst="rect">
            <a:avLst/>
          </a:prstGeom>
          <a:noFill/>
          <a:ln/>
        </p:spPr>
        <p:txBody>
          <a:bodyPr wrap="square" lIns="0" tIns="0" rIns="0" bIns="0" rtlCol="0" anchor="ctr"/>
          <a:lstStyle/>
          <a:p>
            <a:pPr marL="0" indent="0">
              <a:buNone/>
            </a:pPr>
            <a:r>
              <a:rPr lang="en-US" sz="1200" b="1" dirty="0">
                <a:solidFill>
                  <a:srgbClr val="0B2A4A"/>
                </a:solidFill>
                <a:latin typeface="Arial" pitchFamily="34" charset="0"/>
                <a:ea typeface="Arial" pitchFamily="34" charset="-122"/>
                <a:cs typeface="Arial" pitchFamily="34" charset="-120"/>
              </a:rPr>
              <a:t>MAV</a:t>
            </a:r>
            <a:endParaRPr lang="en-US" sz="1200" dirty="0"/>
          </a:p>
        </p:txBody>
      </p:sp>
      <p:sp>
        <p:nvSpPr>
          <p:cNvPr id="8" name="Text 6"/>
          <p:cNvSpPr/>
          <p:nvPr/>
        </p:nvSpPr>
        <p:spPr>
          <a:xfrm>
            <a:off x="731520" y="2194560"/>
            <a:ext cx="2221992" cy="292608"/>
          </a:xfrm>
          <a:prstGeom prst="rect">
            <a:avLst/>
          </a:prstGeom>
          <a:noFill/>
          <a:ln/>
        </p:spPr>
        <p:txBody>
          <a:bodyPr wrap="square" lIns="0" tIns="0" rIns="0" bIns="0" rtlCol="0" anchor="ctr"/>
          <a:lstStyle/>
          <a:p>
            <a:pPr marL="0" indent="0">
              <a:buNone/>
            </a:pPr>
            <a:r>
              <a:rPr lang="en-US" sz="1250" b="1" dirty="0">
                <a:solidFill>
                  <a:srgbClr val="028090"/>
                </a:solidFill>
                <a:latin typeface="Consolas" pitchFamily="34" charset="0"/>
                <a:ea typeface="Consolas" pitchFamily="34" charset="-122"/>
                <a:cs typeface="Consolas" pitchFamily="34" charset="-120"/>
              </a:rPr>
              <a:t>(1/T)∫|x(t)|dt</a:t>
            </a:r>
            <a:endParaRPr lang="en-US" sz="1250" dirty="0"/>
          </a:p>
        </p:txBody>
      </p:sp>
      <p:sp>
        <p:nvSpPr>
          <p:cNvPr id="9" name="Text 7"/>
          <p:cNvSpPr/>
          <p:nvPr/>
        </p:nvSpPr>
        <p:spPr>
          <a:xfrm>
            <a:off x="731520" y="2468880"/>
            <a:ext cx="2221992" cy="329184"/>
          </a:xfrm>
          <a:prstGeom prst="rect">
            <a:avLst/>
          </a:prstGeom>
          <a:noFill/>
          <a:ln/>
        </p:spPr>
        <p:txBody>
          <a:bodyPr wrap="square" lIns="0" tIns="0" rIns="0" bIns="0" rtlCol="0" anchor="t"/>
          <a:lstStyle/>
          <a:p>
            <a:pPr marL="0" indent="0">
              <a:lnSpc>
                <a:spcPct val="100000"/>
              </a:lnSpc>
              <a:buNone/>
            </a:pPr>
            <a:r>
              <a:rPr lang="en-US" sz="850" dirty="0">
                <a:solidFill>
                  <a:srgbClr val="5B7280"/>
                </a:solidFill>
                <a:latin typeface="Arial" pitchFamily="34" charset="0"/>
                <a:ea typeface="Arial" pitchFamily="34" charset="-122"/>
                <a:cs typeface="Arial" pitchFamily="34" charset="-120"/>
              </a:rPr>
              <a:t>Trị tuyệt đối trung bình</a:t>
            </a:r>
            <a:endParaRPr lang="en-US" sz="850" dirty="0"/>
          </a:p>
        </p:txBody>
      </p:sp>
      <p:sp>
        <p:nvSpPr>
          <p:cNvPr id="10" name="Shape 8"/>
          <p:cNvSpPr/>
          <p:nvPr/>
        </p:nvSpPr>
        <p:spPr>
          <a:xfrm>
            <a:off x="3236976" y="1920240"/>
            <a:ext cx="2542032" cy="896112"/>
          </a:xfrm>
          <a:prstGeom prst="roundRect">
            <a:avLst>
              <a:gd name="adj" fmla="val 6122"/>
            </a:avLst>
          </a:prstGeom>
          <a:solidFill>
            <a:srgbClr val="FFFFFF"/>
          </a:solidFill>
          <a:ln w="12700">
            <a:solidFill>
              <a:srgbClr val="D5E8E5"/>
            </a:solidFill>
            <a:prstDash val="solid"/>
          </a:ln>
        </p:spPr>
      </p:sp>
      <p:sp>
        <p:nvSpPr>
          <p:cNvPr id="11" name="Shape 9"/>
          <p:cNvSpPr/>
          <p:nvPr/>
        </p:nvSpPr>
        <p:spPr>
          <a:xfrm>
            <a:off x="3236976" y="1920240"/>
            <a:ext cx="54864" cy="896112"/>
          </a:xfrm>
          <a:prstGeom prst="rect">
            <a:avLst/>
          </a:prstGeom>
          <a:solidFill>
            <a:srgbClr val="028090"/>
          </a:solidFill>
          <a:ln/>
        </p:spPr>
      </p:sp>
      <p:sp>
        <p:nvSpPr>
          <p:cNvPr id="12" name="Text 10"/>
          <p:cNvSpPr/>
          <p:nvPr/>
        </p:nvSpPr>
        <p:spPr>
          <a:xfrm>
            <a:off x="3419856" y="1975104"/>
            <a:ext cx="2221992" cy="237744"/>
          </a:xfrm>
          <a:prstGeom prst="rect">
            <a:avLst/>
          </a:prstGeom>
          <a:noFill/>
          <a:ln/>
        </p:spPr>
        <p:txBody>
          <a:bodyPr wrap="square" lIns="0" tIns="0" rIns="0" bIns="0" rtlCol="0" anchor="ctr"/>
          <a:lstStyle/>
          <a:p>
            <a:pPr marL="0" indent="0">
              <a:buNone/>
            </a:pPr>
            <a:r>
              <a:rPr lang="en-US" sz="1200" b="1" dirty="0">
                <a:solidFill>
                  <a:srgbClr val="0B2A4A"/>
                </a:solidFill>
                <a:latin typeface="Arial" pitchFamily="34" charset="0"/>
                <a:ea typeface="Arial" pitchFamily="34" charset="-122"/>
                <a:cs typeface="Arial" pitchFamily="34" charset="-120"/>
              </a:rPr>
              <a:t>RMS</a:t>
            </a:r>
            <a:endParaRPr lang="en-US" sz="1200" dirty="0"/>
          </a:p>
        </p:txBody>
      </p:sp>
      <p:sp>
        <p:nvSpPr>
          <p:cNvPr id="13" name="Text 11"/>
          <p:cNvSpPr/>
          <p:nvPr/>
        </p:nvSpPr>
        <p:spPr>
          <a:xfrm>
            <a:off x="3419856" y="2194560"/>
            <a:ext cx="2221992" cy="292608"/>
          </a:xfrm>
          <a:prstGeom prst="rect">
            <a:avLst/>
          </a:prstGeom>
          <a:noFill/>
          <a:ln/>
        </p:spPr>
        <p:txBody>
          <a:bodyPr wrap="square" lIns="0" tIns="0" rIns="0" bIns="0" rtlCol="0" anchor="ctr"/>
          <a:lstStyle/>
          <a:p>
            <a:pPr marL="0" indent="0">
              <a:buNone/>
            </a:pPr>
            <a:r>
              <a:rPr lang="en-US" sz="1250" b="1" dirty="0">
                <a:solidFill>
                  <a:srgbClr val="028090"/>
                </a:solidFill>
                <a:latin typeface="Consolas" pitchFamily="34" charset="0"/>
                <a:ea typeface="Consolas" pitchFamily="34" charset="-122"/>
                <a:cs typeface="Consolas" pitchFamily="34" charset="-120"/>
              </a:rPr>
              <a:t>√[(1/T)∫x(t)²dt]</a:t>
            </a:r>
            <a:endParaRPr lang="en-US" sz="1250" dirty="0"/>
          </a:p>
        </p:txBody>
      </p:sp>
      <p:sp>
        <p:nvSpPr>
          <p:cNvPr id="14" name="Text 12"/>
          <p:cNvSpPr/>
          <p:nvPr/>
        </p:nvSpPr>
        <p:spPr>
          <a:xfrm>
            <a:off x="3419856" y="2468880"/>
            <a:ext cx="2221992" cy="329184"/>
          </a:xfrm>
          <a:prstGeom prst="rect">
            <a:avLst/>
          </a:prstGeom>
          <a:noFill/>
          <a:ln/>
        </p:spPr>
        <p:txBody>
          <a:bodyPr wrap="square" lIns="0" tIns="0" rIns="0" bIns="0" rtlCol="0" anchor="t"/>
          <a:lstStyle/>
          <a:p>
            <a:pPr marL="0" indent="0">
              <a:lnSpc>
                <a:spcPct val="100000"/>
              </a:lnSpc>
              <a:buNone/>
            </a:pPr>
            <a:r>
              <a:rPr lang="en-US" sz="850" dirty="0">
                <a:solidFill>
                  <a:srgbClr val="5B7280"/>
                </a:solidFill>
                <a:latin typeface="Arial" pitchFamily="34" charset="0"/>
                <a:ea typeface="Arial" pitchFamily="34" charset="-122"/>
                <a:cs typeface="Arial" pitchFamily="34" charset="-120"/>
              </a:rPr>
              <a:t>Căn quân phương biên độ</a:t>
            </a:r>
            <a:endParaRPr lang="en-US" sz="850" dirty="0"/>
          </a:p>
        </p:txBody>
      </p:sp>
      <p:sp>
        <p:nvSpPr>
          <p:cNvPr id="15" name="Shape 13"/>
          <p:cNvSpPr/>
          <p:nvPr/>
        </p:nvSpPr>
        <p:spPr>
          <a:xfrm>
            <a:off x="548640" y="2944368"/>
            <a:ext cx="2542032" cy="896112"/>
          </a:xfrm>
          <a:prstGeom prst="roundRect">
            <a:avLst>
              <a:gd name="adj" fmla="val 6122"/>
            </a:avLst>
          </a:prstGeom>
          <a:solidFill>
            <a:srgbClr val="FFFFFF"/>
          </a:solidFill>
          <a:ln w="12700">
            <a:solidFill>
              <a:srgbClr val="D5E8E5"/>
            </a:solidFill>
            <a:prstDash val="solid"/>
          </a:ln>
        </p:spPr>
      </p:sp>
      <p:sp>
        <p:nvSpPr>
          <p:cNvPr id="16" name="Shape 14"/>
          <p:cNvSpPr/>
          <p:nvPr/>
        </p:nvSpPr>
        <p:spPr>
          <a:xfrm>
            <a:off x="548640" y="2944368"/>
            <a:ext cx="54864" cy="896112"/>
          </a:xfrm>
          <a:prstGeom prst="rect">
            <a:avLst/>
          </a:prstGeom>
          <a:solidFill>
            <a:srgbClr val="028090"/>
          </a:solidFill>
          <a:ln/>
        </p:spPr>
      </p:sp>
      <p:sp>
        <p:nvSpPr>
          <p:cNvPr id="17" name="Text 15"/>
          <p:cNvSpPr/>
          <p:nvPr/>
        </p:nvSpPr>
        <p:spPr>
          <a:xfrm>
            <a:off x="731520" y="2999232"/>
            <a:ext cx="2221992" cy="237744"/>
          </a:xfrm>
          <a:prstGeom prst="rect">
            <a:avLst/>
          </a:prstGeom>
          <a:noFill/>
          <a:ln/>
        </p:spPr>
        <p:txBody>
          <a:bodyPr wrap="square" lIns="0" tIns="0" rIns="0" bIns="0" rtlCol="0" anchor="ctr"/>
          <a:lstStyle/>
          <a:p>
            <a:pPr marL="0" indent="0">
              <a:buNone/>
            </a:pPr>
            <a:r>
              <a:rPr lang="en-US" sz="1200" b="1" dirty="0">
                <a:solidFill>
                  <a:srgbClr val="0B2A4A"/>
                </a:solidFill>
                <a:latin typeface="Arial" pitchFamily="34" charset="0"/>
                <a:ea typeface="Arial" pitchFamily="34" charset="-122"/>
                <a:cs typeface="Arial" pitchFamily="34" charset="-120"/>
              </a:rPr>
              <a:t>Skewness</a:t>
            </a:r>
            <a:endParaRPr lang="en-US" sz="1200" dirty="0"/>
          </a:p>
        </p:txBody>
      </p:sp>
      <p:sp>
        <p:nvSpPr>
          <p:cNvPr id="18" name="Text 16"/>
          <p:cNvSpPr/>
          <p:nvPr/>
        </p:nvSpPr>
        <p:spPr>
          <a:xfrm>
            <a:off x="731520" y="3218688"/>
            <a:ext cx="2221992" cy="292608"/>
          </a:xfrm>
          <a:prstGeom prst="rect">
            <a:avLst/>
          </a:prstGeom>
          <a:noFill/>
          <a:ln/>
        </p:spPr>
        <p:txBody>
          <a:bodyPr wrap="square" lIns="0" tIns="0" rIns="0" bIns="0" rtlCol="0" anchor="ctr"/>
          <a:lstStyle/>
          <a:p>
            <a:pPr marL="0" indent="0">
              <a:buNone/>
            </a:pPr>
            <a:r>
              <a:rPr lang="en-US" sz="1250" b="1" dirty="0">
                <a:solidFill>
                  <a:srgbClr val="028090"/>
                </a:solidFill>
                <a:latin typeface="Consolas" pitchFamily="34" charset="0"/>
                <a:ea typeface="Consolas" pitchFamily="34" charset="-122"/>
                <a:cs typeface="Consolas" pitchFamily="34" charset="-120"/>
              </a:rPr>
              <a:t>Σ(Yi-Ȳ)³/N / s³</a:t>
            </a:r>
            <a:endParaRPr lang="en-US" sz="1250" dirty="0"/>
          </a:p>
        </p:txBody>
      </p:sp>
      <p:sp>
        <p:nvSpPr>
          <p:cNvPr id="19" name="Text 17"/>
          <p:cNvSpPr/>
          <p:nvPr/>
        </p:nvSpPr>
        <p:spPr>
          <a:xfrm>
            <a:off x="731520" y="3493008"/>
            <a:ext cx="2221992" cy="329184"/>
          </a:xfrm>
          <a:prstGeom prst="rect">
            <a:avLst/>
          </a:prstGeom>
          <a:noFill/>
          <a:ln/>
        </p:spPr>
        <p:txBody>
          <a:bodyPr wrap="square" lIns="0" tIns="0" rIns="0" bIns="0" rtlCol="0" anchor="t"/>
          <a:lstStyle/>
          <a:p>
            <a:pPr marL="0" indent="0">
              <a:lnSpc>
                <a:spcPct val="100000"/>
              </a:lnSpc>
              <a:buNone/>
            </a:pPr>
            <a:r>
              <a:rPr lang="en-US" sz="850" dirty="0">
                <a:solidFill>
                  <a:srgbClr val="5B7280"/>
                </a:solidFill>
                <a:latin typeface="Arial" pitchFamily="34" charset="0"/>
                <a:ea typeface="Arial" pitchFamily="34" charset="-122"/>
                <a:cs typeface="Arial" pitchFamily="34" charset="-120"/>
              </a:rPr>
              <a:t>Độ lệch phân phối (s dùng N)</a:t>
            </a:r>
            <a:endParaRPr lang="en-US" sz="850" dirty="0"/>
          </a:p>
        </p:txBody>
      </p:sp>
      <p:sp>
        <p:nvSpPr>
          <p:cNvPr id="20" name="Shape 18"/>
          <p:cNvSpPr/>
          <p:nvPr/>
        </p:nvSpPr>
        <p:spPr>
          <a:xfrm>
            <a:off x="3236976" y="2944368"/>
            <a:ext cx="2542032" cy="896112"/>
          </a:xfrm>
          <a:prstGeom prst="roundRect">
            <a:avLst>
              <a:gd name="adj" fmla="val 6122"/>
            </a:avLst>
          </a:prstGeom>
          <a:solidFill>
            <a:srgbClr val="FFFFFF"/>
          </a:solidFill>
          <a:ln w="12700">
            <a:solidFill>
              <a:srgbClr val="D5E8E5"/>
            </a:solidFill>
            <a:prstDash val="solid"/>
          </a:ln>
        </p:spPr>
      </p:sp>
      <p:sp>
        <p:nvSpPr>
          <p:cNvPr id="21" name="Shape 19"/>
          <p:cNvSpPr/>
          <p:nvPr/>
        </p:nvSpPr>
        <p:spPr>
          <a:xfrm>
            <a:off x="3236976" y="2944368"/>
            <a:ext cx="54864" cy="896112"/>
          </a:xfrm>
          <a:prstGeom prst="rect">
            <a:avLst/>
          </a:prstGeom>
          <a:solidFill>
            <a:srgbClr val="028090"/>
          </a:solidFill>
          <a:ln/>
        </p:spPr>
      </p:sp>
      <p:sp>
        <p:nvSpPr>
          <p:cNvPr id="22" name="Text 20"/>
          <p:cNvSpPr/>
          <p:nvPr/>
        </p:nvSpPr>
        <p:spPr>
          <a:xfrm>
            <a:off x="3419856" y="2999232"/>
            <a:ext cx="2221992" cy="237744"/>
          </a:xfrm>
          <a:prstGeom prst="rect">
            <a:avLst/>
          </a:prstGeom>
          <a:noFill/>
          <a:ln/>
        </p:spPr>
        <p:txBody>
          <a:bodyPr wrap="square" lIns="0" tIns="0" rIns="0" bIns="0" rtlCol="0" anchor="ctr"/>
          <a:lstStyle/>
          <a:p>
            <a:pPr marL="0" indent="0">
              <a:buNone/>
            </a:pPr>
            <a:r>
              <a:rPr lang="en-US" sz="1200" b="1" dirty="0">
                <a:solidFill>
                  <a:srgbClr val="0B2A4A"/>
                </a:solidFill>
                <a:latin typeface="Arial" pitchFamily="34" charset="0"/>
                <a:ea typeface="Arial" pitchFamily="34" charset="-122"/>
                <a:cs typeface="Arial" pitchFamily="34" charset="-120"/>
              </a:rPr>
              <a:t>Kurtosis</a:t>
            </a:r>
            <a:endParaRPr lang="en-US" sz="1200" dirty="0"/>
          </a:p>
        </p:txBody>
      </p:sp>
      <p:sp>
        <p:nvSpPr>
          <p:cNvPr id="23" name="Text 21"/>
          <p:cNvSpPr/>
          <p:nvPr/>
        </p:nvSpPr>
        <p:spPr>
          <a:xfrm>
            <a:off x="3419856" y="3218688"/>
            <a:ext cx="2221992" cy="292608"/>
          </a:xfrm>
          <a:prstGeom prst="rect">
            <a:avLst/>
          </a:prstGeom>
          <a:noFill/>
          <a:ln/>
        </p:spPr>
        <p:txBody>
          <a:bodyPr wrap="square" lIns="0" tIns="0" rIns="0" bIns="0" rtlCol="0" anchor="ctr"/>
          <a:lstStyle/>
          <a:p>
            <a:pPr marL="0" indent="0">
              <a:buNone/>
            </a:pPr>
            <a:r>
              <a:rPr lang="en-US" sz="1250" b="1" dirty="0">
                <a:solidFill>
                  <a:srgbClr val="028090"/>
                </a:solidFill>
                <a:latin typeface="Consolas" pitchFamily="34" charset="0"/>
                <a:ea typeface="Consolas" pitchFamily="34" charset="-122"/>
                <a:cs typeface="Consolas" pitchFamily="34" charset="-120"/>
              </a:rPr>
              <a:t>Σ(Yi-Ȳ)⁴/N / s⁴</a:t>
            </a:r>
            <a:endParaRPr lang="en-US" sz="1250" dirty="0"/>
          </a:p>
        </p:txBody>
      </p:sp>
      <p:sp>
        <p:nvSpPr>
          <p:cNvPr id="24" name="Text 22"/>
          <p:cNvSpPr/>
          <p:nvPr/>
        </p:nvSpPr>
        <p:spPr>
          <a:xfrm>
            <a:off x="3419856" y="3493008"/>
            <a:ext cx="2221992" cy="329184"/>
          </a:xfrm>
          <a:prstGeom prst="rect">
            <a:avLst/>
          </a:prstGeom>
          <a:noFill/>
          <a:ln/>
        </p:spPr>
        <p:txBody>
          <a:bodyPr wrap="square" lIns="0" tIns="0" rIns="0" bIns="0" rtlCol="0" anchor="t"/>
          <a:lstStyle/>
          <a:p>
            <a:pPr marL="0" indent="0">
              <a:lnSpc>
                <a:spcPct val="100000"/>
              </a:lnSpc>
              <a:buNone/>
            </a:pPr>
            <a:r>
              <a:rPr lang="en-US" sz="850" dirty="0">
                <a:solidFill>
                  <a:srgbClr val="5B7280"/>
                </a:solidFill>
                <a:latin typeface="Arial" pitchFamily="34" charset="0"/>
                <a:ea typeface="Arial" pitchFamily="34" charset="-122"/>
                <a:cs typeface="Arial" pitchFamily="34" charset="-120"/>
              </a:rPr>
              <a:t>Độ nhọn phân phối (s dùng N)</a:t>
            </a:r>
            <a:endParaRPr lang="en-US" sz="850" dirty="0"/>
          </a:p>
        </p:txBody>
      </p:sp>
      <p:sp>
        <p:nvSpPr>
          <p:cNvPr id="25" name="Shape 23"/>
          <p:cNvSpPr/>
          <p:nvPr/>
        </p:nvSpPr>
        <p:spPr>
          <a:xfrm>
            <a:off x="548640" y="3968496"/>
            <a:ext cx="5230368" cy="502920"/>
          </a:xfrm>
          <a:prstGeom prst="roundRect">
            <a:avLst>
              <a:gd name="adj" fmla="val 10909"/>
            </a:avLst>
          </a:prstGeom>
          <a:solidFill>
            <a:srgbClr val="F1FAF9"/>
          </a:solidFill>
          <a:ln w="12700">
            <a:solidFill>
              <a:srgbClr val="D5E8E5"/>
            </a:solidFill>
            <a:prstDash val="solid"/>
          </a:ln>
        </p:spPr>
      </p:sp>
      <p:sp>
        <p:nvSpPr>
          <p:cNvPr id="26" name="Text 24"/>
          <p:cNvSpPr/>
          <p:nvPr/>
        </p:nvSpPr>
        <p:spPr>
          <a:xfrm>
            <a:off x="731520" y="3968496"/>
            <a:ext cx="4901184" cy="502920"/>
          </a:xfrm>
          <a:prstGeom prst="rect">
            <a:avLst/>
          </a:prstGeom>
          <a:noFill/>
          <a:ln/>
        </p:spPr>
        <p:txBody>
          <a:bodyPr wrap="square" lIns="0" tIns="0" rIns="0" bIns="0" rtlCol="0" anchor="ctr"/>
          <a:lstStyle/>
          <a:p>
            <a:pPr marL="0" indent="0">
              <a:buNone/>
            </a:pPr>
            <a:r>
              <a:rPr lang="en-US" sz="1050" dirty="0">
                <a:solidFill>
                  <a:srgbClr val="12303F"/>
                </a:solidFill>
                <a:latin typeface="Arial" pitchFamily="34" charset="0"/>
                <a:ea typeface="Arial" pitchFamily="34" charset="-122"/>
                <a:cs typeface="Arial" pitchFamily="34" charset="-120"/>
              </a:rPr>
              <a:t>Min · Max · Std · Mean — 4 thống kê cơ bản trên mỗi khung tín hiệu</a:t>
            </a:r>
            <a:endParaRPr lang="en-US" sz="1050" dirty="0"/>
          </a:p>
        </p:txBody>
      </p:sp>
      <p:sp>
        <p:nvSpPr>
          <p:cNvPr id="27" name="Text 25"/>
          <p:cNvSpPr/>
          <p:nvPr/>
        </p:nvSpPr>
        <p:spPr>
          <a:xfrm>
            <a:off x="6172200" y="1627632"/>
            <a:ext cx="5212080" cy="256032"/>
          </a:xfrm>
          <a:prstGeom prst="rect">
            <a:avLst/>
          </a:prstGeom>
          <a:noFill/>
          <a:ln/>
        </p:spPr>
        <p:txBody>
          <a:bodyPr wrap="square" lIns="0" tIns="0" rIns="0" bIns="0" rtlCol="0" anchor="ctr"/>
          <a:lstStyle/>
          <a:p>
            <a:pPr marL="0" indent="0">
              <a:buNone/>
            </a:pPr>
            <a:r>
              <a:rPr lang="en-US" sz="1150" b="1" kern="0" spc="150" dirty="0">
                <a:solidFill>
                  <a:srgbClr val="00A896"/>
                </a:solidFill>
                <a:latin typeface="Arial" pitchFamily="34" charset="0"/>
                <a:ea typeface="Arial" pitchFamily="34" charset="-122"/>
                <a:cs typeface="Arial" pitchFamily="34" charset="-120"/>
              </a:rPr>
              <a:t>MIỀN TẦN SỐ</a:t>
            </a:r>
            <a:endParaRPr lang="en-US" sz="1150" dirty="0"/>
          </a:p>
        </p:txBody>
      </p:sp>
      <p:sp>
        <p:nvSpPr>
          <p:cNvPr id="28" name="Shape 26"/>
          <p:cNvSpPr/>
          <p:nvPr/>
        </p:nvSpPr>
        <p:spPr>
          <a:xfrm>
            <a:off x="6172200" y="1920240"/>
            <a:ext cx="2542032" cy="896112"/>
          </a:xfrm>
          <a:prstGeom prst="roundRect">
            <a:avLst>
              <a:gd name="adj" fmla="val 6122"/>
            </a:avLst>
          </a:prstGeom>
          <a:solidFill>
            <a:srgbClr val="FFFFFF"/>
          </a:solidFill>
          <a:ln w="12700">
            <a:solidFill>
              <a:srgbClr val="D5E8E5"/>
            </a:solidFill>
            <a:prstDash val="solid"/>
          </a:ln>
        </p:spPr>
      </p:sp>
      <p:sp>
        <p:nvSpPr>
          <p:cNvPr id="29" name="Shape 27"/>
          <p:cNvSpPr/>
          <p:nvPr/>
        </p:nvSpPr>
        <p:spPr>
          <a:xfrm>
            <a:off x="6172200" y="1920240"/>
            <a:ext cx="54864" cy="896112"/>
          </a:xfrm>
          <a:prstGeom prst="rect">
            <a:avLst/>
          </a:prstGeom>
          <a:solidFill>
            <a:srgbClr val="00A896"/>
          </a:solidFill>
          <a:ln/>
        </p:spPr>
      </p:sp>
      <p:sp>
        <p:nvSpPr>
          <p:cNvPr id="30" name="Text 28"/>
          <p:cNvSpPr/>
          <p:nvPr/>
        </p:nvSpPr>
        <p:spPr>
          <a:xfrm>
            <a:off x="6355080" y="1975104"/>
            <a:ext cx="2221992" cy="237744"/>
          </a:xfrm>
          <a:prstGeom prst="rect">
            <a:avLst/>
          </a:prstGeom>
          <a:noFill/>
          <a:ln/>
        </p:spPr>
        <p:txBody>
          <a:bodyPr wrap="square" lIns="0" tIns="0" rIns="0" bIns="0" rtlCol="0" anchor="ctr"/>
          <a:lstStyle/>
          <a:p>
            <a:pPr marL="0" indent="0">
              <a:buNone/>
            </a:pPr>
            <a:r>
              <a:rPr lang="en-US" sz="1200" b="1" dirty="0">
                <a:solidFill>
                  <a:srgbClr val="0B2A4A"/>
                </a:solidFill>
                <a:latin typeface="Arial" pitchFamily="34" charset="0"/>
                <a:ea typeface="Arial" pitchFamily="34" charset="-122"/>
                <a:cs typeface="Arial" pitchFamily="34" charset="-120"/>
              </a:rPr>
              <a:t>Spectral Entropy</a:t>
            </a:r>
            <a:endParaRPr lang="en-US" sz="1200" dirty="0"/>
          </a:p>
        </p:txBody>
      </p:sp>
      <p:sp>
        <p:nvSpPr>
          <p:cNvPr id="31" name="Text 29"/>
          <p:cNvSpPr/>
          <p:nvPr/>
        </p:nvSpPr>
        <p:spPr>
          <a:xfrm>
            <a:off x="6355080" y="2194560"/>
            <a:ext cx="2221992" cy="292608"/>
          </a:xfrm>
          <a:prstGeom prst="rect">
            <a:avLst/>
          </a:prstGeom>
          <a:noFill/>
          <a:ln/>
        </p:spPr>
        <p:txBody>
          <a:bodyPr wrap="square" lIns="0" tIns="0" rIns="0" bIns="0" rtlCol="0" anchor="ctr"/>
          <a:lstStyle/>
          <a:p>
            <a:pPr marL="0" indent="0">
              <a:buNone/>
            </a:pPr>
            <a:r>
              <a:rPr lang="en-US" sz="1250" b="1" dirty="0">
                <a:solidFill>
                  <a:srgbClr val="028090"/>
                </a:solidFill>
                <a:latin typeface="Consolas" pitchFamily="34" charset="0"/>
                <a:ea typeface="Consolas" pitchFamily="34" charset="-122"/>
                <a:cs typeface="Consolas" pitchFamily="34" charset="-120"/>
              </a:rPr>
              <a:t>H = -ΣP(m)log₂P(m)</a:t>
            </a:r>
            <a:endParaRPr lang="en-US" sz="1250" dirty="0"/>
          </a:p>
        </p:txBody>
      </p:sp>
      <p:sp>
        <p:nvSpPr>
          <p:cNvPr id="32" name="Text 30"/>
          <p:cNvSpPr/>
          <p:nvPr/>
        </p:nvSpPr>
        <p:spPr>
          <a:xfrm>
            <a:off x="6355080" y="2468880"/>
            <a:ext cx="2221992" cy="329184"/>
          </a:xfrm>
          <a:prstGeom prst="rect">
            <a:avLst/>
          </a:prstGeom>
          <a:noFill/>
          <a:ln/>
        </p:spPr>
        <p:txBody>
          <a:bodyPr wrap="square" lIns="0" tIns="0" rIns="0" bIns="0" rtlCol="0" anchor="t"/>
          <a:lstStyle/>
          <a:p>
            <a:pPr marL="0" indent="0">
              <a:lnSpc>
                <a:spcPct val="100000"/>
              </a:lnSpc>
              <a:buNone/>
            </a:pPr>
            <a:r>
              <a:rPr lang="en-US" sz="850" dirty="0">
                <a:solidFill>
                  <a:srgbClr val="5B7280"/>
                </a:solidFill>
                <a:latin typeface="Arial" pitchFamily="34" charset="0"/>
                <a:ea typeface="Arial" pitchFamily="34" charset="-122"/>
                <a:cs typeface="Arial" pitchFamily="34" charset="-120"/>
              </a:rPr>
              <a:t>P(m)=S(m)/ΣS(i), S=|X(m)|²</a:t>
            </a:r>
            <a:endParaRPr lang="en-US" sz="850" dirty="0"/>
          </a:p>
        </p:txBody>
      </p:sp>
      <p:sp>
        <p:nvSpPr>
          <p:cNvPr id="33" name="Shape 31"/>
          <p:cNvSpPr/>
          <p:nvPr/>
        </p:nvSpPr>
        <p:spPr>
          <a:xfrm>
            <a:off x="8860536" y="1920240"/>
            <a:ext cx="2542032" cy="896112"/>
          </a:xfrm>
          <a:prstGeom prst="roundRect">
            <a:avLst>
              <a:gd name="adj" fmla="val 6122"/>
            </a:avLst>
          </a:prstGeom>
          <a:solidFill>
            <a:srgbClr val="FFFFFF"/>
          </a:solidFill>
          <a:ln w="12700">
            <a:solidFill>
              <a:srgbClr val="D5E8E5"/>
            </a:solidFill>
            <a:prstDash val="solid"/>
          </a:ln>
        </p:spPr>
      </p:sp>
      <p:sp>
        <p:nvSpPr>
          <p:cNvPr id="34" name="Shape 32"/>
          <p:cNvSpPr/>
          <p:nvPr/>
        </p:nvSpPr>
        <p:spPr>
          <a:xfrm>
            <a:off x="8860536" y="1920240"/>
            <a:ext cx="54864" cy="896112"/>
          </a:xfrm>
          <a:prstGeom prst="rect">
            <a:avLst/>
          </a:prstGeom>
          <a:solidFill>
            <a:srgbClr val="00A896"/>
          </a:solidFill>
          <a:ln/>
        </p:spPr>
      </p:sp>
      <p:sp>
        <p:nvSpPr>
          <p:cNvPr id="35" name="Text 33"/>
          <p:cNvSpPr/>
          <p:nvPr/>
        </p:nvSpPr>
        <p:spPr>
          <a:xfrm>
            <a:off x="9043416" y="1975104"/>
            <a:ext cx="2221992" cy="237744"/>
          </a:xfrm>
          <a:prstGeom prst="rect">
            <a:avLst/>
          </a:prstGeom>
          <a:noFill/>
          <a:ln/>
        </p:spPr>
        <p:txBody>
          <a:bodyPr wrap="square" lIns="0" tIns="0" rIns="0" bIns="0" rtlCol="0" anchor="ctr"/>
          <a:lstStyle/>
          <a:p>
            <a:pPr marL="0" indent="0">
              <a:buNone/>
            </a:pPr>
            <a:r>
              <a:rPr lang="en-US" sz="1200" b="1" dirty="0">
                <a:solidFill>
                  <a:srgbClr val="0B2A4A"/>
                </a:solidFill>
                <a:latin typeface="Arial" pitchFamily="34" charset="0"/>
                <a:ea typeface="Arial" pitchFamily="34" charset="-122"/>
                <a:cs typeface="Arial" pitchFamily="34" charset="-120"/>
              </a:rPr>
              <a:t>MNF</a:t>
            </a:r>
            <a:endParaRPr lang="en-US" sz="1200" dirty="0"/>
          </a:p>
        </p:txBody>
      </p:sp>
      <p:sp>
        <p:nvSpPr>
          <p:cNvPr id="36" name="Text 34"/>
          <p:cNvSpPr/>
          <p:nvPr/>
        </p:nvSpPr>
        <p:spPr>
          <a:xfrm>
            <a:off x="9043416" y="2194560"/>
            <a:ext cx="2221992" cy="292608"/>
          </a:xfrm>
          <a:prstGeom prst="rect">
            <a:avLst/>
          </a:prstGeom>
          <a:noFill/>
          <a:ln/>
        </p:spPr>
        <p:txBody>
          <a:bodyPr wrap="square" lIns="0" tIns="0" rIns="0" bIns="0" rtlCol="0" anchor="ctr"/>
          <a:lstStyle/>
          <a:p>
            <a:pPr marL="0" indent="0">
              <a:buNone/>
            </a:pPr>
            <a:r>
              <a:rPr lang="en-US" sz="1250" b="1" dirty="0">
                <a:solidFill>
                  <a:srgbClr val="028090"/>
                </a:solidFill>
                <a:latin typeface="Consolas" pitchFamily="34" charset="0"/>
                <a:ea typeface="Consolas" pitchFamily="34" charset="-122"/>
                <a:cs typeface="Consolas" pitchFamily="34" charset="-120"/>
              </a:rPr>
              <a:t>Σfⱼpⱼ / Σpⱼ</a:t>
            </a:r>
            <a:endParaRPr lang="en-US" sz="1250" dirty="0"/>
          </a:p>
        </p:txBody>
      </p:sp>
      <p:sp>
        <p:nvSpPr>
          <p:cNvPr id="37" name="Text 35"/>
          <p:cNvSpPr/>
          <p:nvPr/>
        </p:nvSpPr>
        <p:spPr>
          <a:xfrm>
            <a:off x="9043416" y="2468880"/>
            <a:ext cx="2221992" cy="329184"/>
          </a:xfrm>
          <a:prstGeom prst="rect">
            <a:avLst/>
          </a:prstGeom>
          <a:noFill/>
          <a:ln/>
        </p:spPr>
        <p:txBody>
          <a:bodyPr wrap="square" lIns="0" tIns="0" rIns="0" bIns="0" rtlCol="0" anchor="t"/>
          <a:lstStyle/>
          <a:p>
            <a:pPr marL="0" indent="0">
              <a:lnSpc>
                <a:spcPct val="100000"/>
              </a:lnSpc>
              <a:buNone/>
            </a:pPr>
            <a:r>
              <a:rPr lang="en-US" sz="850" dirty="0">
                <a:solidFill>
                  <a:srgbClr val="5B7280"/>
                </a:solidFill>
                <a:latin typeface="Arial" pitchFamily="34" charset="0"/>
                <a:ea typeface="Arial" pitchFamily="34" charset="-122"/>
                <a:cs typeface="Arial" pitchFamily="34" charset="-120"/>
              </a:rPr>
              <a:t>Trung bình trọng số phổ</a:t>
            </a:r>
            <a:endParaRPr lang="en-US" sz="850" dirty="0"/>
          </a:p>
        </p:txBody>
      </p:sp>
      <p:sp>
        <p:nvSpPr>
          <p:cNvPr id="38" name="Shape 36"/>
          <p:cNvSpPr/>
          <p:nvPr/>
        </p:nvSpPr>
        <p:spPr>
          <a:xfrm>
            <a:off x="6172200" y="2944368"/>
            <a:ext cx="5230368" cy="896112"/>
          </a:xfrm>
          <a:prstGeom prst="roundRect">
            <a:avLst>
              <a:gd name="adj" fmla="val 6122"/>
            </a:avLst>
          </a:prstGeom>
          <a:solidFill>
            <a:srgbClr val="FFFFFF"/>
          </a:solidFill>
          <a:ln w="12700">
            <a:solidFill>
              <a:srgbClr val="D5E8E5"/>
            </a:solidFill>
            <a:prstDash val="solid"/>
          </a:ln>
        </p:spPr>
      </p:sp>
      <p:sp>
        <p:nvSpPr>
          <p:cNvPr id="39" name="Shape 37"/>
          <p:cNvSpPr/>
          <p:nvPr/>
        </p:nvSpPr>
        <p:spPr>
          <a:xfrm>
            <a:off x="6172200" y="2944368"/>
            <a:ext cx="54864" cy="896112"/>
          </a:xfrm>
          <a:prstGeom prst="rect">
            <a:avLst/>
          </a:prstGeom>
          <a:solidFill>
            <a:srgbClr val="00A896"/>
          </a:solidFill>
          <a:ln/>
        </p:spPr>
      </p:sp>
      <p:sp>
        <p:nvSpPr>
          <p:cNvPr id="40" name="Text 38"/>
          <p:cNvSpPr/>
          <p:nvPr/>
        </p:nvSpPr>
        <p:spPr>
          <a:xfrm>
            <a:off x="6355080" y="2999232"/>
            <a:ext cx="5029200" cy="237744"/>
          </a:xfrm>
          <a:prstGeom prst="rect">
            <a:avLst/>
          </a:prstGeom>
          <a:noFill/>
          <a:ln/>
        </p:spPr>
        <p:txBody>
          <a:bodyPr wrap="square" lIns="0" tIns="0" rIns="0" bIns="0" rtlCol="0" anchor="ctr"/>
          <a:lstStyle/>
          <a:p>
            <a:pPr marL="0" indent="0">
              <a:buNone/>
            </a:pPr>
            <a:r>
              <a:rPr lang="en-US" sz="1200" b="1" dirty="0">
                <a:solidFill>
                  <a:srgbClr val="0B2A4A"/>
                </a:solidFill>
                <a:latin typeface="Arial" pitchFamily="34" charset="0"/>
                <a:ea typeface="Arial" pitchFamily="34" charset="-122"/>
                <a:cs typeface="Arial" pitchFamily="34" charset="-120"/>
              </a:rPr>
              <a:t>MDF</a:t>
            </a:r>
            <a:endParaRPr lang="en-US" sz="1200" dirty="0"/>
          </a:p>
        </p:txBody>
      </p:sp>
      <p:sp>
        <p:nvSpPr>
          <p:cNvPr id="41" name="Text 39"/>
          <p:cNvSpPr/>
          <p:nvPr/>
        </p:nvSpPr>
        <p:spPr>
          <a:xfrm>
            <a:off x="6355080" y="3218688"/>
            <a:ext cx="5029200" cy="292608"/>
          </a:xfrm>
          <a:prstGeom prst="rect">
            <a:avLst/>
          </a:prstGeom>
          <a:noFill/>
          <a:ln/>
        </p:spPr>
        <p:txBody>
          <a:bodyPr wrap="square" lIns="0" tIns="0" rIns="0" bIns="0" rtlCol="0" anchor="ctr"/>
          <a:lstStyle/>
          <a:p>
            <a:pPr marL="0" indent="0">
              <a:buNone/>
            </a:pPr>
            <a:r>
              <a:rPr lang="en-US" sz="1250" b="1" dirty="0">
                <a:solidFill>
                  <a:srgbClr val="00A896"/>
                </a:solidFill>
                <a:latin typeface="Consolas" pitchFamily="34" charset="0"/>
                <a:ea typeface="Consolas" pitchFamily="34" charset="-122"/>
                <a:cs typeface="Consolas" pitchFamily="34" charset="-120"/>
              </a:rPr>
              <a:t>Σ(j=1→MDF) Pj = ½ Σ(j=1→M) Pj</a:t>
            </a:r>
            <a:endParaRPr lang="en-US" sz="1250" dirty="0"/>
          </a:p>
        </p:txBody>
      </p:sp>
      <p:sp>
        <p:nvSpPr>
          <p:cNvPr id="42" name="Text 40"/>
          <p:cNvSpPr/>
          <p:nvPr/>
        </p:nvSpPr>
        <p:spPr>
          <a:xfrm>
            <a:off x="6355080" y="3493008"/>
            <a:ext cx="5029200" cy="274320"/>
          </a:xfrm>
          <a:prstGeom prst="rect">
            <a:avLst/>
          </a:prstGeom>
          <a:noFill/>
          <a:ln/>
        </p:spPr>
        <p:txBody>
          <a:bodyPr wrap="square" lIns="0" tIns="0" rIns="0" bIns="0" rtlCol="0" anchor="ctr"/>
          <a:lstStyle/>
          <a:p>
            <a:pPr marL="0" indent="0">
              <a:buNone/>
            </a:pPr>
            <a:r>
              <a:rPr lang="en-US" sz="850" dirty="0">
                <a:solidFill>
                  <a:srgbClr val="5B7280"/>
                </a:solidFill>
                <a:latin typeface="Arial" pitchFamily="34" charset="0"/>
                <a:ea typeface="Arial" pitchFamily="34" charset="-122"/>
                <a:cs typeface="Arial" pitchFamily="34" charset="-120"/>
              </a:rPr>
              <a:t>Tần số chia đôi diện tích phổ công suất</a:t>
            </a:r>
            <a:endParaRPr lang="en-US" sz="850" dirty="0"/>
          </a:p>
        </p:txBody>
      </p:sp>
      <p:sp>
        <p:nvSpPr>
          <p:cNvPr id="43" name="Shape 41"/>
          <p:cNvSpPr/>
          <p:nvPr/>
        </p:nvSpPr>
        <p:spPr>
          <a:xfrm>
            <a:off x="6172200" y="3968496"/>
            <a:ext cx="5230368" cy="502920"/>
          </a:xfrm>
          <a:prstGeom prst="roundRect">
            <a:avLst>
              <a:gd name="adj" fmla="val 10909"/>
            </a:avLst>
          </a:prstGeom>
          <a:solidFill>
            <a:srgbClr val="E4F5F1"/>
          </a:solidFill>
          <a:ln w="12700">
            <a:solidFill>
              <a:srgbClr val="D5E8E5"/>
            </a:solidFill>
            <a:prstDash val="solid"/>
          </a:ln>
        </p:spPr>
      </p:sp>
      <p:sp>
        <p:nvSpPr>
          <p:cNvPr id="44" name="Text 42"/>
          <p:cNvSpPr/>
          <p:nvPr/>
        </p:nvSpPr>
        <p:spPr>
          <a:xfrm>
            <a:off x="6355080" y="3968496"/>
            <a:ext cx="4901184" cy="502920"/>
          </a:xfrm>
          <a:prstGeom prst="rect">
            <a:avLst/>
          </a:prstGeom>
          <a:noFill/>
          <a:ln/>
        </p:spPr>
        <p:txBody>
          <a:bodyPr wrap="square" lIns="0" tIns="0" rIns="0" bIns="0" rtlCol="0" anchor="ctr"/>
          <a:lstStyle/>
          <a:p>
            <a:pPr marL="0" indent="0">
              <a:buNone/>
            </a:pPr>
            <a:r>
              <a:rPr lang="en-US" sz="1050" dirty="0">
                <a:solidFill>
                  <a:srgbClr val="12303F"/>
                </a:solidFill>
                <a:latin typeface="Arial" pitchFamily="34" charset="0"/>
                <a:ea typeface="Arial" pitchFamily="34" charset="-122"/>
                <a:cs typeface="Arial" pitchFamily="34" charset="-120"/>
              </a:rPr>
              <a:t>Spectral Min · Max · Std — thống kê trên phổ công suất S(m)</a:t>
            </a:r>
            <a:endParaRPr lang="en-US" sz="1050" dirty="0"/>
          </a:p>
        </p:txBody>
      </p:sp>
      <p:sp>
        <p:nvSpPr>
          <p:cNvPr id="45" name="Shape 43"/>
          <p:cNvSpPr/>
          <p:nvPr/>
        </p:nvSpPr>
        <p:spPr>
          <a:xfrm>
            <a:off x="548640" y="5623560"/>
            <a:ext cx="11109960" cy="594360"/>
          </a:xfrm>
          <a:prstGeom prst="roundRect">
            <a:avLst>
              <a:gd name="adj" fmla="val 12308"/>
            </a:avLst>
          </a:prstGeom>
          <a:solidFill>
            <a:srgbClr val="0B2A4A"/>
          </a:solidFill>
          <a:ln/>
        </p:spPr>
      </p:sp>
      <p:sp>
        <p:nvSpPr>
          <p:cNvPr id="46" name="Text 44"/>
          <p:cNvSpPr/>
          <p:nvPr/>
        </p:nvSpPr>
        <p:spPr>
          <a:xfrm>
            <a:off x="822960" y="5623560"/>
            <a:ext cx="10515600" cy="594360"/>
          </a:xfrm>
          <a:prstGeom prst="rect">
            <a:avLst/>
          </a:prstGeom>
          <a:noFill/>
          <a:ln/>
        </p:spPr>
        <p:txBody>
          <a:bodyPr wrap="square" lIns="0" tIns="0" rIns="0" bIns="0" rtlCol="0" anchor="ctr"/>
          <a:lstStyle/>
          <a:p>
            <a:pPr marL="0" indent="0">
              <a:buNone/>
            </a:pPr>
            <a:r>
              <a:rPr lang="en-US" sz="1050" i="1" dirty="0">
                <a:solidFill>
                  <a:srgbClr val="C7DDDA"/>
                </a:solidFill>
                <a:latin typeface="Arial" pitchFamily="34" charset="0"/>
                <a:ea typeface="Arial" pitchFamily="34" charset="-122"/>
                <a:cs typeface="Arial" pitchFamily="34" charset="-120"/>
              </a:rPr>
              <a:t>Lưu ý: bản in gốc hoán đổi nhãn công thức (7)-(8) — nội dung toán học ở trên đã đúng bản chất MNF/MDF.</a:t>
            </a:r>
            <a:endParaRPr lang="en-US" sz="1050" dirty="0"/>
          </a:p>
        </p:txBody>
      </p:sp>
      <p:sp>
        <p:nvSpPr>
          <p:cNvPr id="47" name="Text 45"/>
          <p:cNvSpPr/>
          <p:nvPr/>
        </p:nvSpPr>
        <p:spPr>
          <a:xfrm>
            <a:off x="502920" y="6473952"/>
            <a:ext cx="5486400" cy="274320"/>
          </a:xfrm>
          <a:prstGeom prst="rect">
            <a:avLst/>
          </a:prstGeom>
          <a:noFill/>
          <a:ln/>
        </p:spPr>
        <p:txBody>
          <a:bodyPr wrap="square" lIns="0" tIns="0" rIns="0" bIns="0" rtlCol="0" anchor="ctr"/>
          <a:lstStyle/>
          <a:p>
            <a:pPr marL="0" indent="0">
              <a:buNone/>
            </a:pPr>
            <a:r>
              <a:rPr lang="en-US" sz="900" dirty="0">
                <a:solidFill>
                  <a:srgbClr val="5B7280"/>
                </a:solidFill>
                <a:latin typeface="Arial" pitchFamily="34" charset="0"/>
                <a:ea typeface="Arial" pitchFamily="34" charset="-122"/>
                <a:cs typeface="Arial" pitchFamily="34" charset="-120"/>
              </a:rPr>
              <a:t>sEMG Fatigue Detection · Springer 2025</a:t>
            </a:r>
            <a:endParaRPr lang="en-US" sz="900" dirty="0"/>
          </a:p>
        </p:txBody>
      </p:sp>
      <p:sp>
        <p:nvSpPr>
          <p:cNvPr id="48" name="Text 46"/>
          <p:cNvSpPr/>
          <p:nvPr/>
        </p:nvSpPr>
        <p:spPr>
          <a:xfrm>
            <a:off x="11277295" y="6473952"/>
            <a:ext cx="411480" cy="274320"/>
          </a:xfrm>
          <a:prstGeom prst="rect">
            <a:avLst/>
          </a:prstGeom>
          <a:noFill/>
          <a:ln/>
        </p:spPr>
        <p:txBody>
          <a:bodyPr wrap="square" lIns="0" tIns="0" rIns="0" bIns="0" rtlCol="0" anchor="ctr"/>
          <a:lstStyle/>
          <a:p>
            <a:pPr marL="0" indent="0" algn="r">
              <a:buNone/>
            </a:pPr>
            <a:r>
              <a:rPr lang="en-US" sz="900" dirty="0">
                <a:solidFill>
                  <a:srgbClr val="5B7280"/>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marL="0" indent="0">
              <a:buNone/>
            </a:pPr>
            <a:r>
              <a:rPr lang="en-US" sz="1250" b="1" kern="0" spc="200" dirty="0">
                <a:solidFill>
                  <a:srgbClr val="028090"/>
                </a:solidFill>
                <a:latin typeface="Arial" pitchFamily="34" charset="0"/>
                <a:ea typeface="Arial" pitchFamily="34" charset="-122"/>
                <a:cs typeface="Arial" pitchFamily="34" charset="-120"/>
              </a:rPr>
              <a:t>03 · TỔNG HỢP THUẬT TOÁN</a:t>
            </a:r>
            <a:endParaRPr lang="en-US" sz="1250" dirty="0"/>
          </a:p>
        </p:txBody>
      </p:sp>
      <p:sp>
        <p:nvSpPr>
          <p:cNvPr id="3" name="Text 1"/>
          <p:cNvSpPr/>
          <p:nvPr/>
        </p:nvSpPr>
        <p:spPr>
          <a:xfrm>
            <a:off x="548640" y="822960"/>
            <a:ext cx="10972800" cy="731520"/>
          </a:xfrm>
          <a:prstGeom prst="rect">
            <a:avLst/>
          </a:prstGeom>
          <a:noFill/>
          <a:ln/>
        </p:spPr>
        <p:txBody>
          <a:bodyPr wrap="square" lIns="0" tIns="0" rIns="0" bIns="0" rtlCol="0" anchor="ctr"/>
          <a:lstStyle/>
          <a:p>
            <a:pPr marL="0" indent="0">
              <a:buNone/>
            </a:pPr>
            <a:r>
              <a:rPr lang="en-US" sz="2900" b="1" dirty="0">
                <a:solidFill>
                  <a:srgbClr val="0B2A4A"/>
                </a:solidFill>
                <a:latin typeface="Cambria" pitchFamily="34" charset="0"/>
                <a:ea typeface="Cambria" pitchFamily="34" charset="-122"/>
                <a:cs typeface="Cambria" pitchFamily="34" charset="-120"/>
              </a:rPr>
              <a:t>6 cấu hình thuật toán — 2 bài báo</a:t>
            </a:r>
            <a:endParaRPr lang="en-US" sz="2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109960" cy="3291840"/>
        </p:xfrm>
        <a:graphic>
          <a:graphicData uri="http://schemas.openxmlformats.org/drawingml/2006/table">
            <a:tbl>
              <a:tblPr/>
              <a:tblGrid>
                <a:gridCol w="45720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gridCol w="4206240">
                  <a:extLst>
                    <a:ext uri="{9D8B030D-6E8A-4147-A177-3AD203B41FA5}">
                      <a16:colId xmlns:a16="http://schemas.microsoft.com/office/drawing/2014/main" val="20004"/>
                    </a:ext>
                  </a:extLst>
                </a:gridCol>
              </a:tblGrid>
              <a:tr h="411480">
                <a:tc>
                  <a:txBody>
                    <a:bodyPr/>
                    <a:lstStyle/>
                    <a:p>
                      <a:pPr marL="0" indent="0" algn="ctr">
                        <a:buNone/>
                      </a:pPr>
                      <a:r>
                        <a:rPr lang="en-US" sz="1100" b="1" dirty="0">
                          <a:solidFill>
                            <a:srgbClr val="FFFFFF"/>
                          </a:solidFill>
                        </a:rPr>
                        <a:t>#</a:t>
                      </a:r>
                      <a:endParaRPr lang="en-US" sz="11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0B2A4A"/>
                    </a:solidFill>
                  </a:tcPr>
                </a:tc>
                <a:tc>
                  <a:txBody>
                    <a:bodyPr/>
                    <a:lstStyle/>
                    <a:p>
                      <a:pPr marL="0" indent="0">
                        <a:buNone/>
                      </a:pPr>
                      <a:r>
                        <a:rPr lang="en-US" sz="1100" b="1" dirty="0">
                          <a:solidFill>
                            <a:srgbClr val="FFFFFF"/>
                          </a:solidFill>
                        </a:rPr>
                        <a:t>Thuật toán</a:t>
                      </a:r>
                      <a:endParaRPr lang="en-US" sz="11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0B2A4A"/>
                    </a:solidFill>
                  </a:tcPr>
                </a:tc>
                <a:tc>
                  <a:txBody>
                    <a:bodyPr/>
                    <a:lstStyle/>
                    <a:p>
                      <a:pPr marL="0" indent="0">
                        <a:buNone/>
                      </a:pPr>
                      <a:r>
                        <a:rPr lang="en-US" sz="1100" b="1" dirty="0">
                          <a:solidFill>
                            <a:srgbClr val="FFFFFF"/>
                          </a:solidFill>
                        </a:rPr>
                        <a:t>Bài báo</a:t>
                      </a:r>
                      <a:endParaRPr lang="en-US" sz="11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0B2A4A"/>
                    </a:solidFill>
                  </a:tcPr>
                </a:tc>
                <a:tc>
                  <a:txBody>
                    <a:bodyPr/>
                    <a:lstStyle/>
                    <a:p>
                      <a:pPr marL="0" indent="0">
                        <a:buNone/>
                      </a:pPr>
                      <a:r>
                        <a:rPr lang="en-US" sz="1100" b="1" dirty="0">
                          <a:solidFill>
                            <a:srgbClr val="FFFFFF"/>
                          </a:solidFill>
                        </a:rPr>
                        <a:t>Đặc trưng</a:t>
                      </a:r>
                      <a:endParaRPr lang="en-US" sz="11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0B2A4A"/>
                    </a:solidFill>
                  </a:tcPr>
                </a:tc>
                <a:tc>
                  <a:txBody>
                    <a:bodyPr/>
                    <a:lstStyle/>
                    <a:p>
                      <a:pPr marL="0" indent="0">
                        <a:buNone/>
                      </a:pPr>
                      <a:r>
                        <a:rPr lang="en-US" sz="1100" b="1" dirty="0">
                          <a:solidFill>
                            <a:srgbClr val="FFFFFF"/>
                          </a:solidFill>
                        </a:rPr>
                        <a:t>Kết quả chính</a:t>
                      </a:r>
                      <a:endParaRPr lang="en-US" sz="11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530352">
                <a:tc>
                  <a:txBody>
                    <a:bodyPr/>
                    <a:lstStyle/>
                    <a:p>
                      <a:pPr marL="0" indent="0" algn="ctr">
                        <a:buNone/>
                      </a:pPr>
                      <a:r>
                        <a:rPr lang="en-US" sz="1100" dirty="0">
                          <a:solidFill>
                            <a:srgbClr val="12303F"/>
                          </a:solidFill>
                        </a:rPr>
                        <a:t>1</a:t>
                      </a:r>
                      <a:endParaRPr lang="en-US" sz="11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100" b="1" dirty="0">
                          <a:solidFill>
                            <a:srgbClr val="0B2A4A"/>
                          </a:solidFill>
                        </a:rPr>
                        <a:t>SVM (RBF)</a:t>
                      </a:r>
                      <a:endParaRPr lang="en-US" sz="11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050" dirty="0">
                          <a:solidFill>
                            <a:srgbClr val="5B7280"/>
                          </a:solidFill>
                        </a:rPr>
                        <a:t>BME 2025</a:t>
                      </a:r>
                      <a:endParaRPr lang="en-US" sz="105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000" dirty="0">
                          <a:solidFill>
                            <a:srgbClr val="12303F"/>
                          </a:solidFill>
                        </a:rPr>
                        <a:t>14 đặc trưng (8 TG+6 TS)</a:t>
                      </a:r>
                      <a:endParaRPr lang="en-US" sz="10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000" dirty="0">
                          <a:solidFill>
                            <a:srgbClr val="12303F"/>
                          </a:solidFill>
                        </a:rPr>
                        <a:t>F1=0,7469 · Acc=0,7865</a:t>
                      </a:r>
                      <a:endParaRPr lang="en-US" sz="10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lgn="ctr">
                        <a:buNone/>
                      </a:pPr>
                      <a:r>
                        <a:rPr lang="en-US" sz="1100" dirty="0">
                          <a:solidFill>
                            <a:srgbClr val="12303F"/>
                          </a:solidFill>
                        </a:rPr>
                        <a:t>2</a:t>
                      </a:r>
                      <a:endParaRPr lang="en-US" sz="11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100" b="1" dirty="0">
                          <a:solidFill>
                            <a:srgbClr val="0B2A4A"/>
                          </a:solidFill>
                        </a:rPr>
                        <a:t>SVM (Linear)</a:t>
                      </a:r>
                      <a:endParaRPr lang="en-US" sz="11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050" dirty="0">
                          <a:solidFill>
                            <a:srgbClr val="5B7280"/>
                          </a:solidFill>
                        </a:rPr>
                        <a:t>BME 2025</a:t>
                      </a:r>
                      <a:endParaRPr lang="en-US" sz="105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000" dirty="0">
                          <a:solidFill>
                            <a:srgbClr val="12303F"/>
                          </a:solidFill>
                        </a:rPr>
                        <a:t>14 đặc trưng</a:t>
                      </a:r>
                      <a:endParaRPr lang="en-US" sz="10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000" dirty="0">
                          <a:solidFill>
                            <a:srgbClr val="12303F"/>
                          </a:solidFill>
                        </a:rPr>
                        <a:t>F1=0,8949 · Acc=0,8880</a:t>
                      </a:r>
                      <a:endParaRPr lang="en-US" sz="10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0352">
                <a:tc>
                  <a:txBody>
                    <a:bodyPr/>
                    <a:lstStyle/>
                    <a:p>
                      <a:pPr marL="0" indent="0" algn="ctr">
                        <a:buNone/>
                      </a:pPr>
                      <a:r>
                        <a:rPr lang="en-US" sz="1100" dirty="0">
                          <a:solidFill>
                            <a:srgbClr val="12303F"/>
                          </a:solidFill>
                        </a:rPr>
                        <a:t>3</a:t>
                      </a:r>
                      <a:endParaRPr lang="en-US" sz="11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100" b="1" dirty="0">
                          <a:solidFill>
                            <a:srgbClr val="0B2A4A"/>
                          </a:solidFill>
                        </a:rPr>
                        <a:t>LDA</a:t>
                      </a:r>
                      <a:endParaRPr lang="en-US" sz="11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050" dirty="0">
                          <a:solidFill>
                            <a:srgbClr val="5B7280"/>
                          </a:solidFill>
                        </a:rPr>
                        <a:t>BME 2025</a:t>
                      </a:r>
                      <a:endParaRPr lang="en-US" sz="105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000" dirty="0">
                          <a:solidFill>
                            <a:srgbClr val="12303F"/>
                          </a:solidFill>
                        </a:rPr>
                        <a:t>14 đặc trưng</a:t>
                      </a:r>
                      <a:endParaRPr lang="en-US" sz="10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000" dirty="0">
                          <a:solidFill>
                            <a:srgbClr val="12303F"/>
                          </a:solidFill>
                        </a:rPr>
                        <a:t>F1=0,9091 · Acc=0,9037</a:t>
                      </a:r>
                      <a:endParaRPr lang="en-US" sz="10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lgn="ctr">
                        <a:buNone/>
                      </a:pPr>
                      <a:r>
                        <a:rPr lang="en-US" sz="1100" b="1" dirty="0">
                          <a:solidFill>
                            <a:srgbClr val="028090"/>
                          </a:solidFill>
                        </a:rPr>
                        <a:t>4</a:t>
                      </a:r>
                      <a:endParaRPr lang="en-US" sz="11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100" b="1" dirty="0">
                          <a:solidFill>
                            <a:srgbClr val="028090"/>
                          </a:solidFill>
                        </a:rPr>
                        <a:t>KNN</a:t>
                      </a:r>
                      <a:endParaRPr lang="en-US" sz="11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050" dirty="0">
                          <a:solidFill>
                            <a:srgbClr val="5B7280"/>
                          </a:solidFill>
                        </a:rPr>
                        <a:t>BME 2025</a:t>
                      </a:r>
                      <a:endParaRPr lang="en-US" sz="105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000" dirty="0">
                          <a:solidFill>
                            <a:srgbClr val="12303F"/>
                          </a:solidFill>
                        </a:rPr>
                        <a:t>14 đặc trưng</a:t>
                      </a:r>
                      <a:endParaRPr lang="en-US" sz="10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000" b="1" dirty="0">
                          <a:solidFill>
                            <a:srgbClr val="028090"/>
                          </a:solidFill>
                        </a:rPr>
                        <a:t>F1=0,9541 · Acc=0,9531 — tốt nhất</a:t>
                      </a:r>
                      <a:endParaRPr lang="en-US" sz="10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0352">
                <a:tc>
                  <a:txBody>
                    <a:bodyPr/>
                    <a:lstStyle/>
                    <a:p>
                      <a:pPr marL="0" indent="0" algn="ctr">
                        <a:buNone/>
                      </a:pPr>
                      <a:r>
                        <a:rPr lang="en-US" sz="1100" dirty="0">
                          <a:solidFill>
                            <a:srgbClr val="12303F"/>
                          </a:solidFill>
                        </a:rPr>
                        <a:t>5</a:t>
                      </a:r>
                      <a:endParaRPr lang="en-US" sz="11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100" b="1" dirty="0">
                          <a:solidFill>
                            <a:srgbClr val="0B2A4A"/>
                          </a:solidFill>
                        </a:rPr>
                        <a:t>SVM (Gaussian)</a:t>
                      </a:r>
                      <a:endParaRPr lang="en-US" sz="11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050" dirty="0">
                          <a:solidFill>
                            <a:srgbClr val="5B7280"/>
                          </a:solidFill>
                        </a:rPr>
                        <a:t>ICACE 2019</a:t>
                      </a:r>
                      <a:endParaRPr lang="en-US" sz="105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000" dirty="0">
                          <a:solidFill>
                            <a:srgbClr val="12303F"/>
                          </a:solidFill>
                        </a:rPr>
                        <a:t>Chỉ RMS + MAV, 64 kênh</a:t>
                      </a:r>
                      <a:endParaRPr lang="en-US" sz="10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000" dirty="0">
                          <a:solidFill>
                            <a:srgbClr val="12303F"/>
                          </a:solidFill>
                        </a:rPr>
                        <a:t>macro F1=0,8068 · AUC=0,9026</a:t>
                      </a:r>
                      <a:endParaRPr lang="en-US" sz="10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0352">
                <a:tc>
                  <a:txBody>
                    <a:bodyPr/>
                    <a:lstStyle/>
                    <a:p>
                      <a:pPr marL="0" indent="0" algn="ctr">
                        <a:buNone/>
                      </a:pPr>
                      <a:r>
                        <a:rPr lang="en-US" sz="1100" dirty="0">
                          <a:solidFill>
                            <a:srgbClr val="12303F"/>
                          </a:solidFill>
                        </a:rPr>
                        <a:t>6</a:t>
                      </a:r>
                      <a:endParaRPr lang="en-US" sz="11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100" b="1" dirty="0">
                          <a:solidFill>
                            <a:srgbClr val="0B2A4A"/>
                          </a:solidFill>
                        </a:rPr>
                        <a:t>SVM (Linear)</a:t>
                      </a:r>
                      <a:endParaRPr lang="en-US" sz="11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050" dirty="0">
                          <a:solidFill>
                            <a:srgbClr val="5B7280"/>
                          </a:solidFill>
                        </a:rPr>
                        <a:t>ICACE 2019</a:t>
                      </a:r>
                      <a:endParaRPr lang="en-US" sz="105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000" dirty="0">
                          <a:solidFill>
                            <a:srgbClr val="12303F"/>
                          </a:solidFill>
                        </a:rPr>
                        <a:t>Chỉ RMS + MAV</a:t>
                      </a:r>
                      <a:endParaRPr lang="en-US" sz="10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000" i="1" dirty="0">
                          <a:solidFill>
                            <a:srgbClr val="12303F"/>
                          </a:solidFill>
                        </a:rPr>
                        <a:t>Không có số riêng — chỉ nhắc tương đương Gaussian qua ref [16]</a:t>
                      </a:r>
                      <a:endParaRPr lang="en-US" sz="10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2"/>
          <p:cNvSpPr/>
          <p:nvPr/>
        </p:nvSpPr>
        <p:spPr>
          <a:xfrm>
            <a:off x="548640" y="5166360"/>
            <a:ext cx="11109960" cy="1005840"/>
          </a:xfrm>
          <a:prstGeom prst="roundRect">
            <a:avLst>
              <a:gd name="adj" fmla="val 8182"/>
            </a:avLst>
          </a:prstGeom>
          <a:solidFill>
            <a:srgbClr val="F1FAF9"/>
          </a:solidFill>
          <a:ln w="12700">
            <a:solidFill>
              <a:srgbClr val="D5E8E5"/>
            </a:solidFill>
            <a:prstDash val="solid"/>
          </a:ln>
        </p:spPr>
      </p:sp>
      <p:sp>
        <p:nvSpPr>
          <p:cNvPr id="6" name="Text 3"/>
          <p:cNvSpPr/>
          <p:nvPr/>
        </p:nvSpPr>
        <p:spPr>
          <a:xfrm>
            <a:off x="822960" y="5166360"/>
            <a:ext cx="10561320" cy="1005840"/>
          </a:xfrm>
          <a:prstGeom prst="rect">
            <a:avLst/>
          </a:prstGeom>
          <a:noFill/>
          <a:ln/>
        </p:spPr>
        <p:txBody>
          <a:bodyPr wrap="square" lIns="0" tIns="0" rIns="0" bIns="0" rtlCol="0" anchor="ctr"/>
          <a:lstStyle/>
          <a:p>
            <a:pPr marL="0" indent="0">
              <a:lnSpc>
                <a:spcPct val="115000"/>
              </a:lnSpc>
              <a:buNone/>
            </a:pPr>
            <a:r>
              <a:rPr lang="en-US" sz="1150" b="1" dirty="0">
                <a:solidFill>
                  <a:srgbClr val="0B2A4A"/>
                </a:solidFill>
                <a:latin typeface="Arial" pitchFamily="34" charset="0"/>
                <a:ea typeface="Arial" pitchFamily="34" charset="-122"/>
                <a:cs typeface="Arial" pitchFamily="34" charset="-120"/>
              </a:rPr>
              <a:t>Lưu ý khi so sánh: </a:t>
            </a:r>
            <a:r>
              <a:rPr lang="en-US" sz="1100" dirty="0">
                <a:solidFill>
                  <a:srgbClr val="12303F"/>
                </a:solidFill>
                <a:latin typeface="Arial" pitchFamily="34" charset="0"/>
                <a:ea typeface="Arial" pitchFamily="34" charset="-122"/>
                <a:cs typeface="Arial" pitchFamily="34" charset="-120"/>
              </a:rPr>
              <a:t>hai bài dùng bộ đặc trưng khác nhau (14 vs. chỉ 2), cách chia dữ liệu khác nhau (LOSO vs. hold-out 80/20), và số kênh đo khác nhau (64 kênh ở ICACE 2019). ICACE 2019 là công trình tiền nhiệm 2019; BME 2025 là bản mở rộng đầy đủ với kết quả tốt nhất.</a:t>
            </a:r>
            <a:endParaRPr lang="en-US" sz="1150" dirty="0"/>
          </a:p>
        </p:txBody>
      </p:sp>
      <p:sp>
        <p:nvSpPr>
          <p:cNvPr id="7" name="Text 4"/>
          <p:cNvSpPr/>
          <p:nvPr/>
        </p:nvSpPr>
        <p:spPr>
          <a:xfrm>
            <a:off x="502920" y="6473952"/>
            <a:ext cx="5486400" cy="274320"/>
          </a:xfrm>
          <a:prstGeom prst="rect">
            <a:avLst/>
          </a:prstGeom>
          <a:noFill/>
          <a:ln/>
        </p:spPr>
        <p:txBody>
          <a:bodyPr wrap="square" lIns="0" tIns="0" rIns="0" bIns="0" rtlCol="0" anchor="ctr"/>
          <a:lstStyle/>
          <a:p>
            <a:pPr marL="0" indent="0">
              <a:buNone/>
            </a:pPr>
            <a:r>
              <a:rPr lang="en-US" sz="900" dirty="0">
                <a:solidFill>
                  <a:srgbClr val="5B7280"/>
                </a:solidFill>
                <a:latin typeface="Arial" pitchFamily="34" charset="0"/>
                <a:ea typeface="Arial" pitchFamily="34" charset="-122"/>
                <a:cs typeface="Arial" pitchFamily="34" charset="-120"/>
              </a:rPr>
              <a:t>sEMG Fatigue Detection · Springer 2025</a:t>
            </a:r>
            <a:endParaRPr lang="en-US" sz="900" dirty="0"/>
          </a:p>
        </p:txBody>
      </p:sp>
      <p:sp>
        <p:nvSpPr>
          <p:cNvPr id="8" name="Text 5"/>
          <p:cNvSpPr/>
          <p:nvPr/>
        </p:nvSpPr>
        <p:spPr>
          <a:xfrm>
            <a:off x="11277295" y="6473952"/>
            <a:ext cx="411480" cy="274320"/>
          </a:xfrm>
          <a:prstGeom prst="rect">
            <a:avLst/>
          </a:prstGeom>
          <a:noFill/>
          <a:ln/>
        </p:spPr>
        <p:txBody>
          <a:bodyPr wrap="square" lIns="0" tIns="0" rIns="0" bIns="0" rtlCol="0" anchor="ctr"/>
          <a:lstStyle/>
          <a:p>
            <a:pPr marL="0" indent="0" algn="r">
              <a:buNone/>
            </a:pPr>
            <a:r>
              <a:rPr lang="en-US" sz="900" dirty="0">
                <a:solidFill>
                  <a:srgbClr val="5B7280"/>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marL="0" indent="0">
              <a:buNone/>
            </a:pPr>
            <a:r>
              <a:rPr lang="en-US" sz="1250" b="1" kern="0" spc="200" dirty="0">
                <a:solidFill>
                  <a:srgbClr val="028090"/>
                </a:solidFill>
                <a:latin typeface="Arial" pitchFamily="34" charset="0"/>
                <a:ea typeface="Arial" pitchFamily="34" charset="-122"/>
                <a:cs typeface="Arial" pitchFamily="34" charset="-120"/>
              </a:rPr>
              <a:t>03 · CƠ CHẾ PHÂN LOẠI</a:t>
            </a:r>
            <a:endParaRPr lang="en-US" sz="1250" dirty="0"/>
          </a:p>
        </p:txBody>
      </p:sp>
      <p:sp>
        <p:nvSpPr>
          <p:cNvPr id="3" name="Text 1"/>
          <p:cNvSpPr/>
          <p:nvPr/>
        </p:nvSpPr>
        <p:spPr>
          <a:xfrm>
            <a:off x="548640" y="777240"/>
            <a:ext cx="10972800" cy="685800"/>
          </a:xfrm>
          <a:prstGeom prst="rect">
            <a:avLst/>
          </a:prstGeom>
          <a:noFill/>
          <a:ln/>
        </p:spPr>
        <p:txBody>
          <a:bodyPr wrap="square" lIns="0" tIns="0" rIns="0" bIns="0" rtlCol="0" anchor="ctr"/>
          <a:lstStyle/>
          <a:p>
            <a:pPr marL="0" indent="0">
              <a:buNone/>
            </a:pPr>
            <a:r>
              <a:rPr lang="en-US" sz="2700" b="1" dirty="0">
                <a:solidFill>
                  <a:srgbClr val="0B2A4A"/>
                </a:solidFill>
                <a:latin typeface="Cambria" pitchFamily="34" charset="0"/>
                <a:ea typeface="Cambria" pitchFamily="34" charset="-122"/>
                <a:cs typeface="Cambria" pitchFamily="34" charset="-120"/>
              </a:rPr>
              <a:t>Ranh giới quyết định: SVM · LDA · KNN</a:t>
            </a:r>
            <a:endParaRPr lang="en-US" sz="2700" dirty="0"/>
          </a:p>
        </p:txBody>
      </p:sp>
      <p:sp>
        <p:nvSpPr>
          <p:cNvPr id="4" name="Shape 2"/>
          <p:cNvSpPr/>
          <p:nvPr/>
        </p:nvSpPr>
        <p:spPr>
          <a:xfrm>
            <a:off x="2743200" y="1554480"/>
            <a:ext cx="137160" cy="137160"/>
          </a:xfrm>
          <a:prstGeom prst="ellipse">
            <a:avLst/>
          </a:prstGeom>
          <a:solidFill>
            <a:srgbClr val="028090"/>
          </a:solidFill>
          <a:ln/>
        </p:spPr>
      </p:sp>
      <p:sp>
        <p:nvSpPr>
          <p:cNvPr id="5" name="Text 3"/>
          <p:cNvSpPr/>
          <p:nvPr/>
        </p:nvSpPr>
        <p:spPr>
          <a:xfrm>
            <a:off x="2916936" y="1508760"/>
            <a:ext cx="914400" cy="237744"/>
          </a:xfrm>
          <a:prstGeom prst="rect">
            <a:avLst/>
          </a:prstGeom>
          <a:noFill/>
          <a:ln/>
        </p:spPr>
        <p:txBody>
          <a:bodyPr wrap="square" lIns="0" tIns="0" rIns="0" bIns="0" rtlCol="0" anchor="ctr"/>
          <a:lstStyle/>
          <a:p>
            <a:pPr marL="0" indent="0">
              <a:buNone/>
            </a:pPr>
            <a:r>
              <a:rPr lang="en-US" sz="1000" dirty="0">
                <a:solidFill>
                  <a:srgbClr val="12303F"/>
                </a:solidFill>
                <a:latin typeface="Arial" pitchFamily="34" charset="0"/>
                <a:ea typeface="Arial" pitchFamily="34" charset="-122"/>
                <a:cs typeface="Arial" pitchFamily="34" charset="-120"/>
              </a:rPr>
              <a:t>Normal</a:t>
            </a:r>
            <a:endParaRPr lang="en-US" sz="1000" dirty="0"/>
          </a:p>
        </p:txBody>
      </p:sp>
      <p:sp>
        <p:nvSpPr>
          <p:cNvPr id="6" name="Shape 4"/>
          <p:cNvSpPr/>
          <p:nvPr/>
        </p:nvSpPr>
        <p:spPr>
          <a:xfrm>
            <a:off x="3886200" y="1554480"/>
            <a:ext cx="137160" cy="137160"/>
          </a:xfrm>
          <a:prstGeom prst="ellipse">
            <a:avLst/>
          </a:prstGeom>
          <a:solidFill>
            <a:srgbClr val="C0392B"/>
          </a:solidFill>
          <a:ln/>
        </p:spPr>
      </p:sp>
      <p:sp>
        <p:nvSpPr>
          <p:cNvPr id="7" name="Text 5"/>
          <p:cNvSpPr/>
          <p:nvPr/>
        </p:nvSpPr>
        <p:spPr>
          <a:xfrm>
            <a:off x="4059936" y="1508760"/>
            <a:ext cx="914400" cy="237744"/>
          </a:xfrm>
          <a:prstGeom prst="rect">
            <a:avLst/>
          </a:prstGeom>
          <a:noFill/>
          <a:ln/>
        </p:spPr>
        <p:txBody>
          <a:bodyPr wrap="square" lIns="0" tIns="0" rIns="0" bIns="0" rtlCol="0" anchor="ctr"/>
          <a:lstStyle/>
          <a:p>
            <a:pPr marL="0" indent="0">
              <a:buNone/>
            </a:pPr>
            <a:r>
              <a:rPr lang="en-US" sz="1000" dirty="0">
                <a:solidFill>
                  <a:srgbClr val="12303F"/>
                </a:solidFill>
                <a:latin typeface="Arial" pitchFamily="34" charset="0"/>
                <a:ea typeface="Arial" pitchFamily="34" charset="-122"/>
                <a:cs typeface="Arial" pitchFamily="34" charset="-120"/>
              </a:rPr>
              <a:t>Fatigue</a:t>
            </a:r>
            <a:endParaRPr lang="en-US" sz="1000" dirty="0"/>
          </a:p>
        </p:txBody>
      </p:sp>
      <p:sp>
        <p:nvSpPr>
          <p:cNvPr id="8" name="Shape 6"/>
          <p:cNvSpPr/>
          <p:nvPr/>
        </p:nvSpPr>
        <p:spPr>
          <a:xfrm>
            <a:off x="5029200" y="1554480"/>
            <a:ext cx="137160" cy="137160"/>
          </a:xfrm>
          <a:prstGeom prst="ellipse">
            <a:avLst/>
          </a:prstGeom>
          <a:solidFill>
            <a:srgbClr val="5B7280"/>
          </a:solidFill>
          <a:ln/>
        </p:spPr>
      </p:sp>
      <p:sp>
        <p:nvSpPr>
          <p:cNvPr id="9" name="Text 7"/>
          <p:cNvSpPr/>
          <p:nvPr/>
        </p:nvSpPr>
        <p:spPr>
          <a:xfrm>
            <a:off x="5202936" y="1508760"/>
            <a:ext cx="2194560" cy="237744"/>
          </a:xfrm>
          <a:prstGeom prst="rect">
            <a:avLst/>
          </a:prstGeom>
          <a:noFill/>
          <a:ln/>
        </p:spPr>
        <p:txBody>
          <a:bodyPr wrap="square" lIns="0" tIns="0" rIns="0" bIns="0" rtlCol="0" anchor="ctr"/>
          <a:lstStyle/>
          <a:p>
            <a:pPr marL="0" indent="0">
              <a:buNone/>
            </a:pPr>
            <a:r>
              <a:rPr lang="en-US" sz="1000" dirty="0">
                <a:solidFill>
                  <a:srgbClr val="12303F"/>
                </a:solidFill>
                <a:latin typeface="Arial" pitchFamily="34" charset="0"/>
                <a:ea typeface="Arial" pitchFamily="34" charset="-122"/>
                <a:cs typeface="Arial" pitchFamily="34" charset="-120"/>
              </a:rPr>
              <a:t>Điểm mới cần phân loại</a:t>
            </a:r>
            <a:endParaRPr lang="en-US" sz="1000" dirty="0"/>
          </a:p>
        </p:txBody>
      </p:sp>
      <p:sp>
        <p:nvSpPr>
          <p:cNvPr id="10" name="Shape 8"/>
          <p:cNvSpPr/>
          <p:nvPr/>
        </p:nvSpPr>
        <p:spPr>
          <a:xfrm>
            <a:off x="548640" y="1874520"/>
            <a:ext cx="3520440" cy="3063240"/>
          </a:xfrm>
          <a:prstGeom prst="roundRect">
            <a:avLst>
              <a:gd name="adj" fmla="val 2687"/>
            </a:avLst>
          </a:prstGeom>
          <a:solidFill>
            <a:srgbClr val="F1FAF9"/>
          </a:solidFill>
          <a:ln w="12700">
            <a:solidFill>
              <a:srgbClr val="D5E8E5"/>
            </a:solidFill>
            <a:prstDash val="solid"/>
          </a:ln>
        </p:spPr>
      </p:sp>
      <p:sp>
        <p:nvSpPr>
          <p:cNvPr id="11" name="Text 9"/>
          <p:cNvSpPr/>
          <p:nvPr/>
        </p:nvSpPr>
        <p:spPr>
          <a:xfrm>
            <a:off x="685800" y="1984248"/>
            <a:ext cx="3246120" cy="457200"/>
          </a:xfrm>
          <a:prstGeom prst="rect">
            <a:avLst/>
          </a:prstGeom>
          <a:noFill/>
          <a:ln/>
        </p:spPr>
        <p:txBody>
          <a:bodyPr wrap="square" lIns="0" tIns="0" rIns="0" bIns="0" rtlCol="0" anchor="ctr"/>
          <a:lstStyle/>
          <a:p>
            <a:pPr marL="0" indent="0">
              <a:lnSpc>
                <a:spcPct val="105000"/>
              </a:lnSpc>
              <a:buNone/>
            </a:pPr>
            <a:r>
              <a:rPr lang="en-US" sz="1200" b="1" dirty="0">
                <a:solidFill>
                  <a:srgbClr val="0B2A4A"/>
                </a:solidFill>
                <a:latin typeface="Arial" pitchFamily="34" charset="0"/>
                <a:ea typeface="Arial" pitchFamily="34" charset="-122"/>
                <a:cs typeface="Arial" pitchFamily="34" charset="-120"/>
              </a:rPr>
              <a:t>SVM</a:t>
            </a:r>
            <a:endParaRPr lang="en-US" sz="1200" dirty="0"/>
          </a:p>
          <a:p>
            <a:pPr marL="0" indent="0">
              <a:lnSpc>
                <a:spcPct val="105000"/>
              </a:lnSpc>
              <a:buNone/>
            </a:pPr>
            <a:r>
              <a:rPr lang="en-US" sz="1200" b="1" dirty="0">
                <a:solidFill>
                  <a:srgbClr val="0B2A4A"/>
                </a:solidFill>
                <a:latin typeface="Arial" pitchFamily="34" charset="0"/>
                <a:ea typeface="Arial" pitchFamily="34" charset="-122"/>
                <a:cs typeface="Arial" pitchFamily="34" charset="-120"/>
              </a:rPr>
              <a:t>Ranh giới toàn cục (margin)</a:t>
            </a:r>
            <a:endParaRPr lang="en-US" sz="1200" dirty="0"/>
          </a:p>
        </p:txBody>
      </p:sp>
      <p:sp>
        <p:nvSpPr>
          <p:cNvPr id="12" name="Shape 10"/>
          <p:cNvSpPr/>
          <p:nvPr/>
        </p:nvSpPr>
        <p:spPr>
          <a:xfrm>
            <a:off x="4343400" y="1874520"/>
            <a:ext cx="3520440" cy="3063240"/>
          </a:xfrm>
          <a:prstGeom prst="roundRect">
            <a:avLst>
              <a:gd name="adj" fmla="val 2687"/>
            </a:avLst>
          </a:prstGeom>
          <a:solidFill>
            <a:srgbClr val="F1FAF9"/>
          </a:solidFill>
          <a:ln w="12700">
            <a:solidFill>
              <a:srgbClr val="D5E8E5"/>
            </a:solidFill>
            <a:prstDash val="solid"/>
          </a:ln>
        </p:spPr>
      </p:sp>
      <p:sp>
        <p:nvSpPr>
          <p:cNvPr id="13" name="Text 11"/>
          <p:cNvSpPr/>
          <p:nvPr/>
        </p:nvSpPr>
        <p:spPr>
          <a:xfrm>
            <a:off x="4480560" y="1984248"/>
            <a:ext cx="3246120" cy="457200"/>
          </a:xfrm>
          <a:prstGeom prst="rect">
            <a:avLst/>
          </a:prstGeom>
          <a:noFill/>
          <a:ln/>
        </p:spPr>
        <p:txBody>
          <a:bodyPr wrap="square" lIns="0" tIns="0" rIns="0" bIns="0" rtlCol="0" anchor="ctr"/>
          <a:lstStyle/>
          <a:p>
            <a:pPr marL="0" indent="0">
              <a:lnSpc>
                <a:spcPct val="105000"/>
              </a:lnSpc>
              <a:buNone/>
            </a:pPr>
            <a:r>
              <a:rPr lang="en-US" sz="1200" b="1" dirty="0">
                <a:solidFill>
                  <a:srgbClr val="0B2A4A"/>
                </a:solidFill>
                <a:latin typeface="Arial" pitchFamily="34" charset="0"/>
                <a:ea typeface="Arial" pitchFamily="34" charset="-122"/>
                <a:cs typeface="Arial" pitchFamily="34" charset="-120"/>
              </a:rPr>
              <a:t>LDA</a:t>
            </a:r>
            <a:endParaRPr lang="en-US" sz="1200" dirty="0"/>
          </a:p>
          <a:p>
            <a:pPr marL="0" indent="0">
              <a:lnSpc>
                <a:spcPct val="105000"/>
              </a:lnSpc>
              <a:buNone/>
            </a:pPr>
            <a:r>
              <a:rPr lang="en-US" sz="1200" b="1" dirty="0">
                <a:solidFill>
                  <a:srgbClr val="0B2A4A"/>
                </a:solidFill>
                <a:latin typeface="Arial" pitchFamily="34" charset="0"/>
                <a:ea typeface="Arial" pitchFamily="34" charset="-122"/>
                <a:cs typeface="Arial" pitchFamily="34" charset="-120"/>
              </a:rPr>
              <a:t>Tối đa khoảng cách 2 lớp</a:t>
            </a:r>
            <a:endParaRPr lang="en-US" sz="1200" dirty="0"/>
          </a:p>
        </p:txBody>
      </p:sp>
      <p:sp>
        <p:nvSpPr>
          <p:cNvPr id="14" name="Shape 12"/>
          <p:cNvSpPr/>
          <p:nvPr/>
        </p:nvSpPr>
        <p:spPr>
          <a:xfrm>
            <a:off x="8138160" y="1874520"/>
            <a:ext cx="3520440" cy="3063240"/>
          </a:xfrm>
          <a:prstGeom prst="roundRect">
            <a:avLst>
              <a:gd name="adj" fmla="val 2687"/>
            </a:avLst>
          </a:prstGeom>
          <a:solidFill>
            <a:srgbClr val="F1FAF9"/>
          </a:solidFill>
          <a:ln w="12700">
            <a:solidFill>
              <a:srgbClr val="D5E8E5"/>
            </a:solidFill>
            <a:prstDash val="solid"/>
          </a:ln>
        </p:spPr>
      </p:sp>
      <p:sp>
        <p:nvSpPr>
          <p:cNvPr id="15" name="Text 13"/>
          <p:cNvSpPr/>
          <p:nvPr/>
        </p:nvSpPr>
        <p:spPr>
          <a:xfrm>
            <a:off x="8275320" y="1984248"/>
            <a:ext cx="3246120" cy="457200"/>
          </a:xfrm>
          <a:prstGeom prst="rect">
            <a:avLst/>
          </a:prstGeom>
          <a:noFill/>
          <a:ln/>
        </p:spPr>
        <p:txBody>
          <a:bodyPr wrap="square" lIns="0" tIns="0" rIns="0" bIns="0" rtlCol="0" anchor="ctr"/>
          <a:lstStyle/>
          <a:p>
            <a:pPr marL="0" indent="0">
              <a:lnSpc>
                <a:spcPct val="105000"/>
              </a:lnSpc>
              <a:buNone/>
            </a:pPr>
            <a:r>
              <a:rPr lang="en-US" sz="1200" b="1" dirty="0">
                <a:solidFill>
                  <a:srgbClr val="0B2A4A"/>
                </a:solidFill>
                <a:latin typeface="Arial" pitchFamily="34" charset="0"/>
                <a:ea typeface="Arial" pitchFamily="34" charset="-122"/>
                <a:cs typeface="Arial" pitchFamily="34" charset="-120"/>
              </a:rPr>
              <a:t>KNN</a:t>
            </a:r>
            <a:endParaRPr lang="en-US" sz="1200" dirty="0"/>
          </a:p>
          <a:p>
            <a:pPr marL="0" indent="0">
              <a:lnSpc>
                <a:spcPct val="105000"/>
              </a:lnSpc>
              <a:buNone/>
            </a:pPr>
            <a:r>
              <a:rPr lang="en-US" sz="1200" b="1" dirty="0">
                <a:solidFill>
                  <a:srgbClr val="0B2A4A"/>
                </a:solidFill>
                <a:latin typeface="Arial" pitchFamily="34" charset="0"/>
                <a:ea typeface="Arial" pitchFamily="34" charset="-122"/>
                <a:cs typeface="Arial" pitchFamily="34" charset="-120"/>
              </a:rPr>
              <a:t>Ranh giới cục bộ (k láng giềng)</a:t>
            </a:r>
            <a:endParaRPr lang="en-US" sz="1200" dirty="0"/>
          </a:p>
        </p:txBody>
      </p:sp>
      <p:sp>
        <p:nvSpPr>
          <p:cNvPr id="16" name="Shape 14"/>
          <p:cNvSpPr/>
          <p:nvPr/>
        </p:nvSpPr>
        <p:spPr>
          <a:xfrm flipV="1">
            <a:off x="836324" y="2707402"/>
            <a:ext cx="2954215" cy="1025295"/>
          </a:xfrm>
          <a:prstGeom prst="line">
            <a:avLst/>
          </a:prstGeom>
          <a:noFill/>
          <a:ln w="17780">
            <a:solidFill>
              <a:srgbClr val="5F5E5A"/>
            </a:solidFill>
            <a:prstDash val="solid"/>
          </a:ln>
        </p:spPr>
      </p:sp>
      <p:sp>
        <p:nvSpPr>
          <p:cNvPr id="17" name="Shape 15"/>
          <p:cNvSpPr/>
          <p:nvPr/>
        </p:nvSpPr>
        <p:spPr>
          <a:xfrm flipV="1">
            <a:off x="836324" y="2574717"/>
            <a:ext cx="2954215" cy="1025295"/>
          </a:xfrm>
          <a:prstGeom prst="line">
            <a:avLst/>
          </a:prstGeom>
          <a:noFill/>
          <a:ln w="9525">
            <a:solidFill>
              <a:srgbClr val="9DBDB9"/>
            </a:solidFill>
            <a:prstDash val="dash"/>
          </a:ln>
        </p:spPr>
      </p:sp>
      <p:sp>
        <p:nvSpPr>
          <p:cNvPr id="18" name="Shape 16"/>
          <p:cNvSpPr/>
          <p:nvPr/>
        </p:nvSpPr>
        <p:spPr>
          <a:xfrm flipV="1">
            <a:off x="836324" y="2840087"/>
            <a:ext cx="2954215" cy="1025295"/>
          </a:xfrm>
          <a:prstGeom prst="line">
            <a:avLst/>
          </a:prstGeom>
          <a:noFill/>
          <a:ln w="9525">
            <a:solidFill>
              <a:srgbClr val="9DBDB9"/>
            </a:solidFill>
            <a:prstDash val="dash"/>
          </a:ln>
        </p:spPr>
      </p:sp>
      <p:sp>
        <p:nvSpPr>
          <p:cNvPr id="19" name="Shape 17"/>
          <p:cNvSpPr/>
          <p:nvPr/>
        </p:nvSpPr>
        <p:spPr>
          <a:xfrm>
            <a:off x="1036789" y="2721994"/>
            <a:ext cx="91440" cy="91440"/>
          </a:xfrm>
          <a:prstGeom prst="ellipse">
            <a:avLst/>
          </a:prstGeom>
          <a:solidFill>
            <a:srgbClr val="028090"/>
          </a:solidFill>
          <a:ln w="6350">
            <a:solidFill>
              <a:srgbClr val="FFFFFF"/>
            </a:solidFill>
            <a:prstDash val="solid"/>
          </a:ln>
        </p:spPr>
      </p:sp>
      <p:sp>
        <p:nvSpPr>
          <p:cNvPr id="20" name="Shape 18"/>
          <p:cNvSpPr/>
          <p:nvPr/>
        </p:nvSpPr>
        <p:spPr>
          <a:xfrm>
            <a:off x="1467612" y="2902928"/>
            <a:ext cx="91440" cy="91440"/>
          </a:xfrm>
          <a:prstGeom prst="ellipse">
            <a:avLst/>
          </a:prstGeom>
          <a:solidFill>
            <a:srgbClr val="028090"/>
          </a:solidFill>
          <a:ln w="6350">
            <a:solidFill>
              <a:srgbClr val="FFFFFF"/>
            </a:solidFill>
            <a:prstDash val="solid"/>
          </a:ln>
        </p:spPr>
      </p:sp>
      <p:sp>
        <p:nvSpPr>
          <p:cNvPr id="21" name="Shape 19"/>
          <p:cNvSpPr/>
          <p:nvPr/>
        </p:nvSpPr>
        <p:spPr>
          <a:xfrm>
            <a:off x="913697" y="3114018"/>
            <a:ext cx="91440" cy="91440"/>
          </a:xfrm>
          <a:prstGeom prst="ellipse">
            <a:avLst/>
          </a:prstGeom>
          <a:solidFill>
            <a:srgbClr val="028090"/>
          </a:solidFill>
          <a:ln w="6350">
            <a:solidFill>
              <a:srgbClr val="FFFFFF"/>
            </a:solidFill>
            <a:prstDash val="solid"/>
          </a:ln>
        </p:spPr>
      </p:sp>
      <p:sp>
        <p:nvSpPr>
          <p:cNvPr id="22" name="Shape 20"/>
          <p:cNvSpPr/>
          <p:nvPr/>
        </p:nvSpPr>
        <p:spPr>
          <a:xfrm>
            <a:off x="1713797" y="2661682"/>
            <a:ext cx="91440" cy="91440"/>
          </a:xfrm>
          <a:prstGeom prst="ellipse">
            <a:avLst/>
          </a:prstGeom>
          <a:solidFill>
            <a:srgbClr val="028090"/>
          </a:solidFill>
          <a:ln w="6350">
            <a:solidFill>
              <a:srgbClr val="FFFFFF"/>
            </a:solidFill>
            <a:prstDash val="solid"/>
          </a:ln>
        </p:spPr>
      </p:sp>
      <p:sp>
        <p:nvSpPr>
          <p:cNvPr id="23" name="Shape 21"/>
          <p:cNvSpPr/>
          <p:nvPr/>
        </p:nvSpPr>
        <p:spPr>
          <a:xfrm>
            <a:off x="1282974" y="3325109"/>
            <a:ext cx="91440" cy="91440"/>
          </a:xfrm>
          <a:prstGeom prst="ellipse">
            <a:avLst/>
          </a:prstGeom>
          <a:solidFill>
            <a:srgbClr val="028090"/>
          </a:solidFill>
          <a:ln w="6350">
            <a:solidFill>
              <a:srgbClr val="FFFFFF"/>
            </a:solidFill>
            <a:prstDash val="solid"/>
          </a:ln>
        </p:spPr>
      </p:sp>
      <p:sp>
        <p:nvSpPr>
          <p:cNvPr id="24" name="Shape 22"/>
          <p:cNvSpPr/>
          <p:nvPr/>
        </p:nvSpPr>
        <p:spPr>
          <a:xfrm>
            <a:off x="2003239" y="3005263"/>
            <a:ext cx="128016" cy="128016"/>
          </a:xfrm>
          <a:prstGeom prst="ellipse">
            <a:avLst/>
          </a:prstGeom>
          <a:solidFill>
            <a:srgbClr val="028090"/>
          </a:solidFill>
          <a:ln w="13970">
            <a:solidFill>
              <a:srgbClr val="FFFFFF"/>
            </a:solidFill>
            <a:prstDash val="solid"/>
          </a:ln>
        </p:spPr>
      </p:sp>
      <p:sp>
        <p:nvSpPr>
          <p:cNvPr id="25" name="Shape 23"/>
          <p:cNvSpPr/>
          <p:nvPr/>
        </p:nvSpPr>
        <p:spPr>
          <a:xfrm>
            <a:off x="2944720" y="3355264"/>
            <a:ext cx="91440" cy="91440"/>
          </a:xfrm>
          <a:prstGeom prst="ellipse">
            <a:avLst/>
          </a:prstGeom>
          <a:solidFill>
            <a:srgbClr val="C0392B"/>
          </a:solidFill>
          <a:ln w="6350">
            <a:solidFill>
              <a:srgbClr val="FFFFFF"/>
            </a:solidFill>
            <a:prstDash val="solid"/>
          </a:ln>
        </p:spPr>
      </p:sp>
      <p:sp>
        <p:nvSpPr>
          <p:cNvPr id="26" name="Shape 24"/>
          <p:cNvSpPr/>
          <p:nvPr/>
        </p:nvSpPr>
        <p:spPr>
          <a:xfrm>
            <a:off x="3375543" y="3536199"/>
            <a:ext cx="91440" cy="91440"/>
          </a:xfrm>
          <a:prstGeom prst="ellipse">
            <a:avLst/>
          </a:prstGeom>
          <a:solidFill>
            <a:srgbClr val="C0392B"/>
          </a:solidFill>
          <a:ln w="6350">
            <a:solidFill>
              <a:srgbClr val="FFFFFF"/>
            </a:solidFill>
            <a:prstDash val="solid"/>
          </a:ln>
        </p:spPr>
      </p:sp>
      <p:sp>
        <p:nvSpPr>
          <p:cNvPr id="27" name="Shape 25"/>
          <p:cNvSpPr/>
          <p:nvPr/>
        </p:nvSpPr>
        <p:spPr>
          <a:xfrm>
            <a:off x="2636989" y="3626666"/>
            <a:ext cx="91440" cy="91440"/>
          </a:xfrm>
          <a:prstGeom prst="ellipse">
            <a:avLst/>
          </a:prstGeom>
          <a:solidFill>
            <a:srgbClr val="C0392B"/>
          </a:solidFill>
          <a:ln w="6350">
            <a:solidFill>
              <a:srgbClr val="FFFFFF"/>
            </a:solidFill>
            <a:prstDash val="solid"/>
          </a:ln>
        </p:spPr>
      </p:sp>
      <p:sp>
        <p:nvSpPr>
          <p:cNvPr id="28" name="Shape 26"/>
          <p:cNvSpPr/>
          <p:nvPr/>
        </p:nvSpPr>
        <p:spPr>
          <a:xfrm>
            <a:off x="3498635" y="3204486"/>
            <a:ext cx="91440" cy="91440"/>
          </a:xfrm>
          <a:prstGeom prst="ellipse">
            <a:avLst/>
          </a:prstGeom>
          <a:solidFill>
            <a:srgbClr val="C0392B"/>
          </a:solidFill>
          <a:ln w="6350">
            <a:solidFill>
              <a:srgbClr val="FFFFFF"/>
            </a:solidFill>
            <a:prstDash val="solid"/>
          </a:ln>
        </p:spPr>
      </p:sp>
      <p:sp>
        <p:nvSpPr>
          <p:cNvPr id="29" name="Shape 27"/>
          <p:cNvSpPr/>
          <p:nvPr/>
        </p:nvSpPr>
        <p:spPr>
          <a:xfrm>
            <a:off x="3129358" y="3686978"/>
            <a:ext cx="91440" cy="91440"/>
          </a:xfrm>
          <a:prstGeom prst="ellipse">
            <a:avLst/>
          </a:prstGeom>
          <a:solidFill>
            <a:srgbClr val="C0392B"/>
          </a:solidFill>
          <a:ln w="6350">
            <a:solidFill>
              <a:srgbClr val="FFFFFF"/>
            </a:solidFill>
            <a:prstDash val="solid"/>
          </a:ln>
        </p:spPr>
      </p:sp>
      <p:sp>
        <p:nvSpPr>
          <p:cNvPr id="30" name="Shape 28"/>
          <p:cNvSpPr/>
          <p:nvPr/>
        </p:nvSpPr>
        <p:spPr>
          <a:xfrm>
            <a:off x="2434062" y="3216353"/>
            <a:ext cx="128016" cy="128016"/>
          </a:xfrm>
          <a:prstGeom prst="ellipse">
            <a:avLst/>
          </a:prstGeom>
          <a:solidFill>
            <a:srgbClr val="C0392B"/>
          </a:solidFill>
          <a:ln w="13970">
            <a:solidFill>
              <a:srgbClr val="FFFFFF"/>
            </a:solidFill>
            <a:prstDash val="solid"/>
          </a:ln>
        </p:spPr>
      </p:sp>
      <p:sp>
        <p:nvSpPr>
          <p:cNvPr id="31" name="Shape 29"/>
          <p:cNvSpPr/>
          <p:nvPr/>
        </p:nvSpPr>
        <p:spPr>
          <a:xfrm flipV="1">
            <a:off x="4569538" y="2737558"/>
            <a:ext cx="3077308" cy="964984"/>
          </a:xfrm>
          <a:prstGeom prst="line">
            <a:avLst/>
          </a:prstGeom>
          <a:noFill/>
          <a:ln w="17780">
            <a:solidFill>
              <a:srgbClr val="5F5E5A"/>
            </a:solidFill>
            <a:prstDash val="solid"/>
          </a:ln>
        </p:spPr>
      </p:sp>
      <p:sp>
        <p:nvSpPr>
          <p:cNvPr id="32" name="Shape 30"/>
          <p:cNvSpPr/>
          <p:nvPr/>
        </p:nvSpPr>
        <p:spPr>
          <a:xfrm>
            <a:off x="4831549" y="2721994"/>
            <a:ext cx="91440" cy="91440"/>
          </a:xfrm>
          <a:prstGeom prst="ellipse">
            <a:avLst/>
          </a:prstGeom>
          <a:solidFill>
            <a:srgbClr val="028090"/>
          </a:solidFill>
          <a:ln w="6350">
            <a:solidFill>
              <a:srgbClr val="FFFFFF"/>
            </a:solidFill>
            <a:prstDash val="solid"/>
          </a:ln>
        </p:spPr>
      </p:sp>
      <p:sp>
        <p:nvSpPr>
          <p:cNvPr id="33" name="Shape 31"/>
          <p:cNvSpPr/>
          <p:nvPr/>
        </p:nvSpPr>
        <p:spPr>
          <a:xfrm>
            <a:off x="5262372" y="2902928"/>
            <a:ext cx="91440" cy="91440"/>
          </a:xfrm>
          <a:prstGeom prst="ellipse">
            <a:avLst/>
          </a:prstGeom>
          <a:solidFill>
            <a:srgbClr val="028090"/>
          </a:solidFill>
          <a:ln w="6350">
            <a:solidFill>
              <a:srgbClr val="FFFFFF"/>
            </a:solidFill>
            <a:prstDash val="solid"/>
          </a:ln>
        </p:spPr>
      </p:sp>
      <p:sp>
        <p:nvSpPr>
          <p:cNvPr id="34" name="Shape 32"/>
          <p:cNvSpPr/>
          <p:nvPr/>
        </p:nvSpPr>
        <p:spPr>
          <a:xfrm>
            <a:off x="4708457" y="3114018"/>
            <a:ext cx="91440" cy="91440"/>
          </a:xfrm>
          <a:prstGeom prst="ellipse">
            <a:avLst/>
          </a:prstGeom>
          <a:solidFill>
            <a:srgbClr val="028090"/>
          </a:solidFill>
          <a:ln w="6350">
            <a:solidFill>
              <a:srgbClr val="FFFFFF"/>
            </a:solidFill>
            <a:prstDash val="solid"/>
          </a:ln>
        </p:spPr>
      </p:sp>
      <p:sp>
        <p:nvSpPr>
          <p:cNvPr id="35" name="Shape 33"/>
          <p:cNvSpPr/>
          <p:nvPr/>
        </p:nvSpPr>
        <p:spPr>
          <a:xfrm>
            <a:off x="5508557" y="2661682"/>
            <a:ext cx="91440" cy="91440"/>
          </a:xfrm>
          <a:prstGeom prst="ellipse">
            <a:avLst/>
          </a:prstGeom>
          <a:solidFill>
            <a:srgbClr val="028090"/>
          </a:solidFill>
          <a:ln w="6350">
            <a:solidFill>
              <a:srgbClr val="FFFFFF"/>
            </a:solidFill>
            <a:prstDash val="solid"/>
          </a:ln>
        </p:spPr>
      </p:sp>
      <p:sp>
        <p:nvSpPr>
          <p:cNvPr id="36" name="Shape 34"/>
          <p:cNvSpPr/>
          <p:nvPr/>
        </p:nvSpPr>
        <p:spPr>
          <a:xfrm>
            <a:off x="5077734" y="3325109"/>
            <a:ext cx="91440" cy="91440"/>
          </a:xfrm>
          <a:prstGeom prst="ellipse">
            <a:avLst/>
          </a:prstGeom>
          <a:solidFill>
            <a:srgbClr val="028090"/>
          </a:solidFill>
          <a:ln w="6350">
            <a:solidFill>
              <a:srgbClr val="FFFFFF"/>
            </a:solidFill>
            <a:prstDash val="solid"/>
          </a:ln>
        </p:spPr>
      </p:sp>
      <p:sp>
        <p:nvSpPr>
          <p:cNvPr id="37" name="Shape 35"/>
          <p:cNvSpPr/>
          <p:nvPr/>
        </p:nvSpPr>
        <p:spPr>
          <a:xfrm>
            <a:off x="6739480" y="3355264"/>
            <a:ext cx="91440" cy="91440"/>
          </a:xfrm>
          <a:prstGeom prst="ellipse">
            <a:avLst/>
          </a:prstGeom>
          <a:solidFill>
            <a:srgbClr val="C0392B"/>
          </a:solidFill>
          <a:ln w="6350">
            <a:solidFill>
              <a:srgbClr val="FFFFFF"/>
            </a:solidFill>
            <a:prstDash val="solid"/>
          </a:ln>
        </p:spPr>
      </p:sp>
      <p:sp>
        <p:nvSpPr>
          <p:cNvPr id="38" name="Shape 36"/>
          <p:cNvSpPr/>
          <p:nvPr/>
        </p:nvSpPr>
        <p:spPr>
          <a:xfrm>
            <a:off x="7170303" y="3536199"/>
            <a:ext cx="91440" cy="91440"/>
          </a:xfrm>
          <a:prstGeom prst="ellipse">
            <a:avLst/>
          </a:prstGeom>
          <a:solidFill>
            <a:srgbClr val="C0392B"/>
          </a:solidFill>
          <a:ln w="6350">
            <a:solidFill>
              <a:srgbClr val="FFFFFF"/>
            </a:solidFill>
            <a:prstDash val="solid"/>
          </a:ln>
        </p:spPr>
      </p:sp>
      <p:sp>
        <p:nvSpPr>
          <p:cNvPr id="39" name="Shape 37"/>
          <p:cNvSpPr/>
          <p:nvPr/>
        </p:nvSpPr>
        <p:spPr>
          <a:xfrm>
            <a:off x="6431749" y="3626666"/>
            <a:ext cx="91440" cy="91440"/>
          </a:xfrm>
          <a:prstGeom prst="ellipse">
            <a:avLst/>
          </a:prstGeom>
          <a:solidFill>
            <a:srgbClr val="C0392B"/>
          </a:solidFill>
          <a:ln w="6350">
            <a:solidFill>
              <a:srgbClr val="FFFFFF"/>
            </a:solidFill>
            <a:prstDash val="solid"/>
          </a:ln>
        </p:spPr>
      </p:sp>
      <p:sp>
        <p:nvSpPr>
          <p:cNvPr id="40" name="Shape 38"/>
          <p:cNvSpPr/>
          <p:nvPr/>
        </p:nvSpPr>
        <p:spPr>
          <a:xfrm>
            <a:off x="7293395" y="3204486"/>
            <a:ext cx="91440" cy="91440"/>
          </a:xfrm>
          <a:prstGeom prst="ellipse">
            <a:avLst/>
          </a:prstGeom>
          <a:solidFill>
            <a:srgbClr val="C0392B"/>
          </a:solidFill>
          <a:ln w="6350">
            <a:solidFill>
              <a:srgbClr val="FFFFFF"/>
            </a:solidFill>
            <a:prstDash val="solid"/>
          </a:ln>
        </p:spPr>
      </p:sp>
      <p:sp>
        <p:nvSpPr>
          <p:cNvPr id="41" name="Shape 39"/>
          <p:cNvSpPr/>
          <p:nvPr/>
        </p:nvSpPr>
        <p:spPr>
          <a:xfrm>
            <a:off x="6924118" y="3686978"/>
            <a:ext cx="91440" cy="91440"/>
          </a:xfrm>
          <a:prstGeom prst="ellipse">
            <a:avLst/>
          </a:prstGeom>
          <a:solidFill>
            <a:srgbClr val="C0392B"/>
          </a:solidFill>
          <a:ln w="6350">
            <a:solidFill>
              <a:srgbClr val="FFFFFF"/>
            </a:solidFill>
            <a:prstDash val="solid"/>
          </a:ln>
        </p:spPr>
      </p:sp>
      <p:sp>
        <p:nvSpPr>
          <p:cNvPr id="42" name="Shape 40"/>
          <p:cNvSpPr/>
          <p:nvPr/>
        </p:nvSpPr>
        <p:spPr>
          <a:xfrm>
            <a:off x="4692630" y="2466156"/>
            <a:ext cx="2831123" cy="1507787"/>
          </a:xfrm>
          <a:prstGeom prst="line">
            <a:avLst/>
          </a:prstGeom>
          <a:noFill/>
          <a:ln w="7620">
            <a:solidFill>
              <a:srgbClr val="C9A227"/>
            </a:solidFill>
            <a:prstDash val="dash"/>
          </a:ln>
        </p:spPr>
      </p:sp>
      <p:sp>
        <p:nvSpPr>
          <p:cNvPr id="43" name="Shape 41"/>
          <p:cNvSpPr/>
          <p:nvPr/>
        </p:nvSpPr>
        <p:spPr>
          <a:xfrm>
            <a:off x="9212932" y="2612071"/>
            <a:ext cx="1234440" cy="914400"/>
          </a:xfrm>
          <a:prstGeom prst="ellipse">
            <a:avLst/>
          </a:prstGeom>
          <a:solidFill>
            <a:srgbClr val="F5C4B3"/>
          </a:solidFill>
          <a:ln w="9525">
            <a:solidFill>
              <a:srgbClr val="C0392B"/>
            </a:solidFill>
            <a:prstDash val="dash"/>
          </a:ln>
        </p:spPr>
      </p:sp>
      <p:sp>
        <p:nvSpPr>
          <p:cNvPr id="44" name="Shape 42"/>
          <p:cNvSpPr/>
          <p:nvPr/>
        </p:nvSpPr>
        <p:spPr>
          <a:xfrm>
            <a:off x="8626309" y="2691838"/>
            <a:ext cx="91440" cy="91440"/>
          </a:xfrm>
          <a:prstGeom prst="ellipse">
            <a:avLst/>
          </a:prstGeom>
          <a:solidFill>
            <a:srgbClr val="028090"/>
          </a:solidFill>
          <a:ln w="6350">
            <a:solidFill>
              <a:srgbClr val="FFFFFF"/>
            </a:solidFill>
            <a:prstDash val="solid"/>
          </a:ln>
        </p:spPr>
      </p:sp>
      <p:sp>
        <p:nvSpPr>
          <p:cNvPr id="45" name="Shape 43"/>
          <p:cNvSpPr/>
          <p:nvPr/>
        </p:nvSpPr>
        <p:spPr>
          <a:xfrm>
            <a:off x="9118678" y="2589308"/>
            <a:ext cx="91440" cy="91440"/>
          </a:xfrm>
          <a:prstGeom prst="ellipse">
            <a:avLst/>
          </a:prstGeom>
          <a:solidFill>
            <a:srgbClr val="028090"/>
          </a:solidFill>
          <a:ln w="6350">
            <a:solidFill>
              <a:srgbClr val="FFFFFF"/>
            </a:solidFill>
            <a:prstDash val="solid"/>
          </a:ln>
        </p:spPr>
      </p:sp>
      <p:sp>
        <p:nvSpPr>
          <p:cNvPr id="46" name="Shape 44"/>
          <p:cNvSpPr/>
          <p:nvPr/>
        </p:nvSpPr>
        <p:spPr>
          <a:xfrm>
            <a:off x="10965063" y="2649620"/>
            <a:ext cx="91440" cy="91440"/>
          </a:xfrm>
          <a:prstGeom prst="ellipse">
            <a:avLst/>
          </a:prstGeom>
          <a:solidFill>
            <a:srgbClr val="028090"/>
          </a:solidFill>
          <a:ln w="6350">
            <a:solidFill>
              <a:srgbClr val="FFFFFF"/>
            </a:solidFill>
            <a:prstDash val="solid"/>
          </a:ln>
        </p:spPr>
      </p:sp>
      <p:sp>
        <p:nvSpPr>
          <p:cNvPr id="47" name="Shape 45"/>
          <p:cNvSpPr/>
          <p:nvPr/>
        </p:nvSpPr>
        <p:spPr>
          <a:xfrm>
            <a:off x="9734140" y="3355264"/>
            <a:ext cx="91440" cy="91440"/>
          </a:xfrm>
          <a:prstGeom prst="ellipse">
            <a:avLst/>
          </a:prstGeom>
          <a:solidFill>
            <a:srgbClr val="C0392B"/>
          </a:solidFill>
          <a:ln w="6350">
            <a:solidFill>
              <a:srgbClr val="FFFFFF"/>
            </a:solidFill>
            <a:prstDash val="solid"/>
          </a:ln>
        </p:spPr>
      </p:sp>
      <p:sp>
        <p:nvSpPr>
          <p:cNvPr id="48" name="Shape 46"/>
          <p:cNvSpPr/>
          <p:nvPr/>
        </p:nvSpPr>
        <p:spPr>
          <a:xfrm>
            <a:off x="10226509" y="3536199"/>
            <a:ext cx="91440" cy="91440"/>
          </a:xfrm>
          <a:prstGeom prst="ellipse">
            <a:avLst/>
          </a:prstGeom>
          <a:solidFill>
            <a:srgbClr val="C0392B"/>
          </a:solidFill>
          <a:ln w="6350">
            <a:solidFill>
              <a:srgbClr val="FFFFFF"/>
            </a:solidFill>
            <a:prstDash val="solid"/>
          </a:ln>
        </p:spPr>
      </p:sp>
      <p:sp>
        <p:nvSpPr>
          <p:cNvPr id="49" name="Shape 47"/>
          <p:cNvSpPr/>
          <p:nvPr/>
        </p:nvSpPr>
        <p:spPr>
          <a:xfrm>
            <a:off x="9241770" y="3566355"/>
            <a:ext cx="91440" cy="91440"/>
          </a:xfrm>
          <a:prstGeom prst="ellipse">
            <a:avLst/>
          </a:prstGeom>
          <a:solidFill>
            <a:srgbClr val="C0392B"/>
          </a:solidFill>
          <a:ln w="6350">
            <a:solidFill>
              <a:srgbClr val="FFFFFF"/>
            </a:solidFill>
            <a:prstDash val="solid"/>
          </a:ln>
        </p:spPr>
      </p:sp>
      <p:sp>
        <p:nvSpPr>
          <p:cNvPr id="50" name="Shape 48"/>
          <p:cNvSpPr/>
          <p:nvPr/>
        </p:nvSpPr>
        <p:spPr>
          <a:xfrm>
            <a:off x="8872494" y="3457794"/>
            <a:ext cx="91440" cy="91440"/>
          </a:xfrm>
          <a:prstGeom prst="ellipse">
            <a:avLst/>
          </a:prstGeom>
          <a:solidFill>
            <a:srgbClr val="C0392B"/>
          </a:solidFill>
          <a:ln w="6350">
            <a:solidFill>
              <a:srgbClr val="FFFFFF"/>
            </a:solidFill>
            <a:prstDash val="solid"/>
          </a:ln>
        </p:spPr>
      </p:sp>
      <p:sp>
        <p:nvSpPr>
          <p:cNvPr id="51" name="Shape 49"/>
          <p:cNvSpPr/>
          <p:nvPr/>
        </p:nvSpPr>
        <p:spPr>
          <a:xfrm>
            <a:off x="9614564" y="2657791"/>
            <a:ext cx="822960" cy="822960"/>
          </a:xfrm>
          <a:prstGeom prst="ellipse">
            <a:avLst/>
          </a:prstGeom>
          <a:solidFill>
            <a:srgbClr val="FFFFFF">
              <a:alpha val="0"/>
            </a:srgbClr>
          </a:solidFill>
          <a:ln w="9525">
            <a:solidFill>
              <a:srgbClr val="5F5E5A"/>
            </a:solidFill>
            <a:prstDash val="dash"/>
          </a:ln>
        </p:spPr>
      </p:sp>
      <p:sp>
        <p:nvSpPr>
          <p:cNvPr id="52" name="Shape 50"/>
          <p:cNvSpPr/>
          <p:nvPr/>
        </p:nvSpPr>
        <p:spPr>
          <a:xfrm>
            <a:off x="9962036" y="3005263"/>
            <a:ext cx="128016" cy="128016"/>
          </a:xfrm>
          <a:prstGeom prst="ellipse">
            <a:avLst/>
          </a:prstGeom>
          <a:solidFill>
            <a:srgbClr val="5B7280"/>
          </a:solidFill>
          <a:ln w="13970">
            <a:solidFill>
              <a:srgbClr val="FFFFFF"/>
            </a:solidFill>
            <a:prstDash val="solid"/>
          </a:ln>
        </p:spPr>
      </p:sp>
      <p:sp>
        <p:nvSpPr>
          <p:cNvPr id="53" name="Text 51"/>
          <p:cNvSpPr/>
          <p:nvPr/>
        </p:nvSpPr>
        <p:spPr>
          <a:xfrm>
            <a:off x="685800" y="4206240"/>
            <a:ext cx="3246120" cy="658368"/>
          </a:xfrm>
          <a:prstGeom prst="rect">
            <a:avLst/>
          </a:prstGeom>
          <a:noFill/>
          <a:ln/>
        </p:spPr>
        <p:txBody>
          <a:bodyPr wrap="square" lIns="0" tIns="0" rIns="0" bIns="0" rtlCol="0" anchor="t"/>
          <a:lstStyle/>
          <a:p>
            <a:pPr marL="0" indent="0">
              <a:lnSpc>
                <a:spcPct val="110000"/>
              </a:lnSpc>
              <a:buNone/>
            </a:pPr>
            <a:r>
              <a:rPr lang="en-US" sz="950" i="1" dirty="0">
                <a:solidFill>
                  <a:srgbClr val="5B7280"/>
                </a:solidFill>
                <a:latin typeface="Arial" pitchFamily="34" charset="0"/>
                <a:ea typeface="Arial" pitchFamily="34" charset="-122"/>
                <a:cs typeface="Arial" pitchFamily="34" charset="-120"/>
              </a:rPr>
              <a:t>Chỉ vài điểm biên (support vectors) quyết định vị trí đường.</a:t>
            </a:r>
            <a:endParaRPr lang="en-US" sz="950" dirty="0"/>
          </a:p>
        </p:txBody>
      </p:sp>
      <p:sp>
        <p:nvSpPr>
          <p:cNvPr id="54" name="Text 52"/>
          <p:cNvSpPr/>
          <p:nvPr/>
        </p:nvSpPr>
        <p:spPr>
          <a:xfrm>
            <a:off x="4480560" y="4206240"/>
            <a:ext cx="3246120" cy="658368"/>
          </a:xfrm>
          <a:prstGeom prst="rect">
            <a:avLst/>
          </a:prstGeom>
          <a:noFill/>
          <a:ln/>
        </p:spPr>
        <p:txBody>
          <a:bodyPr wrap="square" lIns="0" tIns="0" rIns="0" bIns="0" rtlCol="0" anchor="t"/>
          <a:lstStyle/>
          <a:p>
            <a:pPr marL="0" indent="0">
              <a:lnSpc>
                <a:spcPct val="110000"/>
              </a:lnSpc>
              <a:buNone/>
            </a:pPr>
            <a:r>
              <a:rPr lang="en-US" sz="950" i="1" dirty="0">
                <a:solidFill>
                  <a:srgbClr val="5B7280"/>
                </a:solidFill>
                <a:latin typeface="Arial" pitchFamily="34" charset="0"/>
                <a:ea typeface="Arial" pitchFamily="34" charset="-122"/>
                <a:cs typeface="Arial" pitchFamily="34" charset="-120"/>
              </a:rPr>
              <a:t>Toàn bộ điểm mỗi lớp đóng góp vào vị trí đường (giả định Gaussian).</a:t>
            </a:r>
            <a:endParaRPr lang="en-US" sz="950" dirty="0"/>
          </a:p>
        </p:txBody>
      </p:sp>
      <p:sp>
        <p:nvSpPr>
          <p:cNvPr id="55" name="Text 53"/>
          <p:cNvSpPr/>
          <p:nvPr/>
        </p:nvSpPr>
        <p:spPr>
          <a:xfrm>
            <a:off x="8275320" y="4206240"/>
            <a:ext cx="3246120" cy="658368"/>
          </a:xfrm>
          <a:prstGeom prst="rect">
            <a:avLst/>
          </a:prstGeom>
          <a:noFill/>
          <a:ln/>
        </p:spPr>
        <p:txBody>
          <a:bodyPr wrap="square" lIns="0" tIns="0" rIns="0" bIns="0" rtlCol="0" anchor="t"/>
          <a:lstStyle/>
          <a:p>
            <a:pPr marL="0" indent="0">
              <a:lnSpc>
                <a:spcPct val="110000"/>
              </a:lnSpc>
              <a:buNone/>
            </a:pPr>
            <a:r>
              <a:rPr lang="en-US" sz="950" i="1" dirty="0">
                <a:solidFill>
                  <a:srgbClr val="5B7280"/>
                </a:solidFill>
                <a:latin typeface="Arial" pitchFamily="34" charset="0"/>
                <a:ea typeface="Arial" pitchFamily="34" charset="-122"/>
                <a:cs typeface="Arial" pitchFamily="34" charset="-120"/>
              </a:rPr>
              <a:t>Không ranh giới cố định — mỗi điểm mới tự xét k láng giềng rồi biểu quyết.</a:t>
            </a:r>
            <a:endParaRPr lang="en-US" sz="950" dirty="0"/>
          </a:p>
        </p:txBody>
      </p:sp>
      <p:sp>
        <p:nvSpPr>
          <p:cNvPr id="56" name="Shape 54"/>
          <p:cNvSpPr/>
          <p:nvPr/>
        </p:nvSpPr>
        <p:spPr>
          <a:xfrm>
            <a:off x="548640" y="5212080"/>
            <a:ext cx="11109960" cy="960120"/>
          </a:xfrm>
          <a:prstGeom prst="roundRect">
            <a:avLst>
              <a:gd name="adj" fmla="val 8571"/>
            </a:avLst>
          </a:prstGeom>
          <a:solidFill>
            <a:srgbClr val="0B2A4A"/>
          </a:solidFill>
          <a:ln/>
        </p:spPr>
      </p:sp>
      <p:sp>
        <p:nvSpPr>
          <p:cNvPr id="57" name="Text 55"/>
          <p:cNvSpPr/>
          <p:nvPr/>
        </p:nvSpPr>
        <p:spPr>
          <a:xfrm>
            <a:off x="822960" y="5212080"/>
            <a:ext cx="10561320" cy="960120"/>
          </a:xfrm>
          <a:prstGeom prst="rect">
            <a:avLst/>
          </a:prstGeom>
          <a:noFill/>
          <a:ln/>
        </p:spPr>
        <p:txBody>
          <a:bodyPr wrap="square" lIns="0" tIns="0" rIns="0" bIns="0" rtlCol="0" anchor="ctr"/>
          <a:lstStyle/>
          <a:p>
            <a:pPr marL="0" indent="0">
              <a:lnSpc>
                <a:spcPct val="115000"/>
              </a:lnSpc>
              <a:buNone/>
            </a:pPr>
            <a:r>
              <a:rPr lang="en-US" sz="1100" b="1" dirty="0">
                <a:solidFill>
                  <a:srgbClr val="6FD3C9"/>
                </a:solidFill>
                <a:latin typeface="Arial" pitchFamily="34" charset="0"/>
                <a:ea typeface="Arial" pitchFamily="34" charset="-122"/>
                <a:cs typeface="Arial" pitchFamily="34" charset="-120"/>
              </a:rPr>
              <a:t>Kết quả trong bài (Table 2 — F1): </a:t>
            </a:r>
            <a:r>
              <a:rPr lang="en-US" sz="1050" dirty="0">
                <a:solidFill>
                  <a:srgbClr val="D6E7E5"/>
                </a:solidFill>
                <a:latin typeface="Arial" pitchFamily="34" charset="0"/>
                <a:ea typeface="Arial" pitchFamily="34" charset="-122"/>
                <a:cs typeface="Arial" pitchFamily="34" charset="-120"/>
              </a:rPr>
              <a:t>SVM-RBF 0,747 · SVM-Linear 0,895 · LDA 0,909 · KNN 0,954 (tốt nhất). LDA dùng toàn bộ dữ liệu nên tận dụng tốt thống kê chung; KNN nắm bắt cụm cục bộ tốt hơn khi ranh giới không hoàn toàn tuyến tính.</a:t>
            </a:r>
            <a:endParaRPr lang="en-US" sz="1100" dirty="0"/>
          </a:p>
        </p:txBody>
      </p:sp>
      <p:sp>
        <p:nvSpPr>
          <p:cNvPr id="58" name="Text 56"/>
          <p:cNvSpPr/>
          <p:nvPr/>
        </p:nvSpPr>
        <p:spPr>
          <a:xfrm>
            <a:off x="502920" y="6473952"/>
            <a:ext cx="5486400" cy="274320"/>
          </a:xfrm>
          <a:prstGeom prst="rect">
            <a:avLst/>
          </a:prstGeom>
          <a:noFill/>
          <a:ln/>
        </p:spPr>
        <p:txBody>
          <a:bodyPr wrap="square" lIns="0" tIns="0" rIns="0" bIns="0" rtlCol="0" anchor="ctr"/>
          <a:lstStyle/>
          <a:p>
            <a:pPr marL="0" indent="0">
              <a:buNone/>
            </a:pPr>
            <a:r>
              <a:rPr lang="en-US" sz="900" dirty="0">
                <a:solidFill>
                  <a:srgbClr val="5B7280"/>
                </a:solidFill>
                <a:latin typeface="Arial" pitchFamily="34" charset="0"/>
                <a:ea typeface="Arial" pitchFamily="34" charset="-122"/>
                <a:cs typeface="Arial" pitchFamily="34" charset="-120"/>
              </a:rPr>
              <a:t>sEMG Fatigue Detection · Springer 2025</a:t>
            </a:r>
            <a:endParaRPr lang="en-US" sz="900" dirty="0"/>
          </a:p>
        </p:txBody>
      </p:sp>
      <p:sp>
        <p:nvSpPr>
          <p:cNvPr id="59" name="Text 57"/>
          <p:cNvSpPr/>
          <p:nvPr/>
        </p:nvSpPr>
        <p:spPr>
          <a:xfrm>
            <a:off x="11277295" y="6473952"/>
            <a:ext cx="411480" cy="274320"/>
          </a:xfrm>
          <a:prstGeom prst="rect">
            <a:avLst/>
          </a:prstGeom>
          <a:noFill/>
          <a:ln/>
        </p:spPr>
        <p:txBody>
          <a:bodyPr wrap="square" lIns="0" tIns="0" rIns="0" bIns="0" rtlCol="0" anchor="ctr"/>
          <a:lstStyle/>
          <a:p>
            <a:pPr marL="0" indent="0" algn="r">
              <a:buNone/>
            </a:pPr>
            <a:r>
              <a:rPr lang="en-US" sz="900" dirty="0">
                <a:solidFill>
                  <a:srgbClr val="5B7280"/>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marL="0" indent="0">
              <a:buNone/>
            </a:pPr>
            <a:r>
              <a:rPr lang="en-US" sz="1250" b="1" kern="0" spc="200" dirty="0">
                <a:solidFill>
                  <a:srgbClr val="028090"/>
                </a:solidFill>
                <a:latin typeface="Arial" pitchFamily="34" charset="0"/>
                <a:ea typeface="Arial" pitchFamily="34" charset="-122"/>
                <a:cs typeface="Arial" pitchFamily="34" charset="-120"/>
              </a:rPr>
              <a:t>03 · GIẢI THÍCH THUẬT TOÁN</a:t>
            </a:r>
            <a:endParaRPr lang="en-US" sz="1250" dirty="0"/>
          </a:p>
        </p:txBody>
      </p:sp>
      <p:sp>
        <p:nvSpPr>
          <p:cNvPr id="3" name="Text 1"/>
          <p:cNvSpPr/>
          <p:nvPr/>
        </p:nvSpPr>
        <p:spPr>
          <a:xfrm>
            <a:off x="548640" y="822960"/>
            <a:ext cx="10972800" cy="731520"/>
          </a:xfrm>
          <a:prstGeom prst="rect">
            <a:avLst/>
          </a:prstGeom>
          <a:noFill/>
          <a:ln/>
        </p:spPr>
        <p:txBody>
          <a:bodyPr wrap="square" lIns="0" tIns="0" rIns="0" bIns="0" rtlCol="0" anchor="ctr"/>
          <a:lstStyle/>
          <a:p>
            <a:pPr marL="0" indent="0">
              <a:buNone/>
            </a:pPr>
            <a:r>
              <a:rPr lang="en-US" sz="2900" b="1" dirty="0">
                <a:solidFill>
                  <a:srgbClr val="0B2A4A"/>
                </a:solidFill>
                <a:latin typeface="Cambria" pitchFamily="34" charset="0"/>
                <a:ea typeface="Cambria" pitchFamily="34" charset="-122"/>
                <a:cs typeface="Cambria" pitchFamily="34" charset="-120"/>
              </a:rPr>
              <a:t>SVM — Support Vector Machine</a:t>
            </a:r>
            <a:endParaRPr lang="en-US" sz="2900" dirty="0"/>
          </a:p>
        </p:txBody>
      </p:sp>
      <p:sp>
        <p:nvSpPr>
          <p:cNvPr id="4" name="Text 2"/>
          <p:cNvSpPr/>
          <p:nvPr/>
        </p:nvSpPr>
        <p:spPr>
          <a:xfrm>
            <a:off x="548640" y="1691640"/>
            <a:ext cx="5486400" cy="292608"/>
          </a:xfrm>
          <a:prstGeom prst="rect">
            <a:avLst/>
          </a:prstGeom>
          <a:noFill/>
          <a:ln/>
        </p:spPr>
        <p:txBody>
          <a:bodyPr wrap="square" lIns="0" tIns="0" rIns="0" bIns="0" rtlCol="0" anchor="ctr"/>
          <a:lstStyle/>
          <a:p>
            <a:pPr marL="0" indent="0">
              <a:buNone/>
            </a:pPr>
            <a:r>
              <a:rPr lang="en-US" sz="1300" b="1" dirty="0">
                <a:solidFill>
                  <a:srgbClr val="028090"/>
                </a:solidFill>
                <a:latin typeface="Arial" pitchFamily="34" charset="0"/>
                <a:ea typeface="Arial" pitchFamily="34" charset="-122"/>
                <a:cs typeface="Arial" pitchFamily="34" charset="-120"/>
              </a:rPr>
              <a:t>Ý tưởng cốt lõi</a:t>
            </a:r>
            <a:endParaRPr lang="en-US" sz="1300" dirty="0"/>
          </a:p>
        </p:txBody>
      </p:sp>
      <p:sp>
        <p:nvSpPr>
          <p:cNvPr id="5" name="Text 3"/>
          <p:cNvSpPr/>
          <p:nvPr/>
        </p:nvSpPr>
        <p:spPr>
          <a:xfrm>
            <a:off x="548640" y="1993392"/>
            <a:ext cx="5486400" cy="777240"/>
          </a:xfrm>
          <a:prstGeom prst="rect">
            <a:avLst/>
          </a:prstGeom>
          <a:noFill/>
          <a:ln/>
        </p:spPr>
        <p:txBody>
          <a:bodyPr wrap="square" lIns="0" tIns="0" rIns="0" bIns="0" rtlCol="0" anchor="t"/>
          <a:lstStyle/>
          <a:p>
            <a:pPr marL="0" indent="0">
              <a:lnSpc>
                <a:spcPct val="120000"/>
              </a:lnSpc>
              <a:buNone/>
            </a:pPr>
            <a:r>
              <a:rPr lang="en-US" sz="1150" dirty="0">
                <a:solidFill>
                  <a:srgbClr val="12303F"/>
                </a:solidFill>
                <a:latin typeface="Arial" pitchFamily="34" charset="0"/>
                <a:ea typeface="Arial" pitchFamily="34" charset="-122"/>
                <a:cs typeface="Arial" pitchFamily="34" charset="-120"/>
              </a:rPr>
              <a:t>Tìm siêu phẳng phân tách 2 lớp sao cho khoảng cách (margin) đến điểm gần nhất của mỗi lớp là lớn nhất. Các điểm quyết định vị trí đường gọi là support vectors.</a:t>
            </a:r>
            <a:endParaRPr lang="en-US" sz="1150" dirty="0"/>
          </a:p>
        </p:txBody>
      </p:sp>
      <p:sp>
        <p:nvSpPr>
          <p:cNvPr id="6" name="Shape 4"/>
          <p:cNvSpPr/>
          <p:nvPr/>
        </p:nvSpPr>
        <p:spPr>
          <a:xfrm>
            <a:off x="548640" y="2834640"/>
            <a:ext cx="5486400" cy="777240"/>
          </a:xfrm>
          <a:prstGeom prst="roundRect">
            <a:avLst>
              <a:gd name="adj" fmla="val 7059"/>
            </a:avLst>
          </a:prstGeom>
          <a:solidFill>
            <a:srgbClr val="F1FAF9"/>
          </a:solidFill>
          <a:ln w="12700">
            <a:solidFill>
              <a:srgbClr val="D5E8E5"/>
            </a:solidFill>
            <a:prstDash val="solid"/>
          </a:ln>
        </p:spPr>
      </p:sp>
      <p:sp>
        <p:nvSpPr>
          <p:cNvPr id="7" name="Text 5"/>
          <p:cNvSpPr/>
          <p:nvPr/>
        </p:nvSpPr>
        <p:spPr>
          <a:xfrm>
            <a:off x="777240" y="2944368"/>
            <a:ext cx="5029200" cy="320040"/>
          </a:xfrm>
          <a:prstGeom prst="rect">
            <a:avLst/>
          </a:prstGeom>
          <a:noFill/>
          <a:ln/>
        </p:spPr>
        <p:txBody>
          <a:bodyPr wrap="square" lIns="0" tIns="0" rIns="0" bIns="0" rtlCol="0" anchor="ctr"/>
          <a:lstStyle/>
          <a:p>
            <a:pPr marL="0" indent="0">
              <a:buNone/>
            </a:pPr>
            <a:r>
              <a:rPr lang="en-US" sz="1500" b="1" dirty="0">
                <a:solidFill>
                  <a:srgbClr val="0B2A4A"/>
                </a:solidFill>
                <a:latin typeface="Consolas" pitchFamily="34" charset="0"/>
                <a:ea typeface="Consolas" pitchFamily="34" charset="-122"/>
                <a:cs typeface="Consolas" pitchFamily="34" charset="-120"/>
              </a:rPr>
              <a:t>w·x + b = 0</a:t>
            </a:r>
            <a:endParaRPr lang="en-US" sz="1500" dirty="0"/>
          </a:p>
        </p:txBody>
      </p:sp>
      <p:sp>
        <p:nvSpPr>
          <p:cNvPr id="8" name="Text 6"/>
          <p:cNvSpPr/>
          <p:nvPr/>
        </p:nvSpPr>
        <p:spPr>
          <a:xfrm>
            <a:off x="777240" y="3273552"/>
            <a:ext cx="5029200" cy="274320"/>
          </a:xfrm>
          <a:prstGeom prst="rect">
            <a:avLst/>
          </a:prstGeom>
          <a:noFill/>
          <a:ln/>
        </p:spPr>
        <p:txBody>
          <a:bodyPr wrap="square" lIns="0" tIns="0" rIns="0" bIns="0" rtlCol="0" anchor="ctr"/>
          <a:lstStyle/>
          <a:p>
            <a:pPr marL="0" indent="0">
              <a:buNone/>
            </a:pPr>
            <a:r>
              <a:rPr lang="en-US" sz="1000" dirty="0">
                <a:solidFill>
                  <a:srgbClr val="5B7280"/>
                </a:solidFill>
                <a:latin typeface="Arial" pitchFamily="34" charset="0"/>
                <a:ea typeface="Arial" pitchFamily="34" charset="-122"/>
                <a:cs typeface="Arial" pitchFamily="34" charset="-120"/>
              </a:rPr>
              <a:t>Siêu phẳng phân tách · tối đa hóa margin 2/‖w‖</a:t>
            </a:r>
            <a:endParaRPr lang="en-US" sz="1000" dirty="0"/>
          </a:p>
        </p:txBody>
      </p:sp>
      <p:sp>
        <p:nvSpPr>
          <p:cNvPr id="9" name="Text 7"/>
          <p:cNvSpPr/>
          <p:nvPr/>
        </p:nvSpPr>
        <p:spPr>
          <a:xfrm>
            <a:off x="548640" y="3794760"/>
            <a:ext cx="5486400" cy="292608"/>
          </a:xfrm>
          <a:prstGeom prst="rect">
            <a:avLst/>
          </a:prstGeom>
          <a:noFill/>
          <a:ln/>
        </p:spPr>
        <p:txBody>
          <a:bodyPr wrap="square" lIns="0" tIns="0" rIns="0" bIns="0" rtlCol="0" anchor="ctr"/>
          <a:lstStyle/>
          <a:p>
            <a:pPr marL="0" indent="0">
              <a:buNone/>
            </a:pPr>
            <a:r>
              <a:rPr lang="en-US" sz="1300" b="1" dirty="0">
                <a:solidFill>
                  <a:srgbClr val="028090"/>
                </a:solidFill>
                <a:latin typeface="Arial" pitchFamily="34" charset="0"/>
                <a:ea typeface="Arial" pitchFamily="34" charset="-122"/>
                <a:cs typeface="Arial" pitchFamily="34" charset="-120"/>
              </a:rPr>
              <a:t>Kernel trick</a:t>
            </a:r>
            <a:endParaRPr lang="en-US" sz="1300" dirty="0"/>
          </a:p>
        </p:txBody>
      </p:sp>
      <p:sp>
        <p:nvSpPr>
          <p:cNvPr id="10" name="Text 8"/>
          <p:cNvSpPr/>
          <p:nvPr/>
        </p:nvSpPr>
        <p:spPr>
          <a:xfrm>
            <a:off x="548640" y="4114800"/>
            <a:ext cx="1737360" cy="365760"/>
          </a:xfrm>
          <a:prstGeom prst="rect">
            <a:avLst/>
          </a:prstGeom>
          <a:noFill/>
          <a:ln/>
        </p:spPr>
        <p:txBody>
          <a:bodyPr wrap="square" lIns="0" tIns="0" rIns="0" bIns="0" rtlCol="0" anchor="ctr"/>
          <a:lstStyle/>
          <a:p>
            <a:pPr marL="0" indent="0">
              <a:buNone/>
            </a:pPr>
            <a:r>
              <a:rPr lang="en-US" sz="1050" b="1" dirty="0">
                <a:solidFill>
                  <a:srgbClr val="0B2A4A"/>
                </a:solidFill>
                <a:latin typeface="Arial" pitchFamily="34" charset="0"/>
                <a:ea typeface="Arial" pitchFamily="34" charset="-122"/>
                <a:cs typeface="Arial" pitchFamily="34" charset="-120"/>
              </a:rPr>
              <a:t>Linear</a:t>
            </a:r>
            <a:endParaRPr lang="en-US" sz="1050" dirty="0"/>
          </a:p>
        </p:txBody>
      </p:sp>
      <p:sp>
        <p:nvSpPr>
          <p:cNvPr id="11" name="Text 9"/>
          <p:cNvSpPr/>
          <p:nvPr/>
        </p:nvSpPr>
        <p:spPr>
          <a:xfrm>
            <a:off x="2286000" y="4114800"/>
            <a:ext cx="1920240" cy="365760"/>
          </a:xfrm>
          <a:prstGeom prst="rect">
            <a:avLst/>
          </a:prstGeom>
          <a:noFill/>
          <a:ln/>
        </p:spPr>
        <p:txBody>
          <a:bodyPr wrap="square" lIns="0" tIns="0" rIns="0" bIns="0" rtlCol="0" anchor="ctr"/>
          <a:lstStyle/>
          <a:p>
            <a:pPr marL="0" indent="0">
              <a:buNone/>
            </a:pPr>
            <a:r>
              <a:rPr lang="en-US" sz="1000" dirty="0">
                <a:solidFill>
                  <a:srgbClr val="028090"/>
                </a:solidFill>
                <a:latin typeface="Consolas" pitchFamily="34" charset="0"/>
                <a:ea typeface="Consolas" pitchFamily="34" charset="-122"/>
                <a:cs typeface="Consolas" pitchFamily="34" charset="-120"/>
              </a:rPr>
              <a:t>K(xi,xj)=xi·xj</a:t>
            </a:r>
            <a:endParaRPr lang="en-US" sz="1000" dirty="0"/>
          </a:p>
        </p:txBody>
      </p:sp>
      <p:sp>
        <p:nvSpPr>
          <p:cNvPr id="12" name="Text 10"/>
          <p:cNvSpPr/>
          <p:nvPr/>
        </p:nvSpPr>
        <p:spPr>
          <a:xfrm>
            <a:off x="4206240" y="4114800"/>
            <a:ext cx="1828800" cy="365760"/>
          </a:xfrm>
          <a:prstGeom prst="rect">
            <a:avLst/>
          </a:prstGeom>
          <a:noFill/>
          <a:ln/>
        </p:spPr>
        <p:txBody>
          <a:bodyPr wrap="square" lIns="0" tIns="0" rIns="0" bIns="0" rtlCol="0" anchor="ctr"/>
          <a:lstStyle/>
          <a:p>
            <a:pPr marL="0" indent="0">
              <a:lnSpc>
                <a:spcPct val="100000"/>
              </a:lnSpc>
              <a:buNone/>
            </a:pPr>
            <a:r>
              <a:rPr lang="en-US" sz="900" dirty="0">
                <a:solidFill>
                  <a:srgbClr val="5B7280"/>
                </a:solidFill>
                <a:latin typeface="Arial" pitchFamily="34" charset="0"/>
                <a:ea typeface="Arial" pitchFamily="34" charset="-122"/>
                <a:cs typeface="Arial" pitchFamily="34" charset="-120"/>
              </a:rPr>
              <a:t>Ranh giới thẳng, dữ liệu gần tuyến tính</a:t>
            </a:r>
            <a:endParaRPr lang="en-US" sz="900" dirty="0"/>
          </a:p>
        </p:txBody>
      </p:sp>
      <p:sp>
        <p:nvSpPr>
          <p:cNvPr id="13" name="Text 11"/>
          <p:cNvSpPr/>
          <p:nvPr/>
        </p:nvSpPr>
        <p:spPr>
          <a:xfrm>
            <a:off x="548640" y="4498848"/>
            <a:ext cx="1737360" cy="365760"/>
          </a:xfrm>
          <a:prstGeom prst="rect">
            <a:avLst/>
          </a:prstGeom>
          <a:noFill/>
          <a:ln/>
        </p:spPr>
        <p:txBody>
          <a:bodyPr wrap="square" lIns="0" tIns="0" rIns="0" bIns="0" rtlCol="0" anchor="ctr"/>
          <a:lstStyle/>
          <a:p>
            <a:pPr marL="0" indent="0">
              <a:buNone/>
            </a:pPr>
            <a:r>
              <a:rPr lang="en-US" sz="1050" b="1" dirty="0">
                <a:solidFill>
                  <a:srgbClr val="0B2A4A"/>
                </a:solidFill>
                <a:latin typeface="Arial" pitchFamily="34" charset="0"/>
                <a:ea typeface="Arial" pitchFamily="34" charset="-122"/>
                <a:cs typeface="Arial" pitchFamily="34" charset="-120"/>
              </a:rPr>
              <a:t>RBF (BME 2025)</a:t>
            </a:r>
            <a:endParaRPr lang="en-US" sz="1050" dirty="0"/>
          </a:p>
        </p:txBody>
      </p:sp>
      <p:sp>
        <p:nvSpPr>
          <p:cNvPr id="14" name="Text 12"/>
          <p:cNvSpPr/>
          <p:nvPr/>
        </p:nvSpPr>
        <p:spPr>
          <a:xfrm>
            <a:off x="2286000" y="4498848"/>
            <a:ext cx="1920240" cy="365760"/>
          </a:xfrm>
          <a:prstGeom prst="rect">
            <a:avLst/>
          </a:prstGeom>
          <a:noFill/>
          <a:ln/>
        </p:spPr>
        <p:txBody>
          <a:bodyPr wrap="square" lIns="0" tIns="0" rIns="0" bIns="0" rtlCol="0" anchor="ctr"/>
          <a:lstStyle/>
          <a:p>
            <a:pPr marL="0" indent="0">
              <a:buNone/>
            </a:pPr>
            <a:r>
              <a:rPr lang="en-US" sz="1000" dirty="0">
                <a:solidFill>
                  <a:srgbClr val="028090"/>
                </a:solidFill>
                <a:latin typeface="Consolas" pitchFamily="34" charset="0"/>
                <a:ea typeface="Consolas" pitchFamily="34" charset="-122"/>
                <a:cs typeface="Consolas" pitchFamily="34" charset="-120"/>
              </a:rPr>
              <a:t>K=exp(-γ‖xi-xj‖²)</a:t>
            </a:r>
            <a:endParaRPr lang="en-US" sz="1000" dirty="0"/>
          </a:p>
        </p:txBody>
      </p:sp>
      <p:sp>
        <p:nvSpPr>
          <p:cNvPr id="15" name="Text 13"/>
          <p:cNvSpPr/>
          <p:nvPr/>
        </p:nvSpPr>
        <p:spPr>
          <a:xfrm>
            <a:off x="4206240" y="4498848"/>
            <a:ext cx="1828800" cy="365760"/>
          </a:xfrm>
          <a:prstGeom prst="rect">
            <a:avLst/>
          </a:prstGeom>
          <a:noFill/>
          <a:ln/>
        </p:spPr>
        <p:txBody>
          <a:bodyPr wrap="square" lIns="0" tIns="0" rIns="0" bIns="0" rtlCol="0" anchor="ctr"/>
          <a:lstStyle/>
          <a:p>
            <a:pPr marL="0" indent="0">
              <a:lnSpc>
                <a:spcPct val="100000"/>
              </a:lnSpc>
              <a:buNone/>
            </a:pPr>
            <a:r>
              <a:rPr lang="en-US" sz="900" dirty="0">
                <a:solidFill>
                  <a:srgbClr val="5B7280"/>
                </a:solidFill>
                <a:latin typeface="Arial" pitchFamily="34" charset="0"/>
                <a:ea typeface="Arial" pitchFamily="34" charset="-122"/>
                <a:cs typeface="Arial" pitchFamily="34" charset="-120"/>
              </a:rPr>
              <a:t>Ranh giới cong, đo độ gần Euclid</a:t>
            </a:r>
            <a:endParaRPr lang="en-US" sz="900" dirty="0"/>
          </a:p>
        </p:txBody>
      </p:sp>
      <p:sp>
        <p:nvSpPr>
          <p:cNvPr id="16" name="Text 14"/>
          <p:cNvSpPr/>
          <p:nvPr/>
        </p:nvSpPr>
        <p:spPr>
          <a:xfrm>
            <a:off x="548640" y="4882896"/>
            <a:ext cx="1737360" cy="365760"/>
          </a:xfrm>
          <a:prstGeom prst="rect">
            <a:avLst/>
          </a:prstGeom>
          <a:noFill/>
          <a:ln/>
        </p:spPr>
        <p:txBody>
          <a:bodyPr wrap="square" lIns="0" tIns="0" rIns="0" bIns="0" rtlCol="0" anchor="ctr"/>
          <a:lstStyle/>
          <a:p>
            <a:pPr marL="0" indent="0">
              <a:buNone/>
            </a:pPr>
            <a:r>
              <a:rPr lang="en-US" sz="1050" b="1" dirty="0">
                <a:solidFill>
                  <a:srgbClr val="0B2A4A"/>
                </a:solidFill>
                <a:latin typeface="Arial" pitchFamily="34" charset="0"/>
                <a:ea typeface="Arial" pitchFamily="34" charset="-122"/>
                <a:cs typeface="Arial" pitchFamily="34" charset="-120"/>
              </a:rPr>
              <a:t>Gaussian (ICACE 2019)</a:t>
            </a:r>
            <a:endParaRPr lang="en-US" sz="1050" dirty="0"/>
          </a:p>
        </p:txBody>
      </p:sp>
      <p:sp>
        <p:nvSpPr>
          <p:cNvPr id="17" name="Text 15"/>
          <p:cNvSpPr/>
          <p:nvPr/>
        </p:nvSpPr>
        <p:spPr>
          <a:xfrm>
            <a:off x="2286000" y="4882896"/>
            <a:ext cx="1920240" cy="365760"/>
          </a:xfrm>
          <a:prstGeom prst="rect">
            <a:avLst/>
          </a:prstGeom>
          <a:noFill/>
          <a:ln/>
        </p:spPr>
        <p:txBody>
          <a:bodyPr wrap="square" lIns="0" tIns="0" rIns="0" bIns="0" rtlCol="0" anchor="ctr"/>
          <a:lstStyle/>
          <a:p>
            <a:pPr marL="0" indent="0">
              <a:buNone/>
            </a:pPr>
            <a:r>
              <a:rPr lang="en-US" sz="1000" dirty="0">
                <a:solidFill>
                  <a:srgbClr val="028090"/>
                </a:solidFill>
                <a:latin typeface="Consolas" pitchFamily="34" charset="0"/>
                <a:ea typeface="Consolas" pitchFamily="34" charset="-122"/>
                <a:cs typeface="Consolas" pitchFamily="34" charset="-120"/>
              </a:rPr>
              <a:t>Cùng công thức RBF</a:t>
            </a:r>
            <a:endParaRPr lang="en-US" sz="1000" dirty="0"/>
          </a:p>
        </p:txBody>
      </p:sp>
      <p:sp>
        <p:nvSpPr>
          <p:cNvPr id="18" name="Text 16"/>
          <p:cNvSpPr/>
          <p:nvPr/>
        </p:nvSpPr>
        <p:spPr>
          <a:xfrm>
            <a:off x="4206240" y="4882896"/>
            <a:ext cx="1828800" cy="365760"/>
          </a:xfrm>
          <a:prstGeom prst="rect">
            <a:avLst/>
          </a:prstGeom>
          <a:noFill/>
          <a:ln/>
        </p:spPr>
        <p:txBody>
          <a:bodyPr wrap="square" lIns="0" tIns="0" rIns="0" bIns="0" rtlCol="0" anchor="ctr"/>
          <a:lstStyle/>
          <a:p>
            <a:pPr marL="0" indent="0">
              <a:lnSpc>
                <a:spcPct val="100000"/>
              </a:lnSpc>
              <a:buNone/>
            </a:pPr>
            <a:r>
              <a:rPr lang="en-US" sz="900" dirty="0">
                <a:solidFill>
                  <a:srgbClr val="5B7280"/>
                </a:solidFill>
                <a:latin typeface="Arial" pitchFamily="34" charset="0"/>
                <a:ea typeface="Arial" pitchFamily="34" charset="-122"/>
                <a:cs typeface="Arial" pitchFamily="34" charset="-120"/>
              </a:rPr>
              <a:t>Tên gọi khác nhau, bản chất giống RBF</a:t>
            </a:r>
            <a:endParaRPr lang="en-US" sz="900" dirty="0"/>
          </a:p>
        </p:txBody>
      </p:sp>
      <p:sp>
        <p:nvSpPr>
          <p:cNvPr id="19" name="Text 17"/>
          <p:cNvSpPr/>
          <p:nvPr/>
        </p:nvSpPr>
        <p:spPr>
          <a:xfrm>
            <a:off x="6355080" y="1691640"/>
            <a:ext cx="5303520" cy="292608"/>
          </a:xfrm>
          <a:prstGeom prst="rect">
            <a:avLst/>
          </a:prstGeom>
          <a:noFill/>
          <a:ln/>
        </p:spPr>
        <p:txBody>
          <a:bodyPr wrap="square" lIns="0" tIns="0" rIns="0" bIns="0" rtlCol="0" anchor="ctr"/>
          <a:lstStyle/>
          <a:p>
            <a:pPr marL="0" indent="0">
              <a:buNone/>
            </a:pPr>
            <a:r>
              <a:rPr lang="en-US" sz="1300" b="1" dirty="0">
                <a:solidFill>
                  <a:srgbClr val="028090"/>
                </a:solidFill>
                <a:latin typeface="Arial" pitchFamily="34" charset="0"/>
                <a:ea typeface="Arial" pitchFamily="34" charset="-122"/>
                <a:cs typeface="Arial" pitchFamily="34" charset="-120"/>
              </a:rPr>
              <a:t>Siêu tham số</a:t>
            </a:r>
            <a:endParaRPr lang="en-US" sz="1300" dirty="0"/>
          </a:p>
        </p:txBody>
      </p:sp>
      <p:sp>
        <p:nvSpPr>
          <p:cNvPr id="20" name="Shape 18"/>
          <p:cNvSpPr/>
          <p:nvPr/>
        </p:nvSpPr>
        <p:spPr>
          <a:xfrm>
            <a:off x="6355080" y="2011680"/>
            <a:ext cx="5303520" cy="1051560"/>
          </a:xfrm>
          <a:prstGeom prst="roundRect">
            <a:avLst>
              <a:gd name="adj" fmla="val 5217"/>
            </a:avLst>
          </a:prstGeom>
          <a:solidFill>
            <a:srgbClr val="F1FAF9"/>
          </a:solidFill>
          <a:ln w="12700">
            <a:solidFill>
              <a:srgbClr val="D5E8E5"/>
            </a:solidFill>
            <a:prstDash val="solid"/>
          </a:ln>
        </p:spPr>
      </p:sp>
      <p:sp>
        <p:nvSpPr>
          <p:cNvPr id="21" name="Text 19"/>
          <p:cNvSpPr/>
          <p:nvPr/>
        </p:nvSpPr>
        <p:spPr>
          <a:xfrm>
            <a:off x="6583680" y="2011680"/>
            <a:ext cx="4846320" cy="1051560"/>
          </a:xfrm>
          <a:prstGeom prst="rect">
            <a:avLst/>
          </a:prstGeom>
          <a:noFill/>
          <a:ln/>
        </p:spPr>
        <p:txBody>
          <a:bodyPr wrap="square" lIns="0" tIns="0" rIns="0" bIns="0" rtlCol="0" anchor="ctr"/>
          <a:lstStyle/>
          <a:p>
            <a:pPr marL="0" indent="0">
              <a:lnSpc>
                <a:spcPct val="120000"/>
              </a:lnSpc>
              <a:buNone/>
            </a:pPr>
            <a:r>
              <a:rPr lang="en-US" sz="1100" b="1" dirty="0">
                <a:solidFill>
                  <a:srgbClr val="0B2A4A"/>
                </a:solidFill>
                <a:latin typeface="Arial" pitchFamily="34" charset="0"/>
                <a:ea typeface="Arial" pitchFamily="34" charset="-122"/>
                <a:cs typeface="Arial" pitchFamily="34" charset="-120"/>
              </a:rPr>
              <a:t>C </a:t>
            </a:r>
            <a:r>
              <a:rPr lang="en-US" sz="1050" dirty="0">
                <a:solidFill>
                  <a:srgbClr val="12303F"/>
                </a:solidFill>
                <a:latin typeface="Arial" pitchFamily="34" charset="0"/>
                <a:ea typeface="Arial" pitchFamily="34" charset="-122"/>
                <a:cs typeface="Arial" pitchFamily="34" charset="-120"/>
              </a:rPr>
              <a:t>— đánh đổi margin rộng (tổng quát) vs phân loại đúng hết train (dễ overfit).
</a:t>
            </a:r>
            <a:r>
              <a:rPr lang="en-US" sz="1100" b="1" dirty="0">
                <a:solidFill>
                  <a:srgbClr val="0B2A4A"/>
                </a:solidFill>
                <a:latin typeface="Arial" pitchFamily="34" charset="0"/>
                <a:ea typeface="Arial" pitchFamily="34" charset="-122"/>
                <a:cs typeface="Arial" pitchFamily="34" charset="-120"/>
              </a:rPr>
              <a:t>gamma </a:t>
            </a:r>
            <a:r>
              <a:rPr lang="en-US" sz="1050" dirty="0">
                <a:solidFill>
                  <a:srgbClr val="12303F"/>
                </a:solidFill>
                <a:latin typeface="Arial" pitchFamily="34" charset="0"/>
                <a:ea typeface="Arial" pitchFamily="34" charset="-122"/>
                <a:cs typeface="Arial" pitchFamily="34" charset="-120"/>
              </a:rPr>
              <a:t>(RBF/Gaussian) — độ ảnh hưởng cục bộ; lớn quá dễ học thuộc nhiễu.</a:t>
            </a:r>
            <a:endParaRPr lang="en-US" sz="1100" dirty="0"/>
          </a:p>
        </p:txBody>
      </p:sp>
      <p:sp>
        <p:nvSpPr>
          <p:cNvPr id="22" name="Text 20"/>
          <p:cNvSpPr/>
          <p:nvPr/>
        </p:nvSpPr>
        <p:spPr>
          <a:xfrm>
            <a:off x="6355080" y="3246120"/>
            <a:ext cx="5303520" cy="292608"/>
          </a:xfrm>
          <a:prstGeom prst="rect">
            <a:avLst/>
          </a:prstGeom>
          <a:noFill/>
          <a:ln/>
        </p:spPr>
        <p:txBody>
          <a:bodyPr wrap="square" lIns="0" tIns="0" rIns="0" bIns="0" rtlCol="0" anchor="ctr"/>
          <a:lstStyle/>
          <a:p>
            <a:pPr marL="0" indent="0">
              <a:buNone/>
            </a:pPr>
            <a:r>
              <a:rPr lang="en-US" sz="1300" b="1" dirty="0">
                <a:solidFill>
                  <a:srgbClr val="028090"/>
                </a:solidFill>
                <a:latin typeface="Arial" pitchFamily="34" charset="0"/>
                <a:ea typeface="Arial" pitchFamily="34" charset="-122"/>
                <a:cs typeface="Arial" pitchFamily="34" charset="-120"/>
              </a:rPr>
              <a:t>Đối chiếu kết quả thực tế</a:t>
            </a:r>
            <a:endParaRPr lang="en-US" sz="1300" dirty="0"/>
          </a:p>
        </p:txBody>
      </p:sp>
      <p:sp>
        <p:nvSpPr>
          <p:cNvPr id="23" name="Shape 21"/>
          <p:cNvSpPr/>
          <p:nvPr/>
        </p:nvSpPr>
        <p:spPr>
          <a:xfrm>
            <a:off x="6355080" y="3566160"/>
            <a:ext cx="5303520" cy="2514600"/>
          </a:xfrm>
          <a:prstGeom prst="roundRect">
            <a:avLst>
              <a:gd name="adj" fmla="val 2909"/>
            </a:avLst>
          </a:prstGeom>
          <a:solidFill>
            <a:srgbClr val="0B2A4A"/>
          </a:solidFill>
          <a:ln/>
        </p:spPr>
      </p:sp>
      <p:sp>
        <p:nvSpPr>
          <p:cNvPr id="24" name="Text 22"/>
          <p:cNvSpPr/>
          <p:nvPr/>
        </p:nvSpPr>
        <p:spPr>
          <a:xfrm>
            <a:off x="6583680" y="3566160"/>
            <a:ext cx="4846320" cy="2514600"/>
          </a:xfrm>
          <a:prstGeom prst="rect">
            <a:avLst/>
          </a:prstGeom>
          <a:noFill/>
          <a:ln/>
        </p:spPr>
        <p:txBody>
          <a:bodyPr wrap="square" lIns="0" tIns="0" rIns="0" bIns="0" rtlCol="0" anchor="ctr"/>
          <a:lstStyle/>
          <a:p>
            <a:pPr marL="0" indent="0">
              <a:lnSpc>
                <a:spcPct val="115000"/>
              </a:lnSpc>
              <a:buNone/>
            </a:pPr>
            <a:r>
              <a:rPr lang="en-US" sz="1100" b="1" dirty="0">
                <a:solidFill>
                  <a:srgbClr val="6FD3C9"/>
                </a:solidFill>
                <a:latin typeface="Arial" pitchFamily="34" charset="0"/>
                <a:ea typeface="Arial" pitchFamily="34" charset="-122"/>
                <a:cs typeface="Arial" pitchFamily="34" charset="-120"/>
              </a:rPr>
              <a:t>SVM-RBF (BME 2025): </a:t>
            </a:r>
            <a:r>
              <a:rPr lang="en-US" sz="1050" dirty="0">
                <a:solidFill>
                  <a:srgbClr val="D6E7E5"/>
                </a:solidFill>
                <a:latin typeface="Arial" pitchFamily="34" charset="0"/>
                <a:ea typeface="Arial" pitchFamily="34" charset="-122"/>
                <a:cs typeface="Arial" pitchFamily="34" charset="-120"/>
              </a:rPr>
              <a:t>Precision=0,630 rất thấp, Recall=0,917 cao → quá dễ dãi khi báo mỏi, báo giả nhiều. F1 thấp nhất (0,747).
</a:t>
            </a:r>
            <a:r>
              <a:rPr lang="en-US" sz="1100" b="1" dirty="0">
                <a:solidFill>
                  <a:srgbClr val="6FD3C9"/>
                </a:solidFill>
                <a:latin typeface="Arial" pitchFamily="34" charset="0"/>
                <a:ea typeface="Arial" pitchFamily="34" charset="-122"/>
                <a:cs typeface="Arial" pitchFamily="34" charset="-120"/>
              </a:rPr>
              <a:t>SVM-Linear (BME 2025): </a:t>
            </a:r>
            <a:r>
              <a:rPr lang="en-US" sz="1050" dirty="0">
                <a:solidFill>
                  <a:srgbClr val="D6E7E5"/>
                </a:solidFill>
                <a:latin typeface="Arial" pitchFamily="34" charset="0"/>
                <a:ea typeface="Arial" pitchFamily="34" charset="-122"/>
                <a:cs typeface="Arial" pitchFamily="34" charset="-120"/>
              </a:rPr>
              <a:t>Ngược lại — Precision=0,953, Recall=0,843: thận trọng hơn, ít báo giả nhưng bỏ sót nhiều hơn.
</a:t>
            </a:r>
            <a:r>
              <a:rPr lang="en-US" sz="1100" b="1" dirty="0">
                <a:solidFill>
                  <a:srgbClr val="6FD3C9"/>
                </a:solidFill>
                <a:latin typeface="Arial" pitchFamily="34" charset="0"/>
                <a:ea typeface="Arial" pitchFamily="34" charset="-122"/>
                <a:cs typeface="Arial" pitchFamily="34" charset="-120"/>
              </a:rPr>
              <a:t>SVM-Gaussian (ICACE 2019): </a:t>
            </a:r>
            <a:r>
              <a:rPr lang="en-US" sz="1050" dirty="0">
                <a:solidFill>
                  <a:srgbClr val="D6E7E5"/>
                </a:solidFill>
                <a:latin typeface="Arial" pitchFamily="34" charset="0"/>
                <a:ea typeface="Arial" pitchFamily="34" charset="-122"/>
                <a:cs typeface="Arial" pitchFamily="34" charset="-120"/>
              </a:rPr>
              <a:t>Chỉ 2 đặc trưng (RMS+MAV), macro F1=0,807 — thấp hơn cả SVM-Linear 14 đặc trưng, cho thấy số đặc trưng ảnh hưởng nhiều hơn cả đổi kernel.</a:t>
            </a:r>
            <a:endParaRPr lang="en-US" sz="1100" dirty="0"/>
          </a:p>
        </p:txBody>
      </p:sp>
      <p:sp>
        <p:nvSpPr>
          <p:cNvPr id="25" name="Text 23"/>
          <p:cNvSpPr/>
          <p:nvPr/>
        </p:nvSpPr>
        <p:spPr>
          <a:xfrm>
            <a:off x="502920" y="6473952"/>
            <a:ext cx="5486400" cy="274320"/>
          </a:xfrm>
          <a:prstGeom prst="rect">
            <a:avLst/>
          </a:prstGeom>
          <a:noFill/>
          <a:ln/>
        </p:spPr>
        <p:txBody>
          <a:bodyPr wrap="square" lIns="0" tIns="0" rIns="0" bIns="0" rtlCol="0" anchor="ctr"/>
          <a:lstStyle/>
          <a:p>
            <a:pPr marL="0" indent="0">
              <a:buNone/>
            </a:pPr>
            <a:r>
              <a:rPr lang="en-US" sz="900" dirty="0">
                <a:solidFill>
                  <a:srgbClr val="5B7280"/>
                </a:solidFill>
                <a:latin typeface="Arial" pitchFamily="34" charset="0"/>
                <a:ea typeface="Arial" pitchFamily="34" charset="-122"/>
                <a:cs typeface="Arial" pitchFamily="34" charset="-120"/>
              </a:rPr>
              <a:t>sEMG Fatigue Detection · Springer 2025</a:t>
            </a:r>
            <a:endParaRPr lang="en-US" sz="900" dirty="0"/>
          </a:p>
        </p:txBody>
      </p:sp>
      <p:sp>
        <p:nvSpPr>
          <p:cNvPr id="26" name="Text 24"/>
          <p:cNvSpPr/>
          <p:nvPr/>
        </p:nvSpPr>
        <p:spPr>
          <a:xfrm>
            <a:off x="11277295" y="6473952"/>
            <a:ext cx="411480" cy="274320"/>
          </a:xfrm>
          <a:prstGeom prst="rect">
            <a:avLst/>
          </a:prstGeom>
          <a:noFill/>
          <a:ln/>
        </p:spPr>
        <p:txBody>
          <a:bodyPr wrap="square" lIns="0" tIns="0" rIns="0" bIns="0" rtlCol="0" anchor="ctr"/>
          <a:lstStyle/>
          <a:p>
            <a:pPr marL="0" indent="0" algn="r">
              <a:buNone/>
            </a:pPr>
            <a:r>
              <a:rPr lang="en-US" sz="900" dirty="0">
                <a:solidFill>
                  <a:srgbClr val="5B7280"/>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AF9"/>
        </a:solidFill>
        <a:effectLst/>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marL="0" indent="0">
              <a:buNone/>
            </a:pPr>
            <a:r>
              <a:rPr lang="en-US" sz="1250" b="1" kern="0" spc="200" dirty="0">
                <a:solidFill>
                  <a:srgbClr val="028090"/>
                </a:solidFill>
                <a:latin typeface="Arial" pitchFamily="34" charset="0"/>
                <a:ea typeface="Arial" pitchFamily="34" charset="-122"/>
                <a:cs typeface="Arial" pitchFamily="34" charset="-120"/>
              </a:rPr>
              <a:t>03 · GIẢI THÍCH THUẬT TOÁN</a:t>
            </a:r>
            <a:endParaRPr lang="en-US" sz="1250" dirty="0"/>
          </a:p>
        </p:txBody>
      </p:sp>
      <p:sp>
        <p:nvSpPr>
          <p:cNvPr id="3" name="Text 1"/>
          <p:cNvSpPr/>
          <p:nvPr/>
        </p:nvSpPr>
        <p:spPr>
          <a:xfrm>
            <a:off x="548640" y="822960"/>
            <a:ext cx="10972800" cy="731520"/>
          </a:xfrm>
          <a:prstGeom prst="rect">
            <a:avLst/>
          </a:prstGeom>
          <a:noFill/>
          <a:ln/>
        </p:spPr>
        <p:txBody>
          <a:bodyPr wrap="square" lIns="0" tIns="0" rIns="0" bIns="0" rtlCol="0" anchor="ctr"/>
          <a:lstStyle/>
          <a:p>
            <a:pPr marL="0" indent="0">
              <a:buNone/>
            </a:pPr>
            <a:r>
              <a:rPr lang="en-US" sz="2900" b="1" dirty="0">
                <a:solidFill>
                  <a:srgbClr val="0B2A4A"/>
                </a:solidFill>
                <a:latin typeface="Cambria" pitchFamily="34" charset="0"/>
                <a:ea typeface="Cambria" pitchFamily="34" charset="-122"/>
                <a:cs typeface="Cambria" pitchFamily="34" charset="-120"/>
              </a:rPr>
              <a:t>LDA — Linear Discriminant Analysis</a:t>
            </a:r>
            <a:endParaRPr lang="en-US" sz="2900" dirty="0"/>
          </a:p>
        </p:txBody>
      </p:sp>
      <p:sp>
        <p:nvSpPr>
          <p:cNvPr id="4" name="Text 2"/>
          <p:cNvSpPr/>
          <p:nvPr/>
        </p:nvSpPr>
        <p:spPr>
          <a:xfrm>
            <a:off x="548640" y="1691640"/>
            <a:ext cx="5486400" cy="292608"/>
          </a:xfrm>
          <a:prstGeom prst="rect">
            <a:avLst/>
          </a:prstGeom>
          <a:noFill/>
          <a:ln/>
        </p:spPr>
        <p:txBody>
          <a:bodyPr wrap="square" lIns="0" tIns="0" rIns="0" bIns="0" rtlCol="0" anchor="ctr"/>
          <a:lstStyle/>
          <a:p>
            <a:pPr marL="0" indent="0">
              <a:buNone/>
            </a:pPr>
            <a:r>
              <a:rPr lang="en-US" sz="1300" b="1" dirty="0">
                <a:solidFill>
                  <a:srgbClr val="028090"/>
                </a:solidFill>
                <a:latin typeface="Arial" pitchFamily="34" charset="0"/>
                <a:ea typeface="Arial" pitchFamily="34" charset="-122"/>
                <a:cs typeface="Arial" pitchFamily="34" charset="-120"/>
              </a:rPr>
              <a:t>Ý tưởng cốt lõi</a:t>
            </a:r>
            <a:endParaRPr lang="en-US" sz="1300" dirty="0"/>
          </a:p>
        </p:txBody>
      </p:sp>
      <p:sp>
        <p:nvSpPr>
          <p:cNvPr id="5" name="Text 3"/>
          <p:cNvSpPr/>
          <p:nvPr/>
        </p:nvSpPr>
        <p:spPr>
          <a:xfrm>
            <a:off x="548640" y="1993392"/>
            <a:ext cx="5486400" cy="822960"/>
          </a:xfrm>
          <a:prstGeom prst="rect">
            <a:avLst/>
          </a:prstGeom>
          <a:noFill/>
          <a:ln/>
        </p:spPr>
        <p:txBody>
          <a:bodyPr wrap="square" lIns="0" tIns="0" rIns="0" bIns="0" rtlCol="0" anchor="t"/>
          <a:lstStyle/>
          <a:p>
            <a:pPr marL="0" indent="0">
              <a:lnSpc>
                <a:spcPct val="120000"/>
              </a:lnSpc>
              <a:buNone/>
            </a:pPr>
            <a:r>
              <a:rPr lang="en-US" sz="1150" dirty="0">
                <a:solidFill>
                  <a:srgbClr val="12303F"/>
                </a:solidFill>
                <a:latin typeface="Arial" pitchFamily="34" charset="0"/>
                <a:ea typeface="Arial" pitchFamily="34" charset="-122"/>
                <a:cs typeface="Arial" pitchFamily="34" charset="-120"/>
              </a:rPr>
              <a:t>Tìm hướng chiếu w sao cho khoảng cách giữa tâm 2 lớp là lớn nhất, đồng thời phương sai trong từng lớp là nhỏ nhất. Dùng toàn bộ điểm dữ liệu, không chỉ điểm biên như SVM.</a:t>
            </a:r>
            <a:endParaRPr lang="en-US" sz="1150" dirty="0"/>
          </a:p>
        </p:txBody>
      </p:sp>
      <p:sp>
        <p:nvSpPr>
          <p:cNvPr id="6" name="Shape 4"/>
          <p:cNvSpPr/>
          <p:nvPr/>
        </p:nvSpPr>
        <p:spPr>
          <a:xfrm>
            <a:off x="548640" y="2880360"/>
            <a:ext cx="5486400" cy="1051560"/>
          </a:xfrm>
          <a:prstGeom prst="roundRect">
            <a:avLst>
              <a:gd name="adj" fmla="val 5217"/>
            </a:avLst>
          </a:prstGeom>
          <a:solidFill>
            <a:srgbClr val="FFFFFF"/>
          </a:solidFill>
          <a:ln w="12700">
            <a:solidFill>
              <a:srgbClr val="D5E8E5"/>
            </a:solidFill>
            <a:prstDash val="solid"/>
          </a:ln>
        </p:spPr>
      </p:sp>
      <p:sp>
        <p:nvSpPr>
          <p:cNvPr id="7" name="Text 5"/>
          <p:cNvSpPr/>
          <p:nvPr/>
        </p:nvSpPr>
        <p:spPr>
          <a:xfrm>
            <a:off x="777240" y="2990088"/>
            <a:ext cx="5029200" cy="320040"/>
          </a:xfrm>
          <a:prstGeom prst="rect">
            <a:avLst/>
          </a:prstGeom>
          <a:noFill/>
          <a:ln/>
        </p:spPr>
        <p:txBody>
          <a:bodyPr wrap="square" lIns="0" tIns="0" rIns="0" bIns="0" rtlCol="0" anchor="ctr"/>
          <a:lstStyle/>
          <a:p>
            <a:pPr marL="0" indent="0">
              <a:buNone/>
            </a:pPr>
            <a:r>
              <a:rPr lang="en-US" sz="1400" b="1" dirty="0">
                <a:solidFill>
                  <a:srgbClr val="0B2A4A"/>
                </a:solidFill>
                <a:latin typeface="Consolas" pitchFamily="34" charset="0"/>
                <a:ea typeface="Consolas" pitchFamily="34" charset="-122"/>
                <a:cs typeface="Consolas" pitchFamily="34" charset="-120"/>
              </a:rPr>
              <a:t>J(w) = wᵀSв w / wᵀSw w</a:t>
            </a:r>
            <a:endParaRPr lang="en-US" sz="1400" dirty="0"/>
          </a:p>
        </p:txBody>
      </p:sp>
      <p:sp>
        <p:nvSpPr>
          <p:cNvPr id="8" name="Text 6"/>
          <p:cNvSpPr/>
          <p:nvPr/>
        </p:nvSpPr>
        <p:spPr>
          <a:xfrm>
            <a:off x="777240" y="3310128"/>
            <a:ext cx="5029200" cy="256032"/>
          </a:xfrm>
          <a:prstGeom prst="rect">
            <a:avLst/>
          </a:prstGeom>
          <a:noFill/>
          <a:ln/>
        </p:spPr>
        <p:txBody>
          <a:bodyPr wrap="square" lIns="0" tIns="0" rIns="0" bIns="0" rtlCol="0" anchor="ctr"/>
          <a:lstStyle/>
          <a:p>
            <a:pPr marL="0" indent="0">
              <a:buNone/>
            </a:pPr>
            <a:r>
              <a:rPr lang="en-US" sz="950" dirty="0">
                <a:solidFill>
                  <a:srgbClr val="5B7280"/>
                </a:solidFill>
                <a:latin typeface="Arial" pitchFamily="34" charset="0"/>
                <a:ea typeface="Arial" pitchFamily="34" charset="-122"/>
                <a:cs typeface="Arial" pitchFamily="34" charset="-120"/>
              </a:rPr>
              <a:t>Tỉ số Fisher — Sв: phân tán giữa lớp, Sw: phân tán trong lớp</a:t>
            </a:r>
            <a:endParaRPr lang="en-US" sz="950" dirty="0"/>
          </a:p>
        </p:txBody>
      </p:sp>
      <p:sp>
        <p:nvSpPr>
          <p:cNvPr id="9" name="Text 7"/>
          <p:cNvSpPr/>
          <p:nvPr/>
        </p:nvSpPr>
        <p:spPr>
          <a:xfrm>
            <a:off x="777240" y="3584448"/>
            <a:ext cx="5029200" cy="292608"/>
          </a:xfrm>
          <a:prstGeom prst="rect">
            <a:avLst/>
          </a:prstGeom>
          <a:noFill/>
          <a:ln/>
        </p:spPr>
        <p:txBody>
          <a:bodyPr wrap="square" lIns="0" tIns="0" rIns="0" bIns="0" rtlCol="0" anchor="ctr"/>
          <a:lstStyle/>
          <a:p>
            <a:pPr marL="0" indent="0">
              <a:buNone/>
            </a:pPr>
            <a:r>
              <a:rPr lang="en-US" sz="1250" b="1" dirty="0">
                <a:solidFill>
                  <a:srgbClr val="028090"/>
                </a:solidFill>
                <a:latin typeface="Consolas" pitchFamily="34" charset="0"/>
                <a:ea typeface="Consolas" pitchFamily="34" charset="-122"/>
                <a:cs typeface="Consolas" pitchFamily="34" charset="-120"/>
              </a:rPr>
              <a:t>w = Sw⁻¹(μ₁ − μ₂)</a:t>
            </a:r>
            <a:endParaRPr lang="en-US" sz="1250" dirty="0"/>
          </a:p>
        </p:txBody>
      </p:sp>
      <p:sp>
        <p:nvSpPr>
          <p:cNvPr id="10" name="Text 8"/>
          <p:cNvSpPr/>
          <p:nvPr/>
        </p:nvSpPr>
        <p:spPr>
          <a:xfrm>
            <a:off x="548640" y="4114800"/>
            <a:ext cx="5486400" cy="292608"/>
          </a:xfrm>
          <a:prstGeom prst="rect">
            <a:avLst/>
          </a:prstGeom>
          <a:noFill/>
          <a:ln/>
        </p:spPr>
        <p:txBody>
          <a:bodyPr wrap="square" lIns="0" tIns="0" rIns="0" bIns="0" rtlCol="0" anchor="ctr"/>
          <a:lstStyle/>
          <a:p>
            <a:pPr marL="0" indent="0">
              <a:buNone/>
            </a:pPr>
            <a:r>
              <a:rPr lang="en-US" sz="1300" b="1" dirty="0">
                <a:solidFill>
                  <a:srgbClr val="028090"/>
                </a:solidFill>
                <a:latin typeface="Arial" pitchFamily="34" charset="0"/>
                <a:ea typeface="Arial" pitchFamily="34" charset="-122"/>
                <a:cs typeface="Arial" pitchFamily="34" charset="-120"/>
              </a:rPr>
              <a:t>Giả định quan trọng</a:t>
            </a:r>
            <a:endParaRPr lang="en-US" sz="1300" dirty="0"/>
          </a:p>
        </p:txBody>
      </p:sp>
      <p:sp>
        <p:nvSpPr>
          <p:cNvPr id="11" name="Text 9"/>
          <p:cNvSpPr/>
          <p:nvPr/>
        </p:nvSpPr>
        <p:spPr>
          <a:xfrm>
            <a:off x="548640" y="4434840"/>
            <a:ext cx="5486400" cy="914400"/>
          </a:xfrm>
          <a:prstGeom prst="rect">
            <a:avLst/>
          </a:prstGeom>
          <a:noFill/>
          <a:ln/>
        </p:spPr>
        <p:txBody>
          <a:bodyPr wrap="square" lIns="0" tIns="0" rIns="0" bIns="0" rtlCol="0" anchor="t"/>
          <a:lstStyle/>
          <a:p>
            <a:pPr marL="0" indent="0">
              <a:lnSpc>
                <a:spcPct val="120000"/>
              </a:lnSpc>
              <a:buNone/>
            </a:pPr>
            <a:r>
              <a:rPr lang="en-US" sz="1100" dirty="0">
                <a:solidFill>
                  <a:srgbClr val="12303F"/>
                </a:solidFill>
                <a:latin typeface="Arial" pitchFamily="34" charset="0"/>
                <a:ea typeface="Arial" pitchFamily="34" charset="-122"/>
                <a:cs typeface="Arial" pitchFamily="34" charset="-120"/>
              </a:rPr>
              <a:t>Dữ liệu mỗi lớp phân phối Gaussian, và hai lớp có cùng ma trận hiệp phương sai Σ. Nếu hình dạng phân tán hai lớp khác nhau nhiều, giả định bị vi phạm, hiệu suất giảm.</a:t>
            </a:r>
            <a:endParaRPr lang="en-US" sz="1100" dirty="0"/>
          </a:p>
        </p:txBody>
      </p:sp>
      <p:sp>
        <p:nvSpPr>
          <p:cNvPr id="12" name="Text 10"/>
          <p:cNvSpPr/>
          <p:nvPr/>
        </p:nvSpPr>
        <p:spPr>
          <a:xfrm>
            <a:off x="6355080" y="1691640"/>
            <a:ext cx="5303520" cy="502920"/>
          </a:xfrm>
          <a:prstGeom prst="rect">
            <a:avLst/>
          </a:prstGeom>
          <a:noFill/>
          <a:ln/>
        </p:spPr>
        <p:txBody>
          <a:bodyPr wrap="square" lIns="0" tIns="0" rIns="0" bIns="0" rtlCol="0" anchor="ctr"/>
          <a:lstStyle/>
          <a:p>
            <a:pPr marL="0" indent="0">
              <a:lnSpc>
                <a:spcPct val="105000"/>
              </a:lnSpc>
              <a:buNone/>
            </a:pPr>
            <a:r>
              <a:rPr lang="en-US" sz="1300" b="1" dirty="0">
                <a:solidFill>
                  <a:srgbClr val="028090"/>
                </a:solidFill>
                <a:latin typeface="Arial" pitchFamily="34" charset="0"/>
                <a:ea typeface="Arial" pitchFamily="34" charset="-122"/>
                <a:cs typeface="Arial" pitchFamily="34" charset="-120"/>
              </a:rPr>
              <a:t>SVM vs LDA — cùng ranh giới thẳng, khác cách đến</a:t>
            </a:r>
            <a:endParaRPr lang="en-US" sz="1300" dirty="0"/>
          </a:p>
        </p:txBody>
      </p:sp>
      <p:sp>
        <p:nvSpPr>
          <p:cNvPr id="13" name="Shape 11"/>
          <p:cNvSpPr/>
          <p:nvPr/>
        </p:nvSpPr>
        <p:spPr>
          <a:xfrm>
            <a:off x="6355080" y="2240280"/>
            <a:ext cx="5303520" cy="1280160"/>
          </a:xfrm>
          <a:prstGeom prst="roundRect">
            <a:avLst>
              <a:gd name="adj" fmla="val 4286"/>
            </a:avLst>
          </a:prstGeom>
          <a:solidFill>
            <a:srgbClr val="FFFFFF"/>
          </a:solidFill>
          <a:ln w="12700">
            <a:solidFill>
              <a:srgbClr val="D5E8E5"/>
            </a:solidFill>
            <a:prstDash val="solid"/>
          </a:ln>
        </p:spPr>
      </p:sp>
      <p:sp>
        <p:nvSpPr>
          <p:cNvPr id="14" name="Text 12"/>
          <p:cNvSpPr/>
          <p:nvPr/>
        </p:nvSpPr>
        <p:spPr>
          <a:xfrm>
            <a:off x="6583680" y="2240280"/>
            <a:ext cx="4846320" cy="1280160"/>
          </a:xfrm>
          <a:prstGeom prst="rect">
            <a:avLst/>
          </a:prstGeom>
          <a:noFill/>
          <a:ln/>
        </p:spPr>
        <p:txBody>
          <a:bodyPr wrap="square" lIns="0" tIns="0" rIns="0" bIns="0" rtlCol="0" anchor="ctr"/>
          <a:lstStyle/>
          <a:p>
            <a:pPr marL="0" indent="0">
              <a:lnSpc>
                <a:spcPct val="120000"/>
              </a:lnSpc>
              <a:buNone/>
            </a:pPr>
            <a:r>
              <a:rPr lang="en-US" sz="1100" b="1" dirty="0">
                <a:solidFill>
                  <a:srgbClr val="0B2A4A"/>
                </a:solidFill>
                <a:latin typeface="Arial" pitchFamily="34" charset="0"/>
                <a:ea typeface="Arial" pitchFamily="34" charset="-122"/>
                <a:cs typeface="Arial" pitchFamily="34" charset="-120"/>
              </a:rPr>
              <a:t>SVM: </a:t>
            </a:r>
            <a:r>
              <a:rPr lang="en-US" sz="1050" dirty="0">
                <a:solidFill>
                  <a:srgbClr val="12303F"/>
                </a:solidFill>
                <a:latin typeface="Arial" pitchFamily="34" charset="0"/>
                <a:ea typeface="Arial" pitchFamily="34" charset="-122"/>
                <a:cs typeface="Arial" pitchFamily="34" charset="-120"/>
              </a:rPr>
              <a:t>chỉ vài điểm biên (support vectors) quyết định vị trí đường — phần lớn điểm ở xa không ảnh hưởng.
</a:t>
            </a:r>
            <a:r>
              <a:rPr lang="en-US" sz="1100" b="1" dirty="0">
                <a:solidFill>
                  <a:srgbClr val="0B2A4A"/>
                </a:solidFill>
                <a:latin typeface="Arial" pitchFamily="34" charset="0"/>
                <a:ea typeface="Arial" pitchFamily="34" charset="-122"/>
                <a:cs typeface="Arial" pitchFamily="34" charset="-120"/>
              </a:rPr>
              <a:t>LDA: </a:t>
            </a:r>
            <a:r>
              <a:rPr lang="en-US" sz="1050" dirty="0">
                <a:solidFill>
                  <a:srgbClr val="12303F"/>
                </a:solidFill>
                <a:latin typeface="Arial" pitchFamily="34" charset="0"/>
                <a:ea typeface="Arial" pitchFamily="34" charset="-122"/>
                <a:cs typeface="Arial" pitchFamily="34" charset="-120"/>
              </a:rPr>
              <a:t>toàn bộ điểm mỗi lớp đóng góp vào μ₁, μ₂, Sw — kể cả điểm nằm sâu trong cụm.</a:t>
            </a:r>
            <a:endParaRPr lang="en-US" sz="1100" dirty="0"/>
          </a:p>
        </p:txBody>
      </p:sp>
      <p:sp>
        <p:nvSpPr>
          <p:cNvPr id="15" name="Text 13"/>
          <p:cNvSpPr/>
          <p:nvPr/>
        </p:nvSpPr>
        <p:spPr>
          <a:xfrm>
            <a:off x="6355080" y="3703320"/>
            <a:ext cx="5303520" cy="292608"/>
          </a:xfrm>
          <a:prstGeom prst="rect">
            <a:avLst/>
          </a:prstGeom>
          <a:noFill/>
          <a:ln/>
        </p:spPr>
        <p:txBody>
          <a:bodyPr wrap="square" lIns="0" tIns="0" rIns="0" bIns="0" rtlCol="0" anchor="ctr"/>
          <a:lstStyle/>
          <a:p>
            <a:pPr marL="0" indent="0">
              <a:buNone/>
            </a:pPr>
            <a:r>
              <a:rPr lang="en-US" sz="1300" b="1" dirty="0">
                <a:solidFill>
                  <a:srgbClr val="028090"/>
                </a:solidFill>
                <a:latin typeface="Arial" pitchFamily="34" charset="0"/>
                <a:ea typeface="Arial" pitchFamily="34" charset="-122"/>
                <a:cs typeface="Arial" pitchFamily="34" charset="-120"/>
              </a:rPr>
              <a:t>Đối chiếu kết quả &amp; ưu điểm thực tế</a:t>
            </a:r>
            <a:endParaRPr lang="en-US" sz="1300" dirty="0"/>
          </a:p>
        </p:txBody>
      </p:sp>
      <p:sp>
        <p:nvSpPr>
          <p:cNvPr id="16" name="Shape 14"/>
          <p:cNvSpPr/>
          <p:nvPr/>
        </p:nvSpPr>
        <p:spPr>
          <a:xfrm>
            <a:off x="6355080" y="4023360"/>
            <a:ext cx="5303520" cy="2057400"/>
          </a:xfrm>
          <a:prstGeom prst="roundRect">
            <a:avLst>
              <a:gd name="adj" fmla="val 3556"/>
            </a:avLst>
          </a:prstGeom>
          <a:solidFill>
            <a:srgbClr val="0B2A4A"/>
          </a:solidFill>
          <a:ln/>
        </p:spPr>
      </p:sp>
      <p:sp>
        <p:nvSpPr>
          <p:cNvPr id="17" name="Text 15"/>
          <p:cNvSpPr/>
          <p:nvPr/>
        </p:nvSpPr>
        <p:spPr>
          <a:xfrm>
            <a:off x="6583680" y="4023360"/>
            <a:ext cx="4846320" cy="2057400"/>
          </a:xfrm>
          <a:prstGeom prst="rect">
            <a:avLst/>
          </a:prstGeom>
          <a:noFill/>
          <a:ln/>
        </p:spPr>
        <p:txBody>
          <a:bodyPr wrap="square" lIns="0" tIns="0" rIns="0" bIns="0" rtlCol="0" anchor="ctr"/>
          <a:lstStyle/>
          <a:p>
            <a:pPr marL="0" indent="0">
              <a:lnSpc>
                <a:spcPct val="118000"/>
              </a:lnSpc>
              <a:buNone/>
            </a:pPr>
            <a:r>
              <a:rPr lang="en-US" sz="1200" b="1" dirty="0">
                <a:solidFill>
                  <a:srgbClr val="00A896"/>
                </a:solidFill>
                <a:latin typeface="Arial" pitchFamily="34" charset="0"/>
                <a:ea typeface="Arial" pitchFamily="34" charset="-122"/>
                <a:cs typeface="Arial" pitchFamily="34" charset="-120"/>
              </a:rPr>
              <a:t>F1 = 0,9091, Precision = 0,9635, Recall = 0,8605 </a:t>
            </a:r>
            <a:r>
              <a:rPr lang="en-US" sz="1050" dirty="0">
                <a:solidFill>
                  <a:srgbClr val="D6E7E5"/>
                </a:solidFill>
                <a:latin typeface="Arial" pitchFamily="34" charset="0"/>
                <a:ea typeface="Arial" pitchFamily="34" charset="-122"/>
                <a:cs typeface="Arial" pitchFamily="34" charset="-120"/>
              </a:rPr>
              <a:t>— đứng thứ 2 sau KNN, vượt cả 2 biến thể SVM. Với 14 đặc trưng đã qua mRMR, phân phối Normal/Fatigue đủ gần Gaussian nên LDA tận dụng tốt.
</a:t>
            </a:r>
            <a:r>
              <a:rPr lang="en-US" sz="1100" b="1" dirty="0">
                <a:solidFill>
                  <a:srgbClr val="00A896"/>
                </a:solidFill>
                <a:latin typeface="Arial" pitchFamily="34" charset="0"/>
                <a:ea typeface="Arial" pitchFamily="34" charset="-122"/>
                <a:cs typeface="Arial" pitchFamily="34" charset="-120"/>
              </a:rPr>
              <a:t>Ưu điểm: </a:t>
            </a:r>
            <a:r>
              <a:rPr lang="en-US" sz="1050" dirty="0">
                <a:solidFill>
                  <a:srgbClr val="D6E7E5"/>
                </a:solidFill>
                <a:latin typeface="Arial" pitchFamily="34" charset="0"/>
                <a:ea typeface="Arial" pitchFamily="34" charset="-122"/>
                <a:cs typeface="Arial" pitchFamily="34" charset="-120"/>
              </a:rPr>
              <a:t>huấn luyện cực nhanh, ít siêu tham số, dễ diễn giải — phù hợp phân tích thời gian thực.</a:t>
            </a:r>
            <a:endParaRPr lang="en-US" sz="1200" dirty="0"/>
          </a:p>
        </p:txBody>
      </p:sp>
      <p:sp>
        <p:nvSpPr>
          <p:cNvPr id="18" name="Text 16"/>
          <p:cNvSpPr/>
          <p:nvPr/>
        </p:nvSpPr>
        <p:spPr>
          <a:xfrm>
            <a:off x="502920" y="6473952"/>
            <a:ext cx="5486400" cy="274320"/>
          </a:xfrm>
          <a:prstGeom prst="rect">
            <a:avLst/>
          </a:prstGeom>
          <a:noFill/>
          <a:ln/>
        </p:spPr>
        <p:txBody>
          <a:bodyPr wrap="square" lIns="0" tIns="0" rIns="0" bIns="0" rtlCol="0" anchor="ctr"/>
          <a:lstStyle/>
          <a:p>
            <a:pPr marL="0" indent="0">
              <a:buNone/>
            </a:pPr>
            <a:r>
              <a:rPr lang="en-US" sz="900" dirty="0">
                <a:solidFill>
                  <a:srgbClr val="5B7280"/>
                </a:solidFill>
                <a:latin typeface="Arial" pitchFamily="34" charset="0"/>
                <a:ea typeface="Arial" pitchFamily="34" charset="-122"/>
                <a:cs typeface="Arial" pitchFamily="34" charset="-120"/>
              </a:rPr>
              <a:t>sEMG Fatigue Detection · Springer 2025</a:t>
            </a:r>
            <a:endParaRPr lang="en-US" sz="900" dirty="0"/>
          </a:p>
        </p:txBody>
      </p:sp>
      <p:sp>
        <p:nvSpPr>
          <p:cNvPr id="19" name="Text 17"/>
          <p:cNvSpPr/>
          <p:nvPr/>
        </p:nvSpPr>
        <p:spPr>
          <a:xfrm>
            <a:off x="11277295" y="6473952"/>
            <a:ext cx="411480" cy="274320"/>
          </a:xfrm>
          <a:prstGeom prst="rect">
            <a:avLst/>
          </a:prstGeom>
          <a:noFill/>
          <a:ln/>
        </p:spPr>
        <p:txBody>
          <a:bodyPr wrap="square" lIns="0" tIns="0" rIns="0" bIns="0" rtlCol="0" anchor="ctr"/>
          <a:lstStyle/>
          <a:p>
            <a:pPr marL="0" indent="0" algn="r">
              <a:buNone/>
            </a:pPr>
            <a:r>
              <a:rPr lang="en-US" sz="900" dirty="0">
                <a:solidFill>
                  <a:srgbClr val="5B7280"/>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marL="0" indent="0">
              <a:buNone/>
            </a:pPr>
            <a:r>
              <a:rPr lang="en-US" sz="1250" b="1" kern="0" spc="200" dirty="0">
                <a:solidFill>
                  <a:srgbClr val="028090"/>
                </a:solidFill>
                <a:latin typeface="Arial" pitchFamily="34" charset="0"/>
                <a:ea typeface="Arial" pitchFamily="34" charset="-122"/>
                <a:cs typeface="Arial" pitchFamily="34" charset="-120"/>
              </a:rPr>
              <a:t>03 · GIẢI THÍCH THUẬT TOÁN</a:t>
            </a:r>
            <a:endParaRPr lang="en-US" sz="1250" dirty="0"/>
          </a:p>
        </p:txBody>
      </p:sp>
      <p:sp>
        <p:nvSpPr>
          <p:cNvPr id="3" name="Text 1"/>
          <p:cNvSpPr/>
          <p:nvPr/>
        </p:nvSpPr>
        <p:spPr>
          <a:xfrm>
            <a:off x="548640" y="822960"/>
            <a:ext cx="10972800" cy="731520"/>
          </a:xfrm>
          <a:prstGeom prst="rect">
            <a:avLst/>
          </a:prstGeom>
          <a:noFill/>
          <a:ln/>
        </p:spPr>
        <p:txBody>
          <a:bodyPr wrap="square" lIns="0" tIns="0" rIns="0" bIns="0" rtlCol="0" anchor="ctr"/>
          <a:lstStyle/>
          <a:p>
            <a:pPr marL="0" indent="0">
              <a:buNone/>
            </a:pPr>
            <a:r>
              <a:rPr lang="en-US" sz="2900" b="1" dirty="0">
                <a:solidFill>
                  <a:srgbClr val="0B2A4A"/>
                </a:solidFill>
                <a:latin typeface="Cambria" pitchFamily="34" charset="0"/>
                <a:ea typeface="Cambria" pitchFamily="34" charset="-122"/>
                <a:cs typeface="Cambria" pitchFamily="34" charset="-120"/>
              </a:rPr>
              <a:t>KNN — K-Nearest Neighbors</a:t>
            </a:r>
            <a:endParaRPr lang="en-US" sz="2900" dirty="0"/>
          </a:p>
        </p:txBody>
      </p:sp>
      <p:sp>
        <p:nvSpPr>
          <p:cNvPr id="4" name="Text 2"/>
          <p:cNvSpPr/>
          <p:nvPr/>
        </p:nvSpPr>
        <p:spPr>
          <a:xfrm>
            <a:off x="548640" y="1691640"/>
            <a:ext cx="5486400" cy="457200"/>
          </a:xfrm>
          <a:prstGeom prst="rect">
            <a:avLst/>
          </a:prstGeom>
          <a:noFill/>
          <a:ln/>
        </p:spPr>
        <p:txBody>
          <a:bodyPr wrap="square" lIns="0" tIns="0" rIns="0" bIns="0" rtlCol="0" anchor="ctr"/>
          <a:lstStyle/>
          <a:p>
            <a:pPr marL="0" indent="0">
              <a:lnSpc>
                <a:spcPct val="105000"/>
              </a:lnSpc>
              <a:buNone/>
            </a:pPr>
            <a:r>
              <a:rPr lang="en-US" sz="1300" b="1" dirty="0">
                <a:solidFill>
                  <a:srgbClr val="028090"/>
                </a:solidFill>
                <a:latin typeface="Arial" pitchFamily="34" charset="0"/>
                <a:ea typeface="Arial" pitchFamily="34" charset="-122"/>
                <a:cs typeface="Arial" pitchFamily="34" charset="-120"/>
              </a:rPr>
              <a:t>Ý tưởng cốt lõi — học lười (lazy learning)</a:t>
            </a:r>
            <a:endParaRPr lang="en-US" sz="1300" dirty="0"/>
          </a:p>
        </p:txBody>
      </p:sp>
      <p:sp>
        <p:nvSpPr>
          <p:cNvPr id="5" name="Text 3"/>
          <p:cNvSpPr/>
          <p:nvPr/>
        </p:nvSpPr>
        <p:spPr>
          <a:xfrm>
            <a:off x="548640" y="2212848"/>
            <a:ext cx="5486400" cy="822960"/>
          </a:xfrm>
          <a:prstGeom prst="rect">
            <a:avLst/>
          </a:prstGeom>
          <a:noFill/>
          <a:ln/>
        </p:spPr>
        <p:txBody>
          <a:bodyPr wrap="square" lIns="0" tIns="0" rIns="0" bIns="0" rtlCol="0" anchor="t"/>
          <a:lstStyle/>
          <a:p>
            <a:pPr marL="0" indent="0">
              <a:lnSpc>
                <a:spcPct val="120000"/>
              </a:lnSpc>
              <a:buNone/>
            </a:pPr>
            <a:r>
              <a:rPr lang="en-US" sz="1150" dirty="0">
                <a:solidFill>
                  <a:srgbClr val="12303F"/>
                </a:solidFill>
                <a:latin typeface="Arial" pitchFamily="34" charset="0"/>
                <a:ea typeface="Arial" pitchFamily="34" charset="-122"/>
                <a:cs typeface="Arial" pitchFamily="34" charset="-120"/>
              </a:rPr>
              <a:t>Không xây mô hình lúc train — chỉ lưu toàn bộ dữ liệu. Khi cần phân loại điểm mới, tính khoảng cách đến mọi điểm train, chọn k điểm gần nhất, gán nhãn theo đa số phiếu.</a:t>
            </a:r>
            <a:endParaRPr lang="en-US" sz="1150" dirty="0"/>
          </a:p>
        </p:txBody>
      </p:sp>
      <p:sp>
        <p:nvSpPr>
          <p:cNvPr id="6" name="Shape 4"/>
          <p:cNvSpPr/>
          <p:nvPr/>
        </p:nvSpPr>
        <p:spPr>
          <a:xfrm>
            <a:off x="548640" y="3108960"/>
            <a:ext cx="5486400" cy="777240"/>
          </a:xfrm>
          <a:prstGeom prst="roundRect">
            <a:avLst>
              <a:gd name="adj" fmla="val 7059"/>
            </a:avLst>
          </a:prstGeom>
          <a:solidFill>
            <a:srgbClr val="F1FAF9"/>
          </a:solidFill>
          <a:ln w="12700">
            <a:solidFill>
              <a:srgbClr val="D5E8E5"/>
            </a:solidFill>
            <a:prstDash val="solid"/>
          </a:ln>
        </p:spPr>
      </p:sp>
      <p:sp>
        <p:nvSpPr>
          <p:cNvPr id="7" name="Text 5"/>
          <p:cNvSpPr/>
          <p:nvPr/>
        </p:nvSpPr>
        <p:spPr>
          <a:xfrm>
            <a:off x="777240" y="3218688"/>
            <a:ext cx="5029200" cy="320040"/>
          </a:xfrm>
          <a:prstGeom prst="rect">
            <a:avLst/>
          </a:prstGeom>
          <a:noFill/>
          <a:ln/>
        </p:spPr>
        <p:txBody>
          <a:bodyPr wrap="square" lIns="0" tIns="0" rIns="0" bIns="0" rtlCol="0" anchor="ctr"/>
          <a:lstStyle/>
          <a:p>
            <a:pPr marL="0" indent="0">
              <a:buNone/>
            </a:pPr>
            <a:r>
              <a:rPr lang="en-US" sz="1400" b="1" dirty="0">
                <a:solidFill>
                  <a:srgbClr val="0B2A4A"/>
                </a:solidFill>
                <a:latin typeface="Consolas" pitchFamily="34" charset="0"/>
                <a:ea typeface="Consolas" pitchFamily="34" charset="-122"/>
                <a:cs typeface="Consolas" pitchFamily="34" charset="-120"/>
              </a:rPr>
              <a:t>d(x,xi) = √Σ(xj − xij)²</a:t>
            </a:r>
            <a:endParaRPr lang="en-US" sz="1400" dirty="0"/>
          </a:p>
        </p:txBody>
      </p:sp>
      <p:sp>
        <p:nvSpPr>
          <p:cNvPr id="8" name="Text 6"/>
          <p:cNvSpPr/>
          <p:nvPr/>
        </p:nvSpPr>
        <p:spPr>
          <a:xfrm>
            <a:off x="777240" y="3547872"/>
            <a:ext cx="5029200" cy="274320"/>
          </a:xfrm>
          <a:prstGeom prst="rect">
            <a:avLst/>
          </a:prstGeom>
          <a:noFill/>
          <a:ln/>
        </p:spPr>
        <p:txBody>
          <a:bodyPr wrap="square" lIns="0" tIns="0" rIns="0" bIns="0" rtlCol="0" anchor="ctr"/>
          <a:lstStyle/>
          <a:p>
            <a:pPr marL="0" indent="0">
              <a:buNone/>
            </a:pPr>
            <a:r>
              <a:rPr lang="en-US" sz="1000" dirty="0">
                <a:solidFill>
                  <a:srgbClr val="5B7280"/>
                </a:solidFill>
                <a:latin typeface="Arial" pitchFamily="34" charset="0"/>
                <a:ea typeface="Arial" pitchFamily="34" charset="-122"/>
                <a:cs typeface="Arial" pitchFamily="34" charset="-120"/>
              </a:rPr>
              <a:t>Khoảng cách Euclid trong không gian 14 chiều đặc trưng</a:t>
            </a:r>
            <a:endParaRPr lang="en-US" sz="1000" dirty="0"/>
          </a:p>
        </p:txBody>
      </p:sp>
      <p:sp>
        <p:nvSpPr>
          <p:cNvPr id="9" name="Text 7"/>
          <p:cNvSpPr/>
          <p:nvPr/>
        </p:nvSpPr>
        <p:spPr>
          <a:xfrm>
            <a:off x="548640" y="4069080"/>
            <a:ext cx="5486400" cy="292608"/>
          </a:xfrm>
          <a:prstGeom prst="rect">
            <a:avLst/>
          </a:prstGeom>
          <a:noFill/>
          <a:ln/>
        </p:spPr>
        <p:txBody>
          <a:bodyPr wrap="square" lIns="0" tIns="0" rIns="0" bIns="0" rtlCol="0" anchor="ctr"/>
          <a:lstStyle/>
          <a:p>
            <a:pPr marL="0" indent="0">
              <a:buNone/>
            </a:pPr>
            <a:r>
              <a:rPr lang="en-US" sz="1300" b="1" dirty="0">
                <a:solidFill>
                  <a:srgbClr val="028090"/>
                </a:solidFill>
                <a:latin typeface="Arial" pitchFamily="34" charset="0"/>
                <a:ea typeface="Arial" pitchFamily="34" charset="-122"/>
                <a:cs typeface="Arial" pitchFamily="34" charset="-120"/>
              </a:rPr>
              <a:t>Vì sao k là siêu tham số quyết định</a:t>
            </a:r>
            <a:endParaRPr lang="en-US" sz="1300" dirty="0"/>
          </a:p>
        </p:txBody>
      </p:sp>
      <p:sp>
        <p:nvSpPr>
          <p:cNvPr id="10" name="Text 8"/>
          <p:cNvSpPr/>
          <p:nvPr/>
        </p:nvSpPr>
        <p:spPr>
          <a:xfrm>
            <a:off x="548640" y="4389120"/>
            <a:ext cx="5486400" cy="685800"/>
          </a:xfrm>
          <a:prstGeom prst="rect">
            <a:avLst/>
          </a:prstGeom>
          <a:noFill/>
          <a:ln/>
        </p:spPr>
        <p:txBody>
          <a:bodyPr wrap="square" lIns="0" tIns="0" rIns="0" bIns="0" rtlCol="0" anchor="t"/>
          <a:lstStyle/>
          <a:p>
            <a:pPr marL="0" indent="0">
              <a:lnSpc>
                <a:spcPct val="125000"/>
              </a:lnSpc>
              <a:buNone/>
            </a:pPr>
            <a:r>
              <a:rPr lang="en-US" sz="1100" b="1" dirty="0">
                <a:solidFill>
                  <a:srgbClr val="0B2A4A"/>
                </a:solidFill>
                <a:latin typeface="Arial" pitchFamily="34" charset="0"/>
                <a:ea typeface="Arial" pitchFamily="34" charset="-122"/>
                <a:cs typeface="Arial" pitchFamily="34" charset="-120"/>
              </a:rPr>
              <a:t>k nhỏ: </a:t>
            </a:r>
            <a:r>
              <a:rPr lang="en-US" sz="1050" dirty="0">
                <a:solidFill>
                  <a:srgbClr val="12303F"/>
                </a:solidFill>
                <a:latin typeface="Arial" pitchFamily="34" charset="0"/>
                <a:ea typeface="Arial" pitchFamily="34" charset="-122"/>
                <a:cs typeface="Arial" pitchFamily="34" charset="-120"/>
              </a:rPr>
              <a:t>cực nhạy nhiễu, ranh giới lởm chởm, dễ overfit.
</a:t>
            </a:r>
            <a:r>
              <a:rPr lang="en-US" sz="1100" b="1" dirty="0">
                <a:solidFill>
                  <a:srgbClr val="0B2A4A"/>
                </a:solidFill>
                <a:latin typeface="Arial" pitchFamily="34" charset="0"/>
                <a:ea typeface="Arial" pitchFamily="34" charset="-122"/>
                <a:cs typeface="Arial" pitchFamily="34" charset="-120"/>
              </a:rPr>
              <a:t>k lớn: </a:t>
            </a:r>
            <a:r>
              <a:rPr lang="en-US" sz="1050" dirty="0">
                <a:solidFill>
                  <a:srgbClr val="12303F"/>
                </a:solidFill>
                <a:latin typeface="Arial" pitchFamily="34" charset="0"/>
                <a:ea typeface="Arial" pitchFamily="34" charset="-122"/>
                <a:cs typeface="Arial" pitchFamily="34" charset="-120"/>
              </a:rPr>
              <a:t>mịn hơn, ổn định hơn, nhưng dễ pha loãng tín hiệu cục bộ.</a:t>
            </a:r>
            <a:endParaRPr lang="en-US" sz="1100" dirty="0"/>
          </a:p>
        </p:txBody>
      </p:sp>
      <p:sp>
        <p:nvSpPr>
          <p:cNvPr id="11" name="Text 9"/>
          <p:cNvSpPr/>
          <p:nvPr/>
        </p:nvSpPr>
        <p:spPr>
          <a:xfrm>
            <a:off x="6355080" y="1691640"/>
            <a:ext cx="5303520" cy="292608"/>
          </a:xfrm>
          <a:prstGeom prst="rect">
            <a:avLst/>
          </a:prstGeom>
          <a:noFill/>
          <a:ln/>
        </p:spPr>
        <p:txBody>
          <a:bodyPr wrap="square" lIns="0" tIns="0" rIns="0" bIns="0" rtlCol="0" anchor="ctr"/>
          <a:lstStyle/>
          <a:p>
            <a:pPr marL="0" indent="0">
              <a:buNone/>
            </a:pPr>
            <a:r>
              <a:rPr lang="en-US" sz="1300" b="1" dirty="0">
                <a:solidFill>
                  <a:srgbClr val="028090"/>
                </a:solidFill>
                <a:latin typeface="Arial" pitchFamily="34" charset="0"/>
                <a:ea typeface="Arial" pitchFamily="34" charset="-122"/>
                <a:cs typeface="Arial" pitchFamily="34" charset="-120"/>
              </a:rPr>
              <a:t>Đánh đổi thực tế</a:t>
            </a:r>
            <a:endParaRPr lang="en-US" sz="1300" dirty="0"/>
          </a:p>
        </p:txBody>
      </p:sp>
      <p:sp>
        <p:nvSpPr>
          <p:cNvPr id="12" name="Shape 10"/>
          <p:cNvSpPr/>
          <p:nvPr/>
        </p:nvSpPr>
        <p:spPr>
          <a:xfrm>
            <a:off x="6355080" y="2011680"/>
            <a:ext cx="5303520" cy="1463040"/>
          </a:xfrm>
          <a:prstGeom prst="roundRect">
            <a:avLst>
              <a:gd name="adj" fmla="val 3750"/>
            </a:avLst>
          </a:prstGeom>
          <a:solidFill>
            <a:srgbClr val="FFFFFF"/>
          </a:solidFill>
          <a:ln w="12700">
            <a:solidFill>
              <a:srgbClr val="D5E8E5"/>
            </a:solidFill>
            <a:prstDash val="solid"/>
          </a:ln>
        </p:spPr>
      </p:sp>
      <p:sp>
        <p:nvSpPr>
          <p:cNvPr id="13" name="Text 11"/>
          <p:cNvSpPr/>
          <p:nvPr/>
        </p:nvSpPr>
        <p:spPr>
          <a:xfrm>
            <a:off x="6583680" y="2011680"/>
            <a:ext cx="4846320" cy="1463040"/>
          </a:xfrm>
          <a:prstGeom prst="rect">
            <a:avLst/>
          </a:prstGeom>
          <a:noFill/>
          <a:ln/>
        </p:spPr>
        <p:txBody>
          <a:bodyPr wrap="square" lIns="0" tIns="0" rIns="0" bIns="0" rtlCol="0" anchor="ctr"/>
          <a:lstStyle/>
          <a:p>
            <a:pPr marL="0" indent="0">
              <a:lnSpc>
                <a:spcPct val="115000"/>
              </a:lnSpc>
              <a:buNone/>
            </a:pPr>
            <a:r>
              <a:rPr lang="en-US" sz="1050" b="1" dirty="0">
                <a:solidFill>
                  <a:srgbClr val="0B2A4A"/>
                </a:solidFill>
                <a:latin typeface="Arial" pitchFamily="34" charset="0"/>
                <a:ea typeface="Arial" pitchFamily="34" charset="-122"/>
                <a:cs typeface="Arial" pitchFamily="34" charset="-120"/>
              </a:rPr>
              <a:t>Tốc độ dự đoán chậm: </a:t>
            </a:r>
            <a:r>
              <a:rPr lang="en-US" sz="1000" dirty="0">
                <a:solidFill>
                  <a:srgbClr val="12303F"/>
                </a:solidFill>
                <a:latin typeface="Arial" pitchFamily="34" charset="0"/>
                <a:ea typeface="Arial" pitchFamily="34" charset="-122"/>
                <a:cs typeface="Arial" pitchFamily="34" charset="-120"/>
              </a:rPr>
              <a:t>phải so khoảng cách với toàn bộ train mỗi lần.
</a:t>
            </a:r>
            <a:r>
              <a:rPr lang="en-US" sz="1050" b="1" dirty="0">
                <a:solidFill>
                  <a:srgbClr val="0B2A4A"/>
                </a:solidFill>
                <a:latin typeface="Arial" pitchFamily="34" charset="0"/>
                <a:ea typeface="Arial" pitchFamily="34" charset="-122"/>
                <a:cs typeface="Arial" pitchFamily="34" charset="-120"/>
              </a:rPr>
              <a:t>Nhạy chuẩn hóa: </a:t>
            </a:r>
            <a:r>
              <a:rPr lang="en-US" sz="1000" dirty="0">
                <a:solidFill>
                  <a:srgbClr val="12303F"/>
                </a:solidFill>
                <a:latin typeface="Arial" pitchFamily="34" charset="0"/>
                <a:ea typeface="Arial" pitchFamily="34" charset="-122"/>
                <a:cs typeface="Arial" pitchFamily="34" charset="-120"/>
              </a:rPr>
              <a:t>đặc trưng thang đo lớn (RMS) có thể át đặc trưng nhỏ (Skewness) nếu không z-score trước.
</a:t>
            </a:r>
            <a:r>
              <a:rPr lang="en-US" sz="1050" b="1" dirty="0">
                <a:solidFill>
                  <a:srgbClr val="0B2A4A"/>
                </a:solidFill>
                <a:latin typeface="Arial" pitchFamily="34" charset="0"/>
                <a:ea typeface="Arial" pitchFamily="34" charset="-122"/>
                <a:cs typeface="Arial" pitchFamily="34" charset="-120"/>
              </a:rPr>
              <a:t>Không gọn để triển khai: </a:t>
            </a:r>
            <a:r>
              <a:rPr lang="en-US" sz="1000" dirty="0">
                <a:solidFill>
                  <a:srgbClr val="12303F"/>
                </a:solidFill>
                <a:latin typeface="Arial" pitchFamily="34" charset="0"/>
                <a:ea typeface="Arial" pitchFamily="34" charset="-122"/>
                <a:cs typeface="Arial" pitchFamily="34" charset="-120"/>
              </a:rPr>
              <a:t>phải mang theo toàn bộ tập train, bất lợi cho thiết bị nhúng real-time.</a:t>
            </a:r>
            <a:endParaRPr lang="en-US" sz="1050" dirty="0"/>
          </a:p>
        </p:txBody>
      </p:sp>
      <p:sp>
        <p:nvSpPr>
          <p:cNvPr id="14" name="Text 12"/>
          <p:cNvSpPr/>
          <p:nvPr/>
        </p:nvSpPr>
        <p:spPr>
          <a:xfrm>
            <a:off x="6355080" y="3657600"/>
            <a:ext cx="5303520" cy="292608"/>
          </a:xfrm>
          <a:prstGeom prst="rect">
            <a:avLst/>
          </a:prstGeom>
          <a:noFill/>
          <a:ln/>
        </p:spPr>
        <p:txBody>
          <a:bodyPr wrap="square" lIns="0" tIns="0" rIns="0" bIns="0" rtlCol="0" anchor="ctr"/>
          <a:lstStyle/>
          <a:p>
            <a:pPr marL="0" indent="0">
              <a:buNone/>
            </a:pPr>
            <a:r>
              <a:rPr lang="en-US" sz="1300" b="1" dirty="0">
                <a:solidFill>
                  <a:srgbClr val="028090"/>
                </a:solidFill>
                <a:latin typeface="Arial" pitchFamily="34" charset="0"/>
                <a:ea typeface="Arial" pitchFamily="34" charset="-122"/>
                <a:cs typeface="Arial" pitchFamily="34" charset="-120"/>
              </a:rPr>
              <a:t>Vì sao KNN thắng trong bài</a:t>
            </a:r>
            <a:endParaRPr lang="en-US" sz="1300" dirty="0"/>
          </a:p>
        </p:txBody>
      </p:sp>
      <p:sp>
        <p:nvSpPr>
          <p:cNvPr id="15" name="Shape 13"/>
          <p:cNvSpPr/>
          <p:nvPr/>
        </p:nvSpPr>
        <p:spPr>
          <a:xfrm>
            <a:off x="6355080" y="3977640"/>
            <a:ext cx="5303520" cy="2103120"/>
          </a:xfrm>
          <a:prstGeom prst="roundRect">
            <a:avLst>
              <a:gd name="adj" fmla="val 3478"/>
            </a:avLst>
          </a:prstGeom>
          <a:solidFill>
            <a:srgbClr val="0B2A4A"/>
          </a:solidFill>
          <a:ln/>
        </p:spPr>
      </p:sp>
      <p:sp>
        <p:nvSpPr>
          <p:cNvPr id="16" name="Text 14"/>
          <p:cNvSpPr/>
          <p:nvPr/>
        </p:nvSpPr>
        <p:spPr>
          <a:xfrm>
            <a:off x="6583680" y="3977640"/>
            <a:ext cx="4846320" cy="2103120"/>
          </a:xfrm>
          <a:prstGeom prst="rect">
            <a:avLst/>
          </a:prstGeom>
          <a:noFill/>
          <a:ln/>
        </p:spPr>
        <p:txBody>
          <a:bodyPr wrap="square" lIns="0" tIns="0" rIns="0" bIns="0" rtlCol="0" anchor="ctr"/>
          <a:lstStyle/>
          <a:p>
            <a:pPr marL="0" indent="0">
              <a:lnSpc>
                <a:spcPct val="118000"/>
              </a:lnSpc>
              <a:buNone/>
            </a:pPr>
            <a:r>
              <a:rPr lang="en-US" sz="1150" b="1" dirty="0">
                <a:solidFill>
                  <a:srgbClr val="00A896"/>
                </a:solidFill>
                <a:latin typeface="Arial" pitchFamily="34" charset="0"/>
                <a:ea typeface="Arial" pitchFamily="34" charset="-122"/>
                <a:cs typeface="Arial" pitchFamily="34" charset="-120"/>
              </a:rPr>
              <a:t>F1=0,9541, Precision=0,9740, Recall=0,9350, AUC=0,95 </a:t>
            </a:r>
            <a:r>
              <a:rPr lang="en-US" sz="1050" dirty="0">
                <a:solidFill>
                  <a:srgbClr val="D6E7E5"/>
                </a:solidFill>
                <a:latin typeface="Arial" pitchFamily="34" charset="0"/>
                <a:ea typeface="Arial" pitchFamily="34" charset="-122"/>
                <a:cs typeface="Arial" pitchFamily="34" charset="-120"/>
              </a:rPr>
              <a:t>— cân bằng nhất, cao nhất trong toàn bộ 6 cấu hình cả 2 bài.
Sau mRMR chọn lọc còn MAV, Skewness, Mean, các điểm Normal/Fatigue tạo cụm cục bộ khá rõ trong không gian đặc trưng — đúng loại cấu trúc mà KNN khai thác tốt nhất, hơn là một ranh giới tuyến tính sạch mà SVM/LDA cần.</a:t>
            </a:r>
            <a:endParaRPr lang="en-US" sz="1150" dirty="0"/>
          </a:p>
        </p:txBody>
      </p:sp>
      <p:sp>
        <p:nvSpPr>
          <p:cNvPr id="17" name="Text 15"/>
          <p:cNvSpPr/>
          <p:nvPr/>
        </p:nvSpPr>
        <p:spPr>
          <a:xfrm>
            <a:off x="502920" y="6473952"/>
            <a:ext cx="5486400" cy="274320"/>
          </a:xfrm>
          <a:prstGeom prst="rect">
            <a:avLst/>
          </a:prstGeom>
          <a:noFill/>
          <a:ln/>
        </p:spPr>
        <p:txBody>
          <a:bodyPr wrap="square" lIns="0" tIns="0" rIns="0" bIns="0" rtlCol="0" anchor="ctr"/>
          <a:lstStyle/>
          <a:p>
            <a:pPr marL="0" indent="0">
              <a:buNone/>
            </a:pPr>
            <a:r>
              <a:rPr lang="en-US" sz="900" dirty="0">
                <a:solidFill>
                  <a:srgbClr val="5B7280"/>
                </a:solidFill>
                <a:latin typeface="Arial" pitchFamily="34" charset="0"/>
                <a:ea typeface="Arial" pitchFamily="34" charset="-122"/>
                <a:cs typeface="Arial" pitchFamily="34" charset="-120"/>
              </a:rPr>
              <a:t>sEMG Fatigue Detection · Springer 2025</a:t>
            </a:r>
            <a:endParaRPr lang="en-US" sz="900" dirty="0"/>
          </a:p>
        </p:txBody>
      </p:sp>
      <p:sp>
        <p:nvSpPr>
          <p:cNvPr id="18" name="Text 16"/>
          <p:cNvSpPr/>
          <p:nvPr/>
        </p:nvSpPr>
        <p:spPr>
          <a:xfrm>
            <a:off x="11277295" y="6473952"/>
            <a:ext cx="411480" cy="274320"/>
          </a:xfrm>
          <a:prstGeom prst="rect">
            <a:avLst/>
          </a:prstGeom>
          <a:noFill/>
          <a:ln/>
        </p:spPr>
        <p:txBody>
          <a:bodyPr wrap="square" lIns="0" tIns="0" rIns="0" bIns="0" rtlCol="0" anchor="ctr"/>
          <a:lstStyle/>
          <a:p>
            <a:pPr marL="0" indent="0" algn="r">
              <a:buNone/>
            </a:pPr>
            <a:r>
              <a:rPr lang="en-US" sz="900" dirty="0">
                <a:solidFill>
                  <a:srgbClr val="5B7280"/>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FAF9"/>
        </a:solidFill>
        <a:effectLst/>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marL="0" indent="0">
              <a:buNone/>
            </a:pPr>
            <a:r>
              <a:rPr lang="en-US" sz="1250" b="1" kern="0" spc="200" dirty="0">
                <a:solidFill>
                  <a:srgbClr val="028090"/>
                </a:solidFill>
                <a:latin typeface="Arial" pitchFamily="34" charset="0"/>
                <a:ea typeface="Arial" pitchFamily="34" charset="-122"/>
                <a:cs typeface="Arial" pitchFamily="34" charset="-120"/>
              </a:rPr>
              <a:t>03 · CÔNG THỨC &amp; Ý NGHĨA</a:t>
            </a:r>
            <a:endParaRPr lang="en-US" sz="1250" dirty="0"/>
          </a:p>
        </p:txBody>
      </p:sp>
      <p:sp>
        <p:nvSpPr>
          <p:cNvPr id="3" name="Text 1"/>
          <p:cNvSpPr/>
          <p:nvPr/>
        </p:nvSpPr>
        <p:spPr>
          <a:xfrm>
            <a:off x="548640" y="822960"/>
            <a:ext cx="10972800" cy="731520"/>
          </a:xfrm>
          <a:prstGeom prst="rect">
            <a:avLst/>
          </a:prstGeom>
          <a:noFill/>
          <a:ln/>
        </p:spPr>
        <p:txBody>
          <a:bodyPr wrap="square" lIns="0" tIns="0" rIns="0" bIns="0" rtlCol="0" anchor="ctr"/>
          <a:lstStyle/>
          <a:p>
            <a:pPr marL="0" indent="0">
              <a:buNone/>
            </a:pPr>
            <a:r>
              <a:rPr lang="en-US" sz="2900" b="1" dirty="0">
                <a:solidFill>
                  <a:srgbClr val="0B2A4A"/>
                </a:solidFill>
                <a:latin typeface="Cambria" pitchFamily="34" charset="0"/>
                <a:ea typeface="Cambria" pitchFamily="34" charset="-122"/>
                <a:cs typeface="Cambria" pitchFamily="34" charset="-120"/>
              </a:rPr>
              <a:t>Công thức các chỉ số metric</a:t>
            </a:r>
            <a:endParaRPr lang="en-US" sz="2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109960" cy="2743200"/>
        </p:xfrm>
        <a:graphic>
          <a:graphicData uri="http://schemas.openxmlformats.org/drawingml/2006/table">
            <a:tbl>
              <a:tblPr/>
              <a:tblGrid>
                <a:gridCol w="155448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6309360">
                  <a:extLst>
                    <a:ext uri="{9D8B030D-6E8A-4147-A177-3AD203B41FA5}">
                      <a16:colId xmlns:a16="http://schemas.microsoft.com/office/drawing/2014/main" val="20002"/>
                    </a:ext>
                  </a:extLst>
                </a:gridCol>
              </a:tblGrid>
              <a:tr h="411480">
                <a:tc>
                  <a:txBody>
                    <a:bodyPr/>
                    <a:lstStyle/>
                    <a:p>
                      <a:pPr marL="0" indent="0">
                        <a:buNone/>
                      </a:pPr>
                      <a:r>
                        <a:rPr lang="en-US" sz="1100" b="1" dirty="0">
                          <a:solidFill>
                            <a:srgbClr val="FFFFFF"/>
                          </a:solidFill>
                        </a:rPr>
                        <a:t>Chỉ số</a:t>
                      </a:r>
                      <a:endParaRPr lang="en-US" sz="11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0B2A4A"/>
                    </a:solidFill>
                  </a:tcPr>
                </a:tc>
                <a:tc>
                  <a:txBody>
                    <a:bodyPr/>
                    <a:lstStyle/>
                    <a:p>
                      <a:pPr marL="0" indent="0">
                        <a:buNone/>
                      </a:pPr>
                      <a:r>
                        <a:rPr lang="en-US" sz="1100" b="1" dirty="0">
                          <a:solidFill>
                            <a:srgbClr val="FFFFFF"/>
                          </a:solidFill>
                        </a:rPr>
                        <a:t>Công thức</a:t>
                      </a:r>
                      <a:endParaRPr lang="en-US" sz="11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0B2A4A"/>
                    </a:solidFill>
                  </a:tcPr>
                </a:tc>
                <a:tc>
                  <a:txBody>
                    <a:bodyPr/>
                    <a:lstStyle/>
                    <a:p>
                      <a:pPr marL="0" indent="0">
                        <a:buNone/>
                      </a:pPr>
                      <a:r>
                        <a:rPr lang="en-US" sz="1100" b="1" dirty="0">
                          <a:solidFill>
                            <a:srgbClr val="FFFFFF"/>
                          </a:solidFill>
                        </a:rPr>
                        <a:t>Ý nghĩa</a:t>
                      </a:r>
                      <a:endParaRPr lang="en-US" sz="110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502920">
                <a:tc>
                  <a:txBody>
                    <a:bodyPr/>
                    <a:lstStyle/>
                    <a:p>
                      <a:pPr marL="0" indent="0">
                        <a:buNone/>
                      </a:pPr>
                      <a:r>
                        <a:rPr lang="en-US" sz="1150" b="1" dirty="0">
                          <a:solidFill>
                            <a:srgbClr val="0B2A4A"/>
                          </a:solidFill>
                        </a:rPr>
                        <a:t>Accuracy</a:t>
                      </a:r>
                      <a:endParaRPr lang="en-US" sz="115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100" b="1" dirty="0">
                          <a:solidFill>
                            <a:srgbClr val="028090"/>
                          </a:solidFill>
                          <a:latin typeface="Consolas" pitchFamily="34" charset="0"/>
                          <a:ea typeface="Consolas" pitchFamily="34" charset="-122"/>
                          <a:cs typeface="Consolas" pitchFamily="34" charset="-120"/>
                        </a:rPr>
                        <a:t>(TP+TN)/(TP+TN+FP+FN)</a:t>
                      </a:r>
                      <a:endParaRPr lang="en-US" sz="1100" dirty="0">
                        <a:latin typeface="Consolas" charset="0"/>
                        <a:ea typeface="Consolas" charset="0"/>
                        <a:cs typeface="Consolas" charset="0"/>
                      </a:endParaRPr>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050" dirty="0">
                          <a:solidFill>
                            <a:srgbClr val="12303F"/>
                          </a:solidFill>
                        </a:rPr>
                        <a:t>Tỉ lệ đoán đúng chung — dễ gây hiểu lầm khi mất cân bằng lớp</a:t>
                      </a:r>
                      <a:endParaRPr lang="en-US" sz="105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150" b="1" dirty="0">
                          <a:solidFill>
                            <a:srgbClr val="0B2A4A"/>
                          </a:solidFill>
                        </a:rPr>
                        <a:t>Precision</a:t>
                      </a:r>
                      <a:endParaRPr lang="en-US" sz="115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100" b="1" dirty="0">
                          <a:solidFill>
                            <a:srgbClr val="028090"/>
                          </a:solidFill>
                          <a:latin typeface="Consolas" pitchFamily="34" charset="0"/>
                          <a:ea typeface="Consolas" pitchFamily="34" charset="-122"/>
                          <a:cs typeface="Consolas" pitchFamily="34" charset="-120"/>
                        </a:rPr>
                        <a:t>TP/(TP+FP)</a:t>
                      </a:r>
                      <a:endParaRPr lang="en-US" sz="1100" dirty="0">
                        <a:latin typeface="Consolas" charset="0"/>
                        <a:ea typeface="Consolas" charset="0"/>
                        <a:cs typeface="Consolas" charset="0"/>
                      </a:endParaRPr>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050" dirty="0">
                          <a:solidFill>
                            <a:srgbClr val="12303F"/>
                          </a:solidFill>
                        </a:rPr>
                        <a:t>Báo mỏi thì đúng bao nhiêu — cao nghĩa là ít báo giả</a:t>
                      </a:r>
                      <a:endParaRPr lang="en-US" sz="105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150" b="1" dirty="0">
                          <a:solidFill>
                            <a:srgbClr val="0B2A4A"/>
                          </a:solidFill>
                        </a:rPr>
                        <a:t>Recall</a:t>
                      </a:r>
                      <a:endParaRPr lang="en-US" sz="115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100" b="1" dirty="0">
                          <a:solidFill>
                            <a:srgbClr val="028090"/>
                          </a:solidFill>
                          <a:latin typeface="Consolas" pitchFamily="34" charset="0"/>
                          <a:ea typeface="Consolas" pitchFamily="34" charset="-122"/>
                          <a:cs typeface="Consolas" pitchFamily="34" charset="-120"/>
                        </a:rPr>
                        <a:t>TP/(TP+FN)</a:t>
                      </a:r>
                      <a:endParaRPr lang="en-US" sz="1100" dirty="0">
                        <a:latin typeface="Consolas" charset="0"/>
                        <a:ea typeface="Consolas" charset="0"/>
                        <a:cs typeface="Consolas" charset="0"/>
                      </a:endParaRPr>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050" dirty="0">
                          <a:solidFill>
                            <a:srgbClr val="12303F"/>
                          </a:solidFill>
                        </a:rPr>
                        <a:t>Bắt được bao nhiêu ca mỏi thật — cao nghĩa là ít bỏ sót</a:t>
                      </a:r>
                      <a:endParaRPr lang="en-US" sz="105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150" b="1" dirty="0">
                          <a:solidFill>
                            <a:srgbClr val="0B2A4A"/>
                          </a:solidFill>
                        </a:rPr>
                        <a:t>F1-score</a:t>
                      </a:r>
                      <a:endParaRPr lang="en-US" sz="115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100" b="1" dirty="0">
                          <a:solidFill>
                            <a:srgbClr val="028090"/>
                          </a:solidFill>
                          <a:latin typeface="Consolas" pitchFamily="34" charset="0"/>
                          <a:ea typeface="Consolas" pitchFamily="34" charset="-122"/>
                          <a:cs typeface="Consolas" pitchFamily="34" charset="-120"/>
                        </a:rPr>
                        <a:t>2·P·R/(P+R)</a:t>
                      </a:r>
                      <a:endParaRPr lang="en-US" sz="1100" dirty="0">
                        <a:latin typeface="Consolas" charset="0"/>
                        <a:ea typeface="Consolas" charset="0"/>
                        <a:cs typeface="Consolas" charset="0"/>
                      </a:endParaRPr>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050" dirty="0">
                          <a:solidFill>
                            <a:srgbClr val="12303F"/>
                          </a:solidFill>
                        </a:rPr>
                        <a:t>Trung bình điều hòa P&amp;R — phạt nặng nếu một chỉ số quá thấp</a:t>
                      </a:r>
                      <a:endParaRPr lang="en-US" sz="105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150" b="1" dirty="0">
                          <a:solidFill>
                            <a:srgbClr val="0B2A4A"/>
                          </a:solidFill>
                        </a:rPr>
                        <a:t>AUC-ROC</a:t>
                      </a:r>
                      <a:endParaRPr lang="en-US" sz="115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100" b="1" dirty="0">
                          <a:solidFill>
                            <a:srgbClr val="028090"/>
                          </a:solidFill>
                          <a:latin typeface="Consolas" pitchFamily="34" charset="0"/>
                          <a:ea typeface="Consolas" pitchFamily="34" charset="-122"/>
                          <a:cs typeface="Consolas" pitchFamily="34" charset="-120"/>
                        </a:rPr>
                        <a:t>∫ TPR d(FPR), quét mọi ngưỡng</a:t>
                      </a:r>
                      <a:endParaRPr lang="en-US" sz="1100" dirty="0">
                        <a:latin typeface="Consolas" charset="0"/>
                        <a:ea typeface="Consolas" charset="0"/>
                        <a:cs typeface="Consolas" charset="0"/>
                      </a:endParaRPr>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tc>
                  <a:txBody>
                    <a:bodyPr/>
                    <a:lstStyle/>
                    <a:p>
                      <a:pPr marL="0" indent="0">
                        <a:buNone/>
                      </a:pPr>
                      <a:r>
                        <a:rPr lang="en-US" sz="1050" dirty="0">
                          <a:solidFill>
                            <a:srgbClr val="12303F"/>
                          </a:solidFill>
                        </a:rPr>
                        <a:t>0,5=đoán ngẫu nhiên, 1=hoàn hảo — không phụ thuộc ngưỡng 0,5</a:t>
                      </a:r>
                      <a:endParaRPr lang="en-US" sz="1050" dirty="0"/>
                    </a:p>
                  </a:txBody>
                  <a:tcPr anchor="ctr">
                    <a:lnL w="9525" cap="flat" cmpd="sng" algn="ctr">
                      <a:solidFill>
                        <a:srgbClr val="D5E8E5"/>
                      </a:solidFill>
                      <a:prstDash val="solid"/>
                      <a:round/>
                      <a:headEnd type="none" w="med" len="med"/>
                      <a:tailEnd type="none" w="med" len="med"/>
                    </a:lnL>
                    <a:lnR w="9525" cap="flat" cmpd="sng" algn="ctr">
                      <a:solidFill>
                        <a:srgbClr val="D5E8E5"/>
                      </a:solidFill>
                      <a:prstDash val="solid"/>
                      <a:round/>
                      <a:headEnd type="none" w="med" len="med"/>
                      <a:tailEnd type="none" w="med" len="med"/>
                    </a:lnR>
                    <a:lnT w="9525" cap="flat" cmpd="sng" algn="ctr">
                      <a:solidFill>
                        <a:srgbClr val="D5E8E5"/>
                      </a:solidFill>
                      <a:prstDash val="solid"/>
                      <a:round/>
                      <a:headEnd type="none" w="med" len="med"/>
                      <a:tailEnd type="none" w="med" len="med"/>
                    </a:lnT>
                    <a:lnB w="9525" cap="flat" cmpd="sng" algn="ctr">
                      <a:solidFill>
                        <a:srgbClr val="D5E8E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548640" y="4709160"/>
            <a:ext cx="11109960" cy="1417320"/>
          </a:xfrm>
          <a:prstGeom prst="roundRect">
            <a:avLst>
              <a:gd name="adj" fmla="val 5806"/>
            </a:avLst>
          </a:prstGeom>
          <a:solidFill>
            <a:srgbClr val="0B2A4A"/>
          </a:solidFill>
          <a:ln/>
        </p:spPr>
      </p:sp>
      <p:sp>
        <p:nvSpPr>
          <p:cNvPr id="6" name="Text 3"/>
          <p:cNvSpPr/>
          <p:nvPr/>
        </p:nvSpPr>
        <p:spPr>
          <a:xfrm>
            <a:off x="822960" y="4709160"/>
            <a:ext cx="10561320" cy="1417320"/>
          </a:xfrm>
          <a:prstGeom prst="rect">
            <a:avLst/>
          </a:prstGeom>
          <a:noFill/>
          <a:ln/>
        </p:spPr>
        <p:txBody>
          <a:bodyPr wrap="square" lIns="0" tIns="0" rIns="0" bIns="0" rtlCol="0" anchor="ctr"/>
          <a:lstStyle/>
          <a:p>
            <a:pPr marL="0" indent="0">
              <a:lnSpc>
                <a:spcPct val="118000"/>
              </a:lnSpc>
              <a:buNone/>
            </a:pPr>
            <a:r>
              <a:rPr lang="en-US" sz="1150" b="1" dirty="0">
                <a:solidFill>
                  <a:srgbClr val="6FD3C9"/>
                </a:solidFill>
                <a:latin typeface="Arial" pitchFamily="34" charset="0"/>
                <a:ea typeface="Arial" pitchFamily="34" charset="-122"/>
                <a:cs typeface="Arial" pitchFamily="34" charset="-120"/>
              </a:rPr>
              <a:t>Đánh đổi Precision vs Recall trong bài: </a:t>
            </a:r>
            <a:r>
              <a:rPr lang="en-US" sz="1050" dirty="0">
                <a:solidFill>
                  <a:srgbClr val="D6E7E5"/>
                </a:solidFill>
                <a:latin typeface="Arial" pitchFamily="34" charset="0"/>
                <a:ea typeface="Arial" pitchFamily="34" charset="-122"/>
                <a:cs typeface="Arial" pitchFamily="34" charset="-120"/>
              </a:rPr>
              <a:t>trong bối cảnh phục hồi chức năng, bỏ sót mỏi (FN) thường nguy hiểm hơn báo giả (FP) — nên Recall thường được ưu tiên khi phải đánh đổi. F1 giúp so sánh công bằng: SVM-RBF Recall cao (0,917) nhưng Precision rất thấp (0,630) nên F1 thấp nhất (0,747); KNN cân bằng cả hai (P=0,974, R=0,935) nên F1 cao nhất (0,954).</a:t>
            </a:r>
            <a:endParaRPr lang="en-US" sz="1150" dirty="0"/>
          </a:p>
        </p:txBody>
      </p:sp>
      <p:sp>
        <p:nvSpPr>
          <p:cNvPr id="7" name="Text 4"/>
          <p:cNvSpPr/>
          <p:nvPr/>
        </p:nvSpPr>
        <p:spPr>
          <a:xfrm>
            <a:off x="502920" y="6473952"/>
            <a:ext cx="5486400" cy="274320"/>
          </a:xfrm>
          <a:prstGeom prst="rect">
            <a:avLst/>
          </a:prstGeom>
          <a:noFill/>
          <a:ln/>
        </p:spPr>
        <p:txBody>
          <a:bodyPr wrap="square" lIns="0" tIns="0" rIns="0" bIns="0" rtlCol="0" anchor="ctr"/>
          <a:lstStyle/>
          <a:p>
            <a:pPr marL="0" indent="0">
              <a:buNone/>
            </a:pPr>
            <a:r>
              <a:rPr lang="en-US" sz="900" dirty="0">
                <a:solidFill>
                  <a:srgbClr val="5B7280"/>
                </a:solidFill>
                <a:latin typeface="Arial" pitchFamily="34" charset="0"/>
                <a:ea typeface="Arial" pitchFamily="34" charset="-122"/>
                <a:cs typeface="Arial" pitchFamily="34" charset="-120"/>
              </a:rPr>
              <a:t>sEMG Fatigue Detection · Springer 2025</a:t>
            </a:r>
            <a:endParaRPr lang="en-US" sz="900" dirty="0"/>
          </a:p>
        </p:txBody>
      </p:sp>
      <p:sp>
        <p:nvSpPr>
          <p:cNvPr id="8" name="Text 5"/>
          <p:cNvSpPr/>
          <p:nvPr/>
        </p:nvSpPr>
        <p:spPr>
          <a:xfrm>
            <a:off x="11277295" y="6473952"/>
            <a:ext cx="411480" cy="274320"/>
          </a:xfrm>
          <a:prstGeom prst="rect">
            <a:avLst/>
          </a:prstGeom>
          <a:noFill/>
          <a:ln/>
        </p:spPr>
        <p:txBody>
          <a:bodyPr wrap="square" lIns="0" tIns="0" rIns="0" bIns="0" rtlCol="0" anchor="ctr"/>
          <a:lstStyle/>
          <a:p>
            <a:pPr marL="0" indent="0" algn="r">
              <a:buNone/>
            </a:pPr>
            <a:r>
              <a:rPr lang="en-US" sz="900" dirty="0">
                <a:solidFill>
                  <a:srgbClr val="5B7280"/>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8229600" cy="320040"/>
          </a:xfrm>
          <a:prstGeom prst="rect">
            <a:avLst/>
          </a:prstGeom>
          <a:noFill/>
          <a:ln/>
        </p:spPr>
        <p:txBody>
          <a:bodyPr wrap="square" lIns="0" tIns="0" rIns="0" bIns="0" rtlCol="0" anchor="ctr"/>
          <a:lstStyle/>
          <a:p>
            <a:pPr marL="0" indent="0">
              <a:buNone/>
            </a:pPr>
            <a:r>
              <a:rPr lang="en-US" sz="1250" b="1" kern="0" spc="200" dirty="0">
                <a:solidFill>
                  <a:srgbClr val="028090"/>
                </a:solidFill>
                <a:latin typeface="Arial" pitchFamily="34" charset="0"/>
                <a:ea typeface="Arial" pitchFamily="34" charset="-122"/>
                <a:cs typeface="Arial" pitchFamily="34" charset="-120"/>
              </a:rPr>
              <a:t>04 · PHƯƠNG PHÁP ĐÁNH GIÁ</a:t>
            </a:r>
            <a:endParaRPr lang="en-US" sz="1250" dirty="0"/>
          </a:p>
        </p:txBody>
      </p:sp>
      <p:sp>
        <p:nvSpPr>
          <p:cNvPr id="3" name="Text 1"/>
          <p:cNvSpPr/>
          <p:nvPr/>
        </p:nvSpPr>
        <p:spPr>
          <a:xfrm>
            <a:off x="548640" y="822960"/>
            <a:ext cx="11155680" cy="731520"/>
          </a:xfrm>
          <a:prstGeom prst="rect">
            <a:avLst/>
          </a:prstGeom>
          <a:noFill/>
          <a:ln/>
        </p:spPr>
        <p:txBody>
          <a:bodyPr wrap="square" lIns="0" tIns="0" rIns="0" bIns="0" rtlCol="0" anchor="ctr"/>
          <a:lstStyle/>
          <a:p>
            <a:pPr marL="0" indent="0">
              <a:buNone/>
            </a:pPr>
            <a:r>
              <a:rPr lang="en-US" sz="3100" b="1" dirty="0">
                <a:solidFill>
                  <a:srgbClr val="0B2A4A"/>
                </a:solidFill>
                <a:latin typeface="Cambria" pitchFamily="34" charset="0"/>
                <a:ea typeface="Cambria" pitchFamily="34" charset="-122"/>
                <a:cs typeface="Cambria" pitchFamily="34" charset="-120"/>
              </a:rPr>
              <a:t>Chia dữ liệu: Leave-One-Subject-Out</a:t>
            </a:r>
            <a:endParaRPr lang="en-US" sz="3100" dirty="0"/>
          </a:p>
        </p:txBody>
      </p:sp>
      <p:sp>
        <p:nvSpPr>
          <p:cNvPr id="4" name="Shape 2"/>
          <p:cNvSpPr/>
          <p:nvPr/>
        </p:nvSpPr>
        <p:spPr>
          <a:xfrm>
            <a:off x="2148840" y="1755648"/>
            <a:ext cx="201168" cy="201168"/>
          </a:xfrm>
          <a:prstGeom prst="rect">
            <a:avLst/>
          </a:prstGeom>
          <a:solidFill>
            <a:srgbClr val="028090"/>
          </a:solidFill>
          <a:ln/>
        </p:spPr>
      </p:sp>
      <p:sp>
        <p:nvSpPr>
          <p:cNvPr id="5" name="Text 3"/>
          <p:cNvSpPr/>
          <p:nvPr/>
        </p:nvSpPr>
        <p:spPr>
          <a:xfrm>
            <a:off x="2423160" y="1709928"/>
            <a:ext cx="2194560" cy="292608"/>
          </a:xfrm>
          <a:prstGeom prst="rect">
            <a:avLst/>
          </a:prstGeom>
          <a:noFill/>
          <a:ln/>
        </p:spPr>
        <p:txBody>
          <a:bodyPr wrap="square" lIns="0" tIns="0" rIns="0" bIns="0" rtlCol="0" anchor="ctr"/>
          <a:lstStyle/>
          <a:p>
            <a:pPr marL="0" indent="0">
              <a:buNone/>
            </a:pPr>
            <a:r>
              <a:rPr lang="en-US" sz="1150" dirty="0">
                <a:solidFill>
                  <a:srgbClr val="12303F"/>
                </a:solidFill>
                <a:latin typeface="Arial" pitchFamily="34" charset="0"/>
                <a:ea typeface="Arial" pitchFamily="34" charset="-122"/>
                <a:cs typeface="Arial" pitchFamily="34" charset="-120"/>
              </a:rPr>
              <a:t>Huấn luyện (train)</a:t>
            </a:r>
            <a:endParaRPr lang="en-US" sz="1150" dirty="0"/>
          </a:p>
        </p:txBody>
      </p:sp>
      <p:sp>
        <p:nvSpPr>
          <p:cNvPr id="6" name="Shape 4"/>
          <p:cNvSpPr/>
          <p:nvPr/>
        </p:nvSpPr>
        <p:spPr>
          <a:xfrm>
            <a:off x="4572000" y="1755648"/>
            <a:ext cx="201168" cy="201168"/>
          </a:xfrm>
          <a:prstGeom prst="rect">
            <a:avLst/>
          </a:prstGeom>
          <a:solidFill>
            <a:srgbClr val="C9A227"/>
          </a:solidFill>
          <a:ln/>
        </p:spPr>
      </p:sp>
      <p:sp>
        <p:nvSpPr>
          <p:cNvPr id="7" name="Text 5"/>
          <p:cNvSpPr/>
          <p:nvPr/>
        </p:nvSpPr>
        <p:spPr>
          <a:xfrm>
            <a:off x="4846320" y="1709928"/>
            <a:ext cx="2377440" cy="292608"/>
          </a:xfrm>
          <a:prstGeom prst="rect">
            <a:avLst/>
          </a:prstGeom>
          <a:noFill/>
          <a:ln/>
        </p:spPr>
        <p:txBody>
          <a:bodyPr wrap="square" lIns="0" tIns="0" rIns="0" bIns="0" rtlCol="0" anchor="ctr"/>
          <a:lstStyle/>
          <a:p>
            <a:pPr marL="0" indent="0">
              <a:buNone/>
            </a:pPr>
            <a:r>
              <a:rPr lang="en-US" sz="1150" dirty="0">
                <a:solidFill>
                  <a:srgbClr val="12303F"/>
                </a:solidFill>
                <a:latin typeface="Arial" pitchFamily="34" charset="0"/>
                <a:ea typeface="Arial" pitchFamily="34" charset="-122"/>
                <a:cs typeface="Arial" pitchFamily="34" charset="-120"/>
              </a:rPr>
              <a:t>Kiểm tra / validation</a:t>
            </a:r>
            <a:endParaRPr lang="en-US" sz="1150" dirty="0"/>
          </a:p>
        </p:txBody>
      </p:sp>
      <p:sp>
        <p:nvSpPr>
          <p:cNvPr id="8" name="Text 6"/>
          <p:cNvSpPr/>
          <p:nvPr/>
        </p:nvSpPr>
        <p:spPr>
          <a:xfrm>
            <a:off x="548640" y="2212848"/>
            <a:ext cx="1508760" cy="292608"/>
          </a:xfrm>
          <a:prstGeom prst="rect">
            <a:avLst/>
          </a:prstGeom>
          <a:noFill/>
          <a:ln/>
        </p:spPr>
        <p:txBody>
          <a:bodyPr wrap="square" lIns="0" tIns="0" rIns="0" bIns="0" rtlCol="0" anchor="ctr"/>
          <a:lstStyle/>
          <a:p>
            <a:pPr marL="0" indent="0">
              <a:buNone/>
            </a:pPr>
            <a:r>
              <a:rPr lang="en-US" sz="1500" b="1" dirty="0">
                <a:solidFill>
                  <a:srgbClr val="0B2A4A"/>
                </a:solidFill>
                <a:latin typeface="Arial" pitchFamily="34" charset="0"/>
                <a:ea typeface="Arial" pitchFamily="34" charset="-122"/>
                <a:cs typeface="Arial" pitchFamily="34" charset="-120"/>
              </a:rPr>
              <a:t>Hold-out</a:t>
            </a:r>
            <a:endParaRPr lang="en-US" sz="1500" dirty="0"/>
          </a:p>
        </p:txBody>
      </p:sp>
      <p:sp>
        <p:nvSpPr>
          <p:cNvPr id="9" name="Text 7"/>
          <p:cNvSpPr/>
          <p:nvPr/>
        </p:nvSpPr>
        <p:spPr>
          <a:xfrm>
            <a:off x="548640" y="2505456"/>
            <a:ext cx="1508760" cy="274320"/>
          </a:xfrm>
          <a:prstGeom prst="rect">
            <a:avLst/>
          </a:prstGeom>
          <a:noFill/>
          <a:ln/>
        </p:spPr>
        <p:txBody>
          <a:bodyPr wrap="square" lIns="0" tIns="0" rIns="0" bIns="0" rtlCol="0" anchor="ctr"/>
          <a:lstStyle/>
          <a:p>
            <a:pPr marL="0" indent="0">
              <a:buNone/>
            </a:pPr>
            <a:r>
              <a:rPr lang="en-US" sz="1050" dirty="0">
                <a:solidFill>
                  <a:srgbClr val="5B7280"/>
                </a:solidFill>
                <a:latin typeface="Arial" pitchFamily="34" charset="0"/>
                <a:ea typeface="Arial" pitchFamily="34" charset="-122"/>
                <a:cs typeface="Arial" pitchFamily="34" charset="-120"/>
              </a:rPr>
              <a:t>Train + Test</a:t>
            </a:r>
            <a:endParaRPr lang="en-US" sz="1050" dirty="0"/>
          </a:p>
        </p:txBody>
      </p:sp>
      <p:sp>
        <p:nvSpPr>
          <p:cNvPr id="10" name="Shape 8"/>
          <p:cNvSpPr/>
          <p:nvPr/>
        </p:nvSpPr>
        <p:spPr>
          <a:xfrm>
            <a:off x="2148840" y="2212848"/>
            <a:ext cx="5779008" cy="384048"/>
          </a:xfrm>
          <a:prstGeom prst="roundRect">
            <a:avLst>
              <a:gd name="adj" fmla="val 9524"/>
            </a:avLst>
          </a:prstGeom>
          <a:solidFill>
            <a:srgbClr val="028090"/>
          </a:solidFill>
          <a:ln w="12700">
            <a:solidFill>
              <a:srgbClr val="FFFFFF"/>
            </a:solidFill>
            <a:prstDash val="solid"/>
          </a:ln>
        </p:spPr>
      </p:sp>
      <p:sp>
        <p:nvSpPr>
          <p:cNvPr id="11" name="Text 9"/>
          <p:cNvSpPr/>
          <p:nvPr/>
        </p:nvSpPr>
        <p:spPr>
          <a:xfrm>
            <a:off x="2148840" y="2212848"/>
            <a:ext cx="577900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Huấn luyện · 80%</a:t>
            </a:r>
            <a:endParaRPr lang="en-US" sz="1200" dirty="0"/>
          </a:p>
        </p:txBody>
      </p:sp>
      <p:sp>
        <p:nvSpPr>
          <p:cNvPr id="12" name="Shape 10"/>
          <p:cNvSpPr/>
          <p:nvPr/>
        </p:nvSpPr>
        <p:spPr>
          <a:xfrm>
            <a:off x="7927848" y="2212848"/>
            <a:ext cx="1444752" cy="384048"/>
          </a:xfrm>
          <a:prstGeom prst="roundRect">
            <a:avLst>
              <a:gd name="adj" fmla="val 9524"/>
            </a:avLst>
          </a:prstGeom>
          <a:solidFill>
            <a:srgbClr val="C9A227"/>
          </a:solidFill>
          <a:ln w="12700">
            <a:solidFill>
              <a:srgbClr val="FFFFFF"/>
            </a:solidFill>
            <a:prstDash val="solid"/>
          </a:ln>
        </p:spPr>
      </p:sp>
      <p:sp>
        <p:nvSpPr>
          <p:cNvPr id="13" name="Text 11"/>
          <p:cNvSpPr/>
          <p:nvPr/>
        </p:nvSpPr>
        <p:spPr>
          <a:xfrm>
            <a:off x="7927848" y="2212848"/>
            <a:ext cx="1444752" cy="384048"/>
          </a:xfrm>
          <a:prstGeom prst="rect">
            <a:avLst/>
          </a:prstGeom>
          <a:noFill/>
          <a:ln/>
        </p:spPr>
        <p:txBody>
          <a:bodyPr wrap="square" lIns="0" tIns="0" rIns="0" bIns="0" rtlCol="0" anchor="ctr"/>
          <a:lstStyle/>
          <a:p>
            <a:pPr marL="0" indent="0" algn="ctr">
              <a:buNone/>
            </a:pPr>
            <a:r>
              <a:rPr lang="en-US" sz="1100" b="1" dirty="0">
                <a:solidFill>
                  <a:srgbClr val="0B2A4A"/>
                </a:solidFill>
                <a:latin typeface="Arial" pitchFamily="34" charset="0"/>
                <a:ea typeface="Arial" pitchFamily="34" charset="-122"/>
                <a:cs typeface="Arial" pitchFamily="34" charset="-120"/>
              </a:rPr>
              <a:t>Test 20%</a:t>
            </a:r>
            <a:endParaRPr lang="en-US" sz="1100" dirty="0"/>
          </a:p>
        </p:txBody>
      </p:sp>
      <p:sp>
        <p:nvSpPr>
          <p:cNvPr id="14" name="Text 12"/>
          <p:cNvSpPr/>
          <p:nvPr/>
        </p:nvSpPr>
        <p:spPr>
          <a:xfrm>
            <a:off x="548640" y="3218688"/>
            <a:ext cx="1508760" cy="292608"/>
          </a:xfrm>
          <a:prstGeom prst="rect">
            <a:avLst/>
          </a:prstGeom>
          <a:noFill/>
          <a:ln/>
        </p:spPr>
        <p:txBody>
          <a:bodyPr wrap="square" lIns="0" tIns="0" rIns="0" bIns="0" rtlCol="0" anchor="ctr"/>
          <a:lstStyle/>
          <a:p>
            <a:pPr marL="0" indent="0">
              <a:buNone/>
            </a:pPr>
            <a:r>
              <a:rPr lang="en-US" sz="1500" b="1" dirty="0">
                <a:solidFill>
                  <a:srgbClr val="0B2A4A"/>
                </a:solidFill>
                <a:latin typeface="Arial" pitchFamily="34" charset="0"/>
                <a:ea typeface="Arial" pitchFamily="34" charset="-122"/>
                <a:cs typeface="Arial" pitchFamily="34" charset="-120"/>
              </a:rPr>
              <a:t>k-fold CV</a:t>
            </a:r>
            <a:endParaRPr lang="en-US" sz="1500" dirty="0"/>
          </a:p>
        </p:txBody>
      </p:sp>
      <p:sp>
        <p:nvSpPr>
          <p:cNvPr id="15" name="Text 13"/>
          <p:cNvSpPr/>
          <p:nvPr/>
        </p:nvSpPr>
        <p:spPr>
          <a:xfrm>
            <a:off x="548640" y="3511296"/>
            <a:ext cx="1508760" cy="274320"/>
          </a:xfrm>
          <a:prstGeom prst="rect">
            <a:avLst/>
          </a:prstGeom>
          <a:noFill/>
          <a:ln/>
        </p:spPr>
        <p:txBody>
          <a:bodyPr wrap="square" lIns="0" tIns="0" rIns="0" bIns="0" rtlCol="0" anchor="ctr"/>
          <a:lstStyle/>
          <a:p>
            <a:pPr marL="0" indent="0">
              <a:buNone/>
            </a:pPr>
            <a:r>
              <a:rPr lang="en-US" sz="1050" dirty="0">
                <a:solidFill>
                  <a:srgbClr val="5B7280"/>
                </a:solidFill>
                <a:latin typeface="Arial" pitchFamily="34" charset="0"/>
                <a:ea typeface="Arial" pitchFamily="34" charset="-122"/>
                <a:cs typeface="Arial" pitchFamily="34" charset="-120"/>
              </a:rPr>
              <a:t>k = 5, luân phiên</a:t>
            </a:r>
            <a:endParaRPr lang="en-US" sz="1050" dirty="0"/>
          </a:p>
        </p:txBody>
      </p:sp>
      <p:sp>
        <p:nvSpPr>
          <p:cNvPr id="16" name="Shape 14"/>
          <p:cNvSpPr/>
          <p:nvPr/>
        </p:nvSpPr>
        <p:spPr>
          <a:xfrm>
            <a:off x="2148840" y="3035808"/>
            <a:ext cx="1408176" cy="146304"/>
          </a:xfrm>
          <a:prstGeom prst="rect">
            <a:avLst/>
          </a:prstGeom>
          <a:solidFill>
            <a:srgbClr val="C9A227"/>
          </a:solidFill>
          <a:ln w="9525">
            <a:solidFill>
              <a:srgbClr val="FFFFFF"/>
            </a:solidFill>
            <a:prstDash val="solid"/>
          </a:ln>
        </p:spPr>
      </p:sp>
      <p:sp>
        <p:nvSpPr>
          <p:cNvPr id="17" name="Shape 15"/>
          <p:cNvSpPr/>
          <p:nvPr/>
        </p:nvSpPr>
        <p:spPr>
          <a:xfrm>
            <a:off x="3593592" y="3035808"/>
            <a:ext cx="1408176" cy="146304"/>
          </a:xfrm>
          <a:prstGeom prst="rect">
            <a:avLst/>
          </a:prstGeom>
          <a:solidFill>
            <a:srgbClr val="028090"/>
          </a:solidFill>
          <a:ln w="9525">
            <a:solidFill>
              <a:srgbClr val="FFFFFF"/>
            </a:solidFill>
            <a:prstDash val="solid"/>
          </a:ln>
        </p:spPr>
      </p:sp>
      <p:sp>
        <p:nvSpPr>
          <p:cNvPr id="18" name="Shape 16"/>
          <p:cNvSpPr/>
          <p:nvPr/>
        </p:nvSpPr>
        <p:spPr>
          <a:xfrm>
            <a:off x="5038344" y="3035808"/>
            <a:ext cx="1408176" cy="146304"/>
          </a:xfrm>
          <a:prstGeom prst="rect">
            <a:avLst/>
          </a:prstGeom>
          <a:solidFill>
            <a:srgbClr val="028090"/>
          </a:solidFill>
          <a:ln w="9525">
            <a:solidFill>
              <a:srgbClr val="FFFFFF"/>
            </a:solidFill>
            <a:prstDash val="solid"/>
          </a:ln>
        </p:spPr>
      </p:sp>
      <p:sp>
        <p:nvSpPr>
          <p:cNvPr id="19" name="Shape 17"/>
          <p:cNvSpPr/>
          <p:nvPr/>
        </p:nvSpPr>
        <p:spPr>
          <a:xfrm>
            <a:off x="6483096" y="3035808"/>
            <a:ext cx="1408176" cy="146304"/>
          </a:xfrm>
          <a:prstGeom prst="rect">
            <a:avLst/>
          </a:prstGeom>
          <a:solidFill>
            <a:srgbClr val="028090"/>
          </a:solidFill>
          <a:ln w="9525">
            <a:solidFill>
              <a:srgbClr val="FFFFFF"/>
            </a:solidFill>
            <a:prstDash val="solid"/>
          </a:ln>
        </p:spPr>
      </p:sp>
      <p:sp>
        <p:nvSpPr>
          <p:cNvPr id="20" name="Shape 18"/>
          <p:cNvSpPr/>
          <p:nvPr/>
        </p:nvSpPr>
        <p:spPr>
          <a:xfrm>
            <a:off x="7927848" y="3035808"/>
            <a:ext cx="1408176" cy="146304"/>
          </a:xfrm>
          <a:prstGeom prst="rect">
            <a:avLst/>
          </a:prstGeom>
          <a:solidFill>
            <a:srgbClr val="028090"/>
          </a:solidFill>
          <a:ln w="9525">
            <a:solidFill>
              <a:srgbClr val="FFFFFF"/>
            </a:solidFill>
            <a:prstDash val="solid"/>
          </a:ln>
        </p:spPr>
      </p:sp>
      <p:sp>
        <p:nvSpPr>
          <p:cNvPr id="21" name="Shape 19"/>
          <p:cNvSpPr/>
          <p:nvPr/>
        </p:nvSpPr>
        <p:spPr>
          <a:xfrm>
            <a:off x="2148840" y="3227832"/>
            <a:ext cx="1408176" cy="146304"/>
          </a:xfrm>
          <a:prstGeom prst="rect">
            <a:avLst/>
          </a:prstGeom>
          <a:solidFill>
            <a:srgbClr val="028090"/>
          </a:solidFill>
          <a:ln w="9525">
            <a:solidFill>
              <a:srgbClr val="FFFFFF"/>
            </a:solidFill>
            <a:prstDash val="solid"/>
          </a:ln>
        </p:spPr>
      </p:sp>
      <p:sp>
        <p:nvSpPr>
          <p:cNvPr id="22" name="Shape 20"/>
          <p:cNvSpPr/>
          <p:nvPr/>
        </p:nvSpPr>
        <p:spPr>
          <a:xfrm>
            <a:off x="3593592" y="3227832"/>
            <a:ext cx="1408176" cy="146304"/>
          </a:xfrm>
          <a:prstGeom prst="rect">
            <a:avLst/>
          </a:prstGeom>
          <a:solidFill>
            <a:srgbClr val="C9A227"/>
          </a:solidFill>
          <a:ln w="9525">
            <a:solidFill>
              <a:srgbClr val="FFFFFF"/>
            </a:solidFill>
            <a:prstDash val="solid"/>
          </a:ln>
        </p:spPr>
      </p:sp>
      <p:sp>
        <p:nvSpPr>
          <p:cNvPr id="23" name="Shape 21"/>
          <p:cNvSpPr/>
          <p:nvPr/>
        </p:nvSpPr>
        <p:spPr>
          <a:xfrm>
            <a:off x="5038344" y="3227832"/>
            <a:ext cx="1408176" cy="146304"/>
          </a:xfrm>
          <a:prstGeom prst="rect">
            <a:avLst/>
          </a:prstGeom>
          <a:solidFill>
            <a:srgbClr val="028090"/>
          </a:solidFill>
          <a:ln w="9525">
            <a:solidFill>
              <a:srgbClr val="FFFFFF"/>
            </a:solidFill>
            <a:prstDash val="solid"/>
          </a:ln>
        </p:spPr>
      </p:sp>
      <p:sp>
        <p:nvSpPr>
          <p:cNvPr id="24" name="Shape 22"/>
          <p:cNvSpPr/>
          <p:nvPr/>
        </p:nvSpPr>
        <p:spPr>
          <a:xfrm>
            <a:off x="6483096" y="3227832"/>
            <a:ext cx="1408176" cy="146304"/>
          </a:xfrm>
          <a:prstGeom prst="rect">
            <a:avLst/>
          </a:prstGeom>
          <a:solidFill>
            <a:srgbClr val="028090"/>
          </a:solidFill>
          <a:ln w="9525">
            <a:solidFill>
              <a:srgbClr val="FFFFFF"/>
            </a:solidFill>
            <a:prstDash val="solid"/>
          </a:ln>
        </p:spPr>
      </p:sp>
      <p:sp>
        <p:nvSpPr>
          <p:cNvPr id="25" name="Shape 23"/>
          <p:cNvSpPr/>
          <p:nvPr/>
        </p:nvSpPr>
        <p:spPr>
          <a:xfrm>
            <a:off x="7927848" y="3227832"/>
            <a:ext cx="1408176" cy="146304"/>
          </a:xfrm>
          <a:prstGeom prst="rect">
            <a:avLst/>
          </a:prstGeom>
          <a:solidFill>
            <a:srgbClr val="028090"/>
          </a:solidFill>
          <a:ln w="9525">
            <a:solidFill>
              <a:srgbClr val="FFFFFF"/>
            </a:solidFill>
            <a:prstDash val="solid"/>
          </a:ln>
        </p:spPr>
      </p:sp>
      <p:sp>
        <p:nvSpPr>
          <p:cNvPr id="26" name="Shape 24"/>
          <p:cNvSpPr/>
          <p:nvPr/>
        </p:nvSpPr>
        <p:spPr>
          <a:xfrm>
            <a:off x="2148840" y="3419856"/>
            <a:ext cx="1408176" cy="146304"/>
          </a:xfrm>
          <a:prstGeom prst="rect">
            <a:avLst/>
          </a:prstGeom>
          <a:solidFill>
            <a:srgbClr val="028090"/>
          </a:solidFill>
          <a:ln w="9525">
            <a:solidFill>
              <a:srgbClr val="FFFFFF"/>
            </a:solidFill>
            <a:prstDash val="solid"/>
          </a:ln>
        </p:spPr>
      </p:sp>
      <p:sp>
        <p:nvSpPr>
          <p:cNvPr id="27" name="Shape 25"/>
          <p:cNvSpPr/>
          <p:nvPr/>
        </p:nvSpPr>
        <p:spPr>
          <a:xfrm>
            <a:off x="3593592" y="3419856"/>
            <a:ext cx="1408176" cy="146304"/>
          </a:xfrm>
          <a:prstGeom prst="rect">
            <a:avLst/>
          </a:prstGeom>
          <a:solidFill>
            <a:srgbClr val="028090"/>
          </a:solidFill>
          <a:ln w="9525">
            <a:solidFill>
              <a:srgbClr val="FFFFFF"/>
            </a:solidFill>
            <a:prstDash val="solid"/>
          </a:ln>
        </p:spPr>
      </p:sp>
      <p:sp>
        <p:nvSpPr>
          <p:cNvPr id="28" name="Shape 26"/>
          <p:cNvSpPr/>
          <p:nvPr/>
        </p:nvSpPr>
        <p:spPr>
          <a:xfrm>
            <a:off x="5038344" y="3419856"/>
            <a:ext cx="1408176" cy="146304"/>
          </a:xfrm>
          <a:prstGeom prst="rect">
            <a:avLst/>
          </a:prstGeom>
          <a:solidFill>
            <a:srgbClr val="C9A227"/>
          </a:solidFill>
          <a:ln w="9525">
            <a:solidFill>
              <a:srgbClr val="FFFFFF"/>
            </a:solidFill>
            <a:prstDash val="solid"/>
          </a:ln>
        </p:spPr>
      </p:sp>
      <p:sp>
        <p:nvSpPr>
          <p:cNvPr id="29" name="Shape 27"/>
          <p:cNvSpPr/>
          <p:nvPr/>
        </p:nvSpPr>
        <p:spPr>
          <a:xfrm>
            <a:off x="6483096" y="3419856"/>
            <a:ext cx="1408176" cy="146304"/>
          </a:xfrm>
          <a:prstGeom prst="rect">
            <a:avLst/>
          </a:prstGeom>
          <a:solidFill>
            <a:srgbClr val="028090"/>
          </a:solidFill>
          <a:ln w="9525">
            <a:solidFill>
              <a:srgbClr val="FFFFFF"/>
            </a:solidFill>
            <a:prstDash val="solid"/>
          </a:ln>
        </p:spPr>
      </p:sp>
      <p:sp>
        <p:nvSpPr>
          <p:cNvPr id="30" name="Shape 28"/>
          <p:cNvSpPr/>
          <p:nvPr/>
        </p:nvSpPr>
        <p:spPr>
          <a:xfrm>
            <a:off x="7927848" y="3419856"/>
            <a:ext cx="1408176" cy="146304"/>
          </a:xfrm>
          <a:prstGeom prst="rect">
            <a:avLst/>
          </a:prstGeom>
          <a:solidFill>
            <a:srgbClr val="028090"/>
          </a:solidFill>
          <a:ln w="9525">
            <a:solidFill>
              <a:srgbClr val="FFFFFF"/>
            </a:solidFill>
            <a:prstDash val="solid"/>
          </a:ln>
        </p:spPr>
      </p:sp>
      <p:sp>
        <p:nvSpPr>
          <p:cNvPr id="31" name="Shape 29"/>
          <p:cNvSpPr/>
          <p:nvPr/>
        </p:nvSpPr>
        <p:spPr>
          <a:xfrm>
            <a:off x="2148840" y="3611880"/>
            <a:ext cx="1408176" cy="146304"/>
          </a:xfrm>
          <a:prstGeom prst="rect">
            <a:avLst/>
          </a:prstGeom>
          <a:solidFill>
            <a:srgbClr val="028090"/>
          </a:solidFill>
          <a:ln w="9525">
            <a:solidFill>
              <a:srgbClr val="FFFFFF"/>
            </a:solidFill>
            <a:prstDash val="solid"/>
          </a:ln>
        </p:spPr>
      </p:sp>
      <p:sp>
        <p:nvSpPr>
          <p:cNvPr id="32" name="Shape 30"/>
          <p:cNvSpPr/>
          <p:nvPr/>
        </p:nvSpPr>
        <p:spPr>
          <a:xfrm>
            <a:off x="3593592" y="3611880"/>
            <a:ext cx="1408176" cy="146304"/>
          </a:xfrm>
          <a:prstGeom prst="rect">
            <a:avLst/>
          </a:prstGeom>
          <a:solidFill>
            <a:srgbClr val="028090"/>
          </a:solidFill>
          <a:ln w="9525">
            <a:solidFill>
              <a:srgbClr val="FFFFFF"/>
            </a:solidFill>
            <a:prstDash val="solid"/>
          </a:ln>
        </p:spPr>
      </p:sp>
      <p:sp>
        <p:nvSpPr>
          <p:cNvPr id="33" name="Shape 31"/>
          <p:cNvSpPr/>
          <p:nvPr/>
        </p:nvSpPr>
        <p:spPr>
          <a:xfrm>
            <a:off x="5038344" y="3611880"/>
            <a:ext cx="1408176" cy="146304"/>
          </a:xfrm>
          <a:prstGeom prst="rect">
            <a:avLst/>
          </a:prstGeom>
          <a:solidFill>
            <a:srgbClr val="028090"/>
          </a:solidFill>
          <a:ln w="9525">
            <a:solidFill>
              <a:srgbClr val="FFFFFF"/>
            </a:solidFill>
            <a:prstDash val="solid"/>
          </a:ln>
        </p:spPr>
      </p:sp>
      <p:sp>
        <p:nvSpPr>
          <p:cNvPr id="34" name="Shape 32"/>
          <p:cNvSpPr/>
          <p:nvPr/>
        </p:nvSpPr>
        <p:spPr>
          <a:xfrm>
            <a:off x="6483096" y="3611880"/>
            <a:ext cx="1408176" cy="146304"/>
          </a:xfrm>
          <a:prstGeom prst="rect">
            <a:avLst/>
          </a:prstGeom>
          <a:solidFill>
            <a:srgbClr val="C9A227"/>
          </a:solidFill>
          <a:ln w="9525">
            <a:solidFill>
              <a:srgbClr val="FFFFFF"/>
            </a:solidFill>
            <a:prstDash val="solid"/>
          </a:ln>
        </p:spPr>
      </p:sp>
      <p:sp>
        <p:nvSpPr>
          <p:cNvPr id="35" name="Shape 33"/>
          <p:cNvSpPr/>
          <p:nvPr/>
        </p:nvSpPr>
        <p:spPr>
          <a:xfrm>
            <a:off x="7927848" y="3611880"/>
            <a:ext cx="1408176" cy="146304"/>
          </a:xfrm>
          <a:prstGeom prst="rect">
            <a:avLst/>
          </a:prstGeom>
          <a:solidFill>
            <a:srgbClr val="028090"/>
          </a:solidFill>
          <a:ln w="9525">
            <a:solidFill>
              <a:srgbClr val="FFFFFF"/>
            </a:solidFill>
            <a:prstDash val="solid"/>
          </a:ln>
        </p:spPr>
      </p:sp>
      <p:sp>
        <p:nvSpPr>
          <p:cNvPr id="36" name="Shape 34"/>
          <p:cNvSpPr/>
          <p:nvPr/>
        </p:nvSpPr>
        <p:spPr>
          <a:xfrm>
            <a:off x="2148840" y="3803904"/>
            <a:ext cx="1408176" cy="146304"/>
          </a:xfrm>
          <a:prstGeom prst="rect">
            <a:avLst/>
          </a:prstGeom>
          <a:solidFill>
            <a:srgbClr val="028090"/>
          </a:solidFill>
          <a:ln w="9525">
            <a:solidFill>
              <a:srgbClr val="FFFFFF"/>
            </a:solidFill>
            <a:prstDash val="solid"/>
          </a:ln>
        </p:spPr>
      </p:sp>
      <p:sp>
        <p:nvSpPr>
          <p:cNvPr id="37" name="Shape 35"/>
          <p:cNvSpPr/>
          <p:nvPr/>
        </p:nvSpPr>
        <p:spPr>
          <a:xfrm>
            <a:off x="3593592" y="3803904"/>
            <a:ext cx="1408176" cy="146304"/>
          </a:xfrm>
          <a:prstGeom prst="rect">
            <a:avLst/>
          </a:prstGeom>
          <a:solidFill>
            <a:srgbClr val="028090"/>
          </a:solidFill>
          <a:ln w="9525">
            <a:solidFill>
              <a:srgbClr val="FFFFFF"/>
            </a:solidFill>
            <a:prstDash val="solid"/>
          </a:ln>
        </p:spPr>
      </p:sp>
      <p:sp>
        <p:nvSpPr>
          <p:cNvPr id="38" name="Shape 36"/>
          <p:cNvSpPr/>
          <p:nvPr/>
        </p:nvSpPr>
        <p:spPr>
          <a:xfrm>
            <a:off x="5038344" y="3803904"/>
            <a:ext cx="1408176" cy="146304"/>
          </a:xfrm>
          <a:prstGeom prst="rect">
            <a:avLst/>
          </a:prstGeom>
          <a:solidFill>
            <a:srgbClr val="028090"/>
          </a:solidFill>
          <a:ln w="9525">
            <a:solidFill>
              <a:srgbClr val="FFFFFF"/>
            </a:solidFill>
            <a:prstDash val="solid"/>
          </a:ln>
        </p:spPr>
      </p:sp>
      <p:sp>
        <p:nvSpPr>
          <p:cNvPr id="39" name="Shape 37"/>
          <p:cNvSpPr/>
          <p:nvPr/>
        </p:nvSpPr>
        <p:spPr>
          <a:xfrm>
            <a:off x="6483096" y="3803904"/>
            <a:ext cx="1408176" cy="146304"/>
          </a:xfrm>
          <a:prstGeom prst="rect">
            <a:avLst/>
          </a:prstGeom>
          <a:solidFill>
            <a:srgbClr val="028090"/>
          </a:solidFill>
          <a:ln w="9525">
            <a:solidFill>
              <a:srgbClr val="FFFFFF"/>
            </a:solidFill>
            <a:prstDash val="solid"/>
          </a:ln>
        </p:spPr>
      </p:sp>
      <p:sp>
        <p:nvSpPr>
          <p:cNvPr id="40" name="Shape 38"/>
          <p:cNvSpPr/>
          <p:nvPr/>
        </p:nvSpPr>
        <p:spPr>
          <a:xfrm>
            <a:off x="7927848" y="3803904"/>
            <a:ext cx="1408176" cy="146304"/>
          </a:xfrm>
          <a:prstGeom prst="rect">
            <a:avLst/>
          </a:prstGeom>
          <a:solidFill>
            <a:srgbClr val="C9A227"/>
          </a:solidFill>
          <a:ln w="9525">
            <a:solidFill>
              <a:srgbClr val="FFFFFF"/>
            </a:solidFill>
            <a:prstDash val="solid"/>
          </a:ln>
        </p:spPr>
      </p:sp>
      <p:sp>
        <p:nvSpPr>
          <p:cNvPr id="41" name="Text 39"/>
          <p:cNvSpPr/>
          <p:nvPr/>
        </p:nvSpPr>
        <p:spPr>
          <a:xfrm>
            <a:off x="548640" y="4315968"/>
            <a:ext cx="1508760" cy="292608"/>
          </a:xfrm>
          <a:prstGeom prst="rect">
            <a:avLst/>
          </a:prstGeom>
          <a:noFill/>
          <a:ln/>
        </p:spPr>
        <p:txBody>
          <a:bodyPr wrap="square" lIns="0" tIns="0" rIns="0" bIns="0" rtlCol="0" anchor="ctr"/>
          <a:lstStyle/>
          <a:p>
            <a:pPr marL="0" indent="0">
              <a:buNone/>
            </a:pPr>
            <a:r>
              <a:rPr lang="en-US" sz="1500" b="1" dirty="0">
                <a:solidFill>
                  <a:srgbClr val="0B2A4A"/>
                </a:solidFill>
                <a:latin typeface="Arial" pitchFamily="34" charset="0"/>
                <a:ea typeface="Arial" pitchFamily="34" charset="-122"/>
                <a:cs typeface="Arial" pitchFamily="34" charset="-120"/>
              </a:rPr>
              <a:t>LOSO</a:t>
            </a:r>
            <a:endParaRPr lang="en-US" sz="1500" dirty="0"/>
          </a:p>
        </p:txBody>
      </p:sp>
      <p:sp>
        <p:nvSpPr>
          <p:cNvPr id="42" name="Text 40"/>
          <p:cNvSpPr/>
          <p:nvPr/>
        </p:nvSpPr>
        <p:spPr>
          <a:xfrm>
            <a:off x="548640" y="4608576"/>
            <a:ext cx="1508760" cy="274320"/>
          </a:xfrm>
          <a:prstGeom prst="rect">
            <a:avLst/>
          </a:prstGeom>
          <a:noFill/>
          <a:ln/>
        </p:spPr>
        <p:txBody>
          <a:bodyPr wrap="square" lIns="0" tIns="0" rIns="0" bIns="0" rtlCol="0" anchor="ctr"/>
          <a:lstStyle/>
          <a:p>
            <a:pPr marL="0" indent="0">
              <a:buNone/>
            </a:pPr>
            <a:r>
              <a:rPr lang="en-US" sz="1050" dirty="0">
                <a:solidFill>
                  <a:srgbClr val="5B7280"/>
                </a:solidFill>
                <a:latin typeface="Arial" pitchFamily="34" charset="0"/>
                <a:ea typeface="Arial" pitchFamily="34" charset="-122"/>
                <a:cs typeface="Arial" pitchFamily="34" charset="-120"/>
              </a:rPr>
              <a:t>Bài báo dùng</a:t>
            </a:r>
            <a:endParaRPr lang="en-US" sz="1050" dirty="0"/>
          </a:p>
        </p:txBody>
      </p:sp>
      <p:sp>
        <p:nvSpPr>
          <p:cNvPr id="43" name="Shape 41"/>
          <p:cNvSpPr/>
          <p:nvPr/>
        </p:nvSpPr>
        <p:spPr>
          <a:xfrm>
            <a:off x="2148840" y="4315968"/>
            <a:ext cx="685800" cy="402336"/>
          </a:xfrm>
          <a:prstGeom prst="rect">
            <a:avLst/>
          </a:prstGeom>
          <a:solidFill>
            <a:srgbClr val="028090"/>
          </a:solidFill>
          <a:ln w="12700">
            <a:solidFill>
              <a:srgbClr val="FFFFFF"/>
            </a:solidFill>
            <a:prstDash val="solid"/>
          </a:ln>
        </p:spPr>
      </p:sp>
      <p:sp>
        <p:nvSpPr>
          <p:cNvPr id="44" name="Text 42"/>
          <p:cNvSpPr/>
          <p:nvPr/>
        </p:nvSpPr>
        <p:spPr>
          <a:xfrm>
            <a:off x="2148840" y="4315968"/>
            <a:ext cx="685800"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S1</a:t>
            </a:r>
            <a:endParaRPr lang="en-US" sz="1000" dirty="0"/>
          </a:p>
        </p:txBody>
      </p:sp>
      <p:sp>
        <p:nvSpPr>
          <p:cNvPr id="45" name="Shape 43"/>
          <p:cNvSpPr/>
          <p:nvPr/>
        </p:nvSpPr>
        <p:spPr>
          <a:xfrm>
            <a:off x="2871216" y="4315968"/>
            <a:ext cx="685800" cy="402336"/>
          </a:xfrm>
          <a:prstGeom prst="rect">
            <a:avLst/>
          </a:prstGeom>
          <a:solidFill>
            <a:srgbClr val="028090"/>
          </a:solidFill>
          <a:ln w="12700">
            <a:solidFill>
              <a:srgbClr val="FFFFFF"/>
            </a:solidFill>
            <a:prstDash val="solid"/>
          </a:ln>
        </p:spPr>
      </p:sp>
      <p:sp>
        <p:nvSpPr>
          <p:cNvPr id="46" name="Text 44"/>
          <p:cNvSpPr/>
          <p:nvPr/>
        </p:nvSpPr>
        <p:spPr>
          <a:xfrm>
            <a:off x="2871216" y="4315968"/>
            <a:ext cx="685800"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S2</a:t>
            </a:r>
            <a:endParaRPr lang="en-US" sz="1000" dirty="0"/>
          </a:p>
        </p:txBody>
      </p:sp>
      <p:sp>
        <p:nvSpPr>
          <p:cNvPr id="47" name="Shape 45"/>
          <p:cNvSpPr/>
          <p:nvPr/>
        </p:nvSpPr>
        <p:spPr>
          <a:xfrm>
            <a:off x="3593592" y="4315968"/>
            <a:ext cx="685800" cy="402336"/>
          </a:xfrm>
          <a:prstGeom prst="rect">
            <a:avLst/>
          </a:prstGeom>
          <a:solidFill>
            <a:srgbClr val="028090"/>
          </a:solidFill>
          <a:ln w="12700">
            <a:solidFill>
              <a:srgbClr val="FFFFFF"/>
            </a:solidFill>
            <a:prstDash val="solid"/>
          </a:ln>
        </p:spPr>
      </p:sp>
      <p:sp>
        <p:nvSpPr>
          <p:cNvPr id="48" name="Text 46"/>
          <p:cNvSpPr/>
          <p:nvPr/>
        </p:nvSpPr>
        <p:spPr>
          <a:xfrm>
            <a:off x="3593592" y="4315968"/>
            <a:ext cx="685800"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S3</a:t>
            </a:r>
            <a:endParaRPr lang="en-US" sz="1000" dirty="0"/>
          </a:p>
        </p:txBody>
      </p:sp>
      <p:sp>
        <p:nvSpPr>
          <p:cNvPr id="49" name="Shape 47"/>
          <p:cNvSpPr/>
          <p:nvPr/>
        </p:nvSpPr>
        <p:spPr>
          <a:xfrm>
            <a:off x="4315968" y="4315968"/>
            <a:ext cx="685800" cy="402336"/>
          </a:xfrm>
          <a:prstGeom prst="rect">
            <a:avLst/>
          </a:prstGeom>
          <a:solidFill>
            <a:srgbClr val="028090"/>
          </a:solidFill>
          <a:ln w="12700">
            <a:solidFill>
              <a:srgbClr val="FFFFFF"/>
            </a:solidFill>
            <a:prstDash val="solid"/>
          </a:ln>
        </p:spPr>
      </p:sp>
      <p:sp>
        <p:nvSpPr>
          <p:cNvPr id="50" name="Text 48"/>
          <p:cNvSpPr/>
          <p:nvPr/>
        </p:nvSpPr>
        <p:spPr>
          <a:xfrm>
            <a:off x="4315968" y="4315968"/>
            <a:ext cx="685800"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S4</a:t>
            </a:r>
            <a:endParaRPr lang="en-US" sz="1000" dirty="0"/>
          </a:p>
        </p:txBody>
      </p:sp>
      <p:sp>
        <p:nvSpPr>
          <p:cNvPr id="51" name="Shape 49"/>
          <p:cNvSpPr/>
          <p:nvPr/>
        </p:nvSpPr>
        <p:spPr>
          <a:xfrm>
            <a:off x="5038344" y="4315968"/>
            <a:ext cx="685800" cy="402336"/>
          </a:xfrm>
          <a:prstGeom prst="rect">
            <a:avLst/>
          </a:prstGeom>
          <a:solidFill>
            <a:srgbClr val="028090"/>
          </a:solidFill>
          <a:ln w="12700">
            <a:solidFill>
              <a:srgbClr val="FFFFFF"/>
            </a:solidFill>
            <a:prstDash val="solid"/>
          </a:ln>
        </p:spPr>
      </p:sp>
      <p:sp>
        <p:nvSpPr>
          <p:cNvPr id="52" name="Text 50"/>
          <p:cNvSpPr/>
          <p:nvPr/>
        </p:nvSpPr>
        <p:spPr>
          <a:xfrm>
            <a:off x="5038344" y="4315968"/>
            <a:ext cx="685800"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S5</a:t>
            </a:r>
            <a:endParaRPr lang="en-US" sz="1000" dirty="0"/>
          </a:p>
        </p:txBody>
      </p:sp>
      <p:sp>
        <p:nvSpPr>
          <p:cNvPr id="53" name="Shape 51"/>
          <p:cNvSpPr/>
          <p:nvPr/>
        </p:nvSpPr>
        <p:spPr>
          <a:xfrm>
            <a:off x="5760720" y="4315968"/>
            <a:ext cx="685800" cy="402336"/>
          </a:xfrm>
          <a:prstGeom prst="rect">
            <a:avLst/>
          </a:prstGeom>
          <a:solidFill>
            <a:srgbClr val="C9A227"/>
          </a:solidFill>
          <a:ln w="12700">
            <a:solidFill>
              <a:srgbClr val="FFFFFF"/>
            </a:solidFill>
            <a:prstDash val="solid"/>
          </a:ln>
        </p:spPr>
      </p:sp>
      <p:sp>
        <p:nvSpPr>
          <p:cNvPr id="54" name="Text 52"/>
          <p:cNvSpPr/>
          <p:nvPr/>
        </p:nvSpPr>
        <p:spPr>
          <a:xfrm>
            <a:off x="5760720" y="4315968"/>
            <a:ext cx="685800" cy="402336"/>
          </a:xfrm>
          <a:prstGeom prst="rect">
            <a:avLst/>
          </a:prstGeom>
          <a:noFill/>
          <a:ln/>
        </p:spPr>
        <p:txBody>
          <a:bodyPr wrap="square" lIns="0" tIns="0" rIns="0" bIns="0" rtlCol="0" anchor="ctr"/>
          <a:lstStyle/>
          <a:p>
            <a:pPr marL="0" indent="0" algn="ctr">
              <a:buNone/>
            </a:pPr>
            <a:r>
              <a:rPr lang="en-US" sz="1000" b="1" dirty="0">
                <a:solidFill>
                  <a:srgbClr val="0B2A4A"/>
                </a:solidFill>
                <a:latin typeface="Arial" pitchFamily="34" charset="0"/>
                <a:ea typeface="Arial" pitchFamily="34" charset="-122"/>
                <a:cs typeface="Arial" pitchFamily="34" charset="-120"/>
              </a:rPr>
              <a:t>S6</a:t>
            </a:r>
            <a:endParaRPr lang="en-US" sz="1000" dirty="0"/>
          </a:p>
        </p:txBody>
      </p:sp>
      <p:sp>
        <p:nvSpPr>
          <p:cNvPr id="55" name="Shape 53"/>
          <p:cNvSpPr/>
          <p:nvPr/>
        </p:nvSpPr>
        <p:spPr>
          <a:xfrm>
            <a:off x="6483096" y="4315968"/>
            <a:ext cx="685800" cy="402336"/>
          </a:xfrm>
          <a:prstGeom prst="rect">
            <a:avLst/>
          </a:prstGeom>
          <a:solidFill>
            <a:srgbClr val="028090"/>
          </a:solidFill>
          <a:ln w="12700">
            <a:solidFill>
              <a:srgbClr val="FFFFFF"/>
            </a:solidFill>
            <a:prstDash val="solid"/>
          </a:ln>
        </p:spPr>
      </p:sp>
      <p:sp>
        <p:nvSpPr>
          <p:cNvPr id="56" name="Text 54"/>
          <p:cNvSpPr/>
          <p:nvPr/>
        </p:nvSpPr>
        <p:spPr>
          <a:xfrm>
            <a:off x="6483096" y="4315968"/>
            <a:ext cx="685800"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S7</a:t>
            </a:r>
            <a:endParaRPr lang="en-US" sz="1000" dirty="0"/>
          </a:p>
        </p:txBody>
      </p:sp>
      <p:sp>
        <p:nvSpPr>
          <p:cNvPr id="57" name="Shape 55"/>
          <p:cNvSpPr/>
          <p:nvPr/>
        </p:nvSpPr>
        <p:spPr>
          <a:xfrm>
            <a:off x="7205472" y="4315968"/>
            <a:ext cx="685800" cy="402336"/>
          </a:xfrm>
          <a:prstGeom prst="rect">
            <a:avLst/>
          </a:prstGeom>
          <a:solidFill>
            <a:srgbClr val="028090"/>
          </a:solidFill>
          <a:ln w="12700">
            <a:solidFill>
              <a:srgbClr val="FFFFFF"/>
            </a:solidFill>
            <a:prstDash val="solid"/>
          </a:ln>
        </p:spPr>
      </p:sp>
      <p:sp>
        <p:nvSpPr>
          <p:cNvPr id="58" name="Text 56"/>
          <p:cNvSpPr/>
          <p:nvPr/>
        </p:nvSpPr>
        <p:spPr>
          <a:xfrm>
            <a:off x="7205472" y="4315968"/>
            <a:ext cx="685800"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S8</a:t>
            </a:r>
            <a:endParaRPr lang="en-US" sz="1000" dirty="0"/>
          </a:p>
        </p:txBody>
      </p:sp>
      <p:sp>
        <p:nvSpPr>
          <p:cNvPr id="59" name="Shape 57"/>
          <p:cNvSpPr/>
          <p:nvPr/>
        </p:nvSpPr>
        <p:spPr>
          <a:xfrm>
            <a:off x="7927848" y="4315968"/>
            <a:ext cx="685800" cy="402336"/>
          </a:xfrm>
          <a:prstGeom prst="rect">
            <a:avLst/>
          </a:prstGeom>
          <a:solidFill>
            <a:srgbClr val="028090"/>
          </a:solidFill>
          <a:ln w="12700">
            <a:solidFill>
              <a:srgbClr val="FFFFFF"/>
            </a:solidFill>
            <a:prstDash val="solid"/>
          </a:ln>
        </p:spPr>
      </p:sp>
      <p:sp>
        <p:nvSpPr>
          <p:cNvPr id="60" name="Text 58"/>
          <p:cNvSpPr/>
          <p:nvPr/>
        </p:nvSpPr>
        <p:spPr>
          <a:xfrm>
            <a:off x="7927848" y="4315968"/>
            <a:ext cx="685800"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S9</a:t>
            </a:r>
            <a:endParaRPr lang="en-US" sz="1000" dirty="0"/>
          </a:p>
        </p:txBody>
      </p:sp>
      <p:sp>
        <p:nvSpPr>
          <p:cNvPr id="61" name="Shape 59"/>
          <p:cNvSpPr/>
          <p:nvPr/>
        </p:nvSpPr>
        <p:spPr>
          <a:xfrm>
            <a:off x="8650224" y="4315968"/>
            <a:ext cx="685800" cy="402336"/>
          </a:xfrm>
          <a:prstGeom prst="rect">
            <a:avLst/>
          </a:prstGeom>
          <a:solidFill>
            <a:srgbClr val="028090"/>
          </a:solidFill>
          <a:ln w="12700">
            <a:solidFill>
              <a:srgbClr val="FFFFFF"/>
            </a:solidFill>
            <a:prstDash val="solid"/>
          </a:ln>
        </p:spPr>
      </p:sp>
      <p:sp>
        <p:nvSpPr>
          <p:cNvPr id="62" name="Text 60"/>
          <p:cNvSpPr/>
          <p:nvPr/>
        </p:nvSpPr>
        <p:spPr>
          <a:xfrm>
            <a:off x="8650224" y="4315968"/>
            <a:ext cx="685800"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S10</a:t>
            </a:r>
            <a:endParaRPr lang="en-US" sz="1000" dirty="0"/>
          </a:p>
        </p:txBody>
      </p:sp>
      <p:sp>
        <p:nvSpPr>
          <p:cNvPr id="63" name="Shape 61"/>
          <p:cNvSpPr/>
          <p:nvPr/>
        </p:nvSpPr>
        <p:spPr>
          <a:xfrm>
            <a:off x="548640" y="5074920"/>
            <a:ext cx="11109960" cy="1234440"/>
          </a:xfrm>
          <a:prstGeom prst="roundRect">
            <a:avLst>
              <a:gd name="adj" fmla="val 7407"/>
            </a:avLst>
          </a:prstGeom>
          <a:solidFill>
            <a:srgbClr val="0B2A4A"/>
          </a:solidFill>
          <a:ln/>
        </p:spPr>
      </p:sp>
      <p:sp>
        <p:nvSpPr>
          <p:cNvPr id="64" name="Text 62"/>
          <p:cNvSpPr/>
          <p:nvPr/>
        </p:nvSpPr>
        <p:spPr>
          <a:xfrm>
            <a:off x="868680" y="5230368"/>
            <a:ext cx="10515600" cy="320040"/>
          </a:xfrm>
          <a:prstGeom prst="rect">
            <a:avLst/>
          </a:prstGeom>
          <a:noFill/>
          <a:ln/>
        </p:spPr>
        <p:txBody>
          <a:bodyPr wrap="square" lIns="0" tIns="0" rIns="0" bIns="0" rtlCol="0" anchor="ctr"/>
          <a:lstStyle/>
          <a:p>
            <a:pPr marL="0" indent="0">
              <a:buNone/>
            </a:pPr>
            <a:r>
              <a:rPr lang="en-US" sz="1500" b="1" dirty="0">
                <a:solidFill>
                  <a:srgbClr val="6FD3C9"/>
                </a:solidFill>
                <a:latin typeface="Arial" pitchFamily="34" charset="0"/>
                <a:ea typeface="Arial" pitchFamily="34" charset="-122"/>
                <a:cs typeface="Arial" pitchFamily="34" charset="-120"/>
              </a:rPr>
              <a:t>Vì sao LOSO nghiêm ngặt nhất?</a:t>
            </a:r>
            <a:endParaRPr lang="en-US" sz="1500" dirty="0"/>
          </a:p>
        </p:txBody>
      </p:sp>
      <p:sp>
        <p:nvSpPr>
          <p:cNvPr id="65" name="Text 63"/>
          <p:cNvSpPr/>
          <p:nvPr/>
        </p:nvSpPr>
        <p:spPr>
          <a:xfrm>
            <a:off x="868680" y="5532120"/>
            <a:ext cx="10515600" cy="731520"/>
          </a:xfrm>
          <a:prstGeom prst="rect">
            <a:avLst/>
          </a:prstGeom>
          <a:noFill/>
          <a:ln/>
        </p:spPr>
        <p:txBody>
          <a:bodyPr wrap="square" lIns="0" tIns="0" rIns="0" bIns="0" rtlCol="0" anchor="t"/>
          <a:lstStyle/>
          <a:p>
            <a:pPr marL="0" indent="0">
              <a:lnSpc>
                <a:spcPct val="112000"/>
              </a:lnSpc>
              <a:buNone/>
            </a:pPr>
            <a:r>
              <a:rPr lang="en-US" sz="1200" dirty="0">
                <a:solidFill>
                  <a:srgbClr val="D6E7E5"/>
                </a:solidFill>
                <a:latin typeface="Arial" pitchFamily="34" charset="0"/>
                <a:ea typeface="Arial" pitchFamily="34" charset="-122"/>
                <a:cs typeface="Arial" pitchFamily="34" charset="-120"/>
              </a:rPr>
              <a:t>Đơn vị chia là CẢ MỘT NGƯỜI. Mỗi vòng giữ lại toàn bộ dữ liệu 1 đối tượng làm test, 9 người còn lại huấn luyện — lặp 10 vòng rồi lấy trung bình. Người ở test là người hoàn toàn mới, nên tránh rò rỉ dữ liệu (các cửa sổ liền kề của cùng một người rơi vào cả train lẫn test). F1 = 95,41% (Table 2) vì thế là kết quả liên đối tượng, đáng tin — xác nhận đúng theo mục 3.4–3.5 của bài báo.</a:t>
            </a:r>
            <a:endParaRPr lang="en-US" sz="1200" dirty="0"/>
          </a:p>
        </p:txBody>
      </p:sp>
      <p:sp>
        <p:nvSpPr>
          <p:cNvPr id="66" name="Text 64"/>
          <p:cNvSpPr/>
          <p:nvPr/>
        </p:nvSpPr>
        <p:spPr>
          <a:xfrm>
            <a:off x="502920" y="6473952"/>
            <a:ext cx="5486400" cy="274320"/>
          </a:xfrm>
          <a:prstGeom prst="rect">
            <a:avLst/>
          </a:prstGeom>
          <a:noFill/>
          <a:ln/>
        </p:spPr>
        <p:txBody>
          <a:bodyPr wrap="square" lIns="0" tIns="0" rIns="0" bIns="0" rtlCol="0" anchor="ctr"/>
          <a:lstStyle/>
          <a:p>
            <a:pPr marL="0" indent="0">
              <a:buNone/>
            </a:pPr>
            <a:r>
              <a:rPr lang="en-US" sz="900" dirty="0">
                <a:solidFill>
                  <a:srgbClr val="5B7280"/>
                </a:solidFill>
                <a:latin typeface="Arial" pitchFamily="34" charset="0"/>
                <a:ea typeface="Arial" pitchFamily="34" charset="-122"/>
                <a:cs typeface="Arial" pitchFamily="34" charset="-120"/>
              </a:rPr>
              <a:t>sEMG Fatigue Detection · Springer 2025</a:t>
            </a:r>
            <a:endParaRPr lang="en-US" sz="900" dirty="0"/>
          </a:p>
        </p:txBody>
      </p:sp>
      <p:sp>
        <p:nvSpPr>
          <p:cNvPr id="67" name="Text 65"/>
          <p:cNvSpPr/>
          <p:nvPr/>
        </p:nvSpPr>
        <p:spPr>
          <a:xfrm>
            <a:off x="11277295" y="6473952"/>
            <a:ext cx="411480" cy="274320"/>
          </a:xfrm>
          <a:prstGeom prst="rect">
            <a:avLst/>
          </a:prstGeom>
          <a:noFill/>
          <a:ln/>
        </p:spPr>
        <p:txBody>
          <a:bodyPr wrap="square" lIns="0" tIns="0" rIns="0" bIns="0" rtlCol="0" anchor="ctr"/>
          <a:lstStyle/>
          <a:p>
            <a:pPr marL="0" indent="0" algn="r">
              <a:buNone/>
            </a:pPr>
            <a:r>
              <a:rPr lang="en-US" sz="900" dirty="0">
                <a:solidFill>
                  <a:srgbClr val="5B7280"/>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1FAF9"/>
        </a:solidFill>
        <a:effectLst/>
      </p:bgPr>
    </p:bg>
    <p:spTree>
      <p:nvGrpSpPr>
        <p:cNvPr id="1" name=""/>
        <p:cNvGrpSpPr/>
        <p:nvPr/>
      </p:nvGrpSpPr>
      <p:grpSpPr>
        <a:xfrm>
          <a:off x="0" y="0"/>
          <a:ext cx="0" cy="0"/>
          <a:chOff x="0" y="0"/>
          <a:chExt cx="0" cy="0"/>
        </a:xfrm>
      </p:grpSpPr>
      <p:sp>
        <p:nvSpPr>
          <p:cNvPr id="2" name="Text 0"/>
          <p:cNvSpPr/>
          <p:nvPr/>
        </p:nvSpPr>
        <p:spPr>
          <a:xfrm>
            <a:off x="0" y="0"/>
            <a:ext cx="8229600" cy="320040"/>
          </a:xfrm>
          <a:prstGeom prst="rect">
            <a:avLst/>
          </a:prstGeom>
          <a:noFill/>
          <a:ln/>
        </p:spPr>
        <p:txBody>
          <a:bodyPr wrap="square" lIns="0" tIns="0" rIns="0" bIns="0" rtlCol="0" anchor="ctr"/>
          <a:lstStyle/>
          <a:p>
            <a:pPr marL="0" indent="0">
              <a:buNone/>
            </a:pPr>
            <a:r>
              <a:rPr lang="en-US" sz="1250" b="1" kern="0" spc="200" dirty="0">
                <a:solidFill>
                  <a:srgbClr val="028090"/>
                </a:solidFill>
                <a:latin typeface="Arial" pitchFamily="34" charset="0"/>
                <a:ea typeface="Arial" pitchFamily="34" charset="-122"/>
                <a:cs typeface="Arial" pitchFamily="34" charset="-120"/>
              </a:rPr>
              <a:t>04 · CHỈ SỐ ĐÁNH GIÁ</a:t>
            </a:r>
            <a:endParaRPr lang="en-US" sz="1250" dirty="0"/>
          </a:p>
        </p:txBody>
      </p:sp>
      <p:sp>
        <p:nvSpPr>
          <p:cNvPr id="3" name="Text 1"/>
          <p:cNvSpPr/>
          <p:nvPr/>
        </p:nvSpPr>
        <p:spPr>
          <a:xfrm>
            <a:off x="548640" y="822960"/>
            <a:ext cx="10972800" cy="731520"/>
          </a:xfrm>
          <a:prstGeom prst="rect">
            <a:avLst/>
          </a:prstGeom>
          <a:noFill/>
          <a:ln/>
        </p:spPr>
        <p:txBody>
          <a:bodyPr wrap="square" lIns="0" tIns="0" rIns="0" bIns="0" rtlCol="0" anchor="ctr"/>
          <a:lstStyle/>
          <a:p>
            <a:pPr marL="0" indent="0">
              <a:buNone/>
            </a:pPr>
            <a:r>
              <a:rPr lang="en-US" sz="3100" b="1" dirty="0">
                <a:solidFill>
                  <a:srgbClr val="0B2A4A"/>
                </a:solidFill>
                <a:latin typeface="Cambria" pitchFamily="34" charset="0"/>
                <a:ea typeface="Cambria" pitchFamily="34" charset="-122"/>
                <a:cs typeface="Cambria" pitchFamily="34" charset="-120"/>
              </a:rPr>
              <a:t>Tính metric từ confusion matrix</a:t>
            </a:r>
            <a:endParaRPr lang="en-US" sz="3100" dirty="0"/>
          </a:p>
        </p:txBody>
      </p:sp>
      <p:sp>
        <p:nvSpPr>
          <p:cNvPr id="4" name="Text 2"/>
          <p:cNvSpPr/>
          <p:nvPr/>
        </p:nvSpPr>
        <p:spPr>
          <a:xfrm>
            <a:off x="1563624" y="1828800"/>
            <a:ext cx="2468880" cy="274320"/>
          </a:xfrm>
          <a:prstGeom prst="rect">
            <a:avLst/>
          </a:prstGeom>
          <a:noFill/>
          <a:ln/>
        </p:spPr>
        <p:txBody>
          <a:bodyPr wrap="square" lIns="0" tIns="0" rIns="0" bIns="0" rtlCol="0" anchor="ctr"/>
          <a:lstStyle/>
          <a:p>
            <a:pPr marL="0" indent="0">
              <a:buNone/>
            </a:pPr>
            <a:r>
              <a:rPr lang="en-US" sz="1100" i="1" dirty="0">
                <a:solidFill>
                  <a:srgbClr val="5B7280"/>
                </a:solidFill>
                <a:latin typeface="Arial" pitchFamily="34" charset="0"/>
                <a:ea typeface="Arial" pitchFamily="34" charset="-122"/>
                <a:cs typeface="Arial" pitchFamily="34" charset="-120"/>
              </a:rPr>
              <a:t>Dự đoán →</a:t>
            </a:r>
            <a:endParaRPr lang="en-US" sz="1100" dirty="0"/>
          </a:p>
        </p:txBody>
      </p:sp>
      <p:sp>
        <p:nvSpPr>
          <p:cNvPr id="5" name="Text 3"/>
          <p:cNvSpPr/>
          <p:nvPr/>
        </p:nvSpPr>
        <p:spPr>
          <a:xfrm>
            <a:off x="1563624" y="2103120"/>
            <a:ext cx="1234440" cy="274320"/>
          </a:xfrm>
          <a:prstGeom prst="rect">
            <a:avLst/>
          </a:prstGeom>
          <a:noFill/>
          <a:ln/>
        </p:spPr>
        <p:txBody>
          <a:bodyPr wrap="square" lIns="0" tIns="0" rIns="0" bIns="0" rtlCol="0" anchor="ctr"/>
          <a:lstStyle/>
          <a:p>
            <a:pPr marL="0" indent="0" algn="ctr">
              <a:buNone/>
            </a:pPr>
            <a:r>
              <a:rPr lang="en-US" sz="1150" b="1" dirty="0">
                <a:solidFill>
                  <a:srgbClr val="12303F"/>
                </a:solidFill>
                <a:latin typeface="Arial" pitchFamily="34" charset="0"/>
                <a:ea typeface="Arial" pitchFamily="34" charset="-122"/>
                <a:cs typeface="Arial" pitchFamily="34" charset="-120"/>
              </a:rPr>
              <a:t>Normal</a:t>
            </a:r>
            <a:endParaRPr lang="en-US" sz="1150" dirty="0"/>
          </a:p>
        </p:txBody>
      </p:sp>
      <p:sp>
        <p:nvSpPr>
          <p:cNvPr id="6" name="Text 4"/>
          <p:cNvSpPr/>
          <p:nvPr/>
        </p:nvSpPr>
        <p:spPr>
          <a:xfrm>
            <a:off x="2852928" y="2103120"/>
            <a:ext cx="1234440" cy="274320"/>
          </a:xfrm>
          <a:prstGeom prst="rect">
            <a:avLst/>
          </a:prstGeom>
          <a:noFill/>
          <a:ln/>
        </p:spPr>
        <p:txBody>
          <a:bodyPr wrap="square" lIns="0" tIns="0" rIns="0" bIns="0" rtlCol="0" anchor="ctr"/>
          <a:lstStyle/>
          <a:p>
            <a:pPr marL="0" indent="0" algn="ctr">
              <a:buNone/>
            </a:pPr>
            <a:r>
              <a:rPr lang="en-US" sz="1150" b="1" dirty="0">
                <a:solidFill>
                  <a:srgbClr val="12303F"/>
                </a:solidFill>
                <a:latin typeface="Arial" pitchFamily="34" charset="0"/>
                <a:ea typeface="Arial" pitchFamily="34" charset="-122"/>
                <a:cs typeface="Arial" pitchFamily="34" charset="-120"/>
              </a:rPr>
              <a:t>Fatigue</a:t>
            </a:r>
            <a:endParaRPr lang="en-US" sz="1150" dirty="0"/>
          </a:p>
        </p:txBody>
      </p:sp>
      <p:sp>
        <p:nvSpPr>
          <p:cNvPr id="7" name="Text 5"/>
          <p:cNvSpPr/>
          <p:nvPr/>
        </p:nvSpPr>
        <p:spPr>
          <a:xfrm>
            <a:off x="164592" y="2468880"/>
            <a:ext cx="1143000" cy="1234440"/>
          </a:xfrm>
          <a:prstGeom prst="rect">
            <a:avLst/>
          </a:prstGeom>
          <a:noFill/>
          <a:ln/>
        </p:spPr>
        <p:txBody>
          <a:bodyPr wrap="square" lIns="0" tIns="0" rIns="0" bIns="0" rtlCol="0" anchor="ctr"/>
          <a:lstStyle/>
          <a:p>
            <a:pPr marL="0" indent="0" algn="r">
              <a:buNone/>
            </a:pPr>
            <a:r>
              <a:rPr lang="en-US" sz="1150" b="1" dirty="0">
                <a:solidFill>
                  <a:srgbClr val="12303F"/>
                </a:solidFill>
                <a:latin typeface="Arial" pitchFamily="34" charset="0"/>
                <a:ea typeface="Arial" pitchFamily="34" charset="-122"/>
                <a:cs typeface="Arial" pitchFamily="34" charset="-120"/>
              </a:rPr>
              <a:t>Thực</a:t>
            </a:r>
            <a:endParaRPr lang="en-US" sz="1150" dirty="0"/>
          </a:p>
          <a:p>
            <a:pPr marL="0" indent="0" algn="r">
              <a:buNone/>
            </a:pPr>
            <a:r>
              <a:rPr lang="en-US" sz="1150" b="1" dirty="0">
                <a:solidFill>
                  <a:srgbClr val="12303F"/>
                </a:solidFill>
                <a:latin typeface="Arial" pitchFamily="34" charset="0"/>
                <a:ea typeface="Arial" pitchFamily="34" charset="-122"/>
                <a:cs typeface="Arial" pitchFamily="34" charset="-120"/>
              </a:rPr>
              <a:t>Normal</a:t>
            </a:r>
            <a:endParaRPr lang="en-US" sz="1150" dirty="0"/>
          </a:p>
        </p:txBody>
      </p:sp>
      <p:sp>
        <p:nvSpPr>
          <p:cNvPr id="8" name="Text 6"/>
          <p:cNvSpPr/>
          <p:nvPr/>
        </p:nvSpPr>
        <p:spPr>
          <a:xfrm>
            <a:off x="164592" y="3758184"/>
            <a:ext cx="1143000" cy="1234440"/>
          </a:xfrm>
          <a:prstGeom prst="rect">
            <a:avLst/>
          </a:prstGeom>
          <a:noFill/>
          <a:ln/>
        </p:spPr>
        <p:txBody>
          <a:bodyPr wrap="square" lIns="0" tIns="0" rIns="0" bIns="0" rtlCol="0" anchor="ctr"/>
          <a:lstStyle/>
          <a:p>
            <a:pPr marL="0" indent="0" algn="r">
              <a:buNone/>
            </a:pPr>
            <a:r>
              <a:rPr lang="en-US" sz="1150" b="1" dirty="0">
                <a:solidFill>
                  <a:srgbClr val="12303F"/>
                </a:solidFill>
                <a:latin typeface="Arial" pitchFamily="34" charset="0"/>
                <a:ea typeface="Arial" pitchFamily="34" charset="-122"/>
                <a:cs typeface="Arial" pitchFamily="34" charset="-120"/>
              </a:rPr>
              <a:t>Thực</a:t>
            </a:r>
            <a:endParaRPr lang="en-US" sz="1150" dirty="0"/>
          </a:p>
          <a:p>
            <a:pPr marL="0" indent="0" algn="r">
              <a:buNone/>
            </a:pPr>
            <a:r>
              <a:rPr lang="en-US" sz="1150" b="1" dirty="0">
                <a:solidFill>
                  <a:srgbClr val="12303F"/>
                </a:solidFill>
                <a:latin typeface="Arial" pitchFamily="34" charset="0"/>
                <a:ea typeface="Arial" pitchFamily="34" charset="-122"/>
                <a:cs typeface="Arial" pitchFamily="34" charset="-120"/>
              </a:rPr>
              <a:t>Fatigue</a:t>
            </a:r>
            <a:endParaRPr lang="en-US" sz="1150" dirty="0"/>
          </a:p>
        </p:txBody>
      </p:sp>
      <p:sp>
        <p:nvSpPr>
          <p:cNvPr id="9" name="Shape 7"/>
          <p:cNvSpPr/>
          <p:nvPr/>
        </p:nvSpPr>
        <p:spPr>
          <a:xfrm>
            <a:off x="1563624" y="2468880"/>
            <a:ext cx="1234440" cy="1234440"/>
          </a:xfrm>
          <a:prstGeom prst="roundRect">
            <a:avLst>
              <a:gd name="adj" fmla="val 4444"/>
            </a:avLst>
          </a:prstGeom>
          <a:solidFill>
            <a:srgbClr val="DFF3EC"/>
          </a:solidFill>
          <a:ln w="25400">
            <a:solidFill>
              <a:srgbClr val="FFFFFF"/>
            </a:solidFill>
            <a:prstDash val="solid"/>
          </a:ln>
        </p:spPr>
      </p:sp>
      <p:sp>
        <p:nvSpPr>
          <p:cNvPr id="10" name="Text 8"/>
          <p:cNvSpPr/>
          <p:nvPr/>
        </p:nvSpPr>
        <p:spPr>
          <a:xfrm>
            <a:off x="1563624" y="2724912"/>
            <a:ext cx="1234440" cy="457200"/>
          </a:xfrm>
          <a:prstGeom prst="rect">
            <a:avLst/>
          </a:prstGeom>
          <a:noFill/>
          <a:ln/>
        </p:spPr>
        <p:txBody>
          <a:bodyPr wrap="square" lIns="0" tIns="0" rIns="0" bIns="0" rtlCol="0" anchor="ctr"/>
          <a:lstStyle/>
          <a:p>
            <a:pPr marL="0" indent="0" algn="ctr">
              <a:buNone/>
            </a:pPr>
            <a:r>
              <a:rPr lang="en-US" sz="2400" b="1" dirty="0">
                <a:solidFill>
                  <a:srgbClr val="1D9E75"/>
                </a:solidFill>
                <a:latin typeface="Arial" pitchFamily="34" charset="0"/>
                <a:ea typeface="Arial" pitchFamily="34" charset="-122"/>
                <a:cs typeface="Arial" pitchFamily="34" charset="-120"/>
              </a:rPr>
              <a:t>TN</a:t>
            </a:r>
            <a:endParaRPr lang="en-US" sz="2400" dirty="0"/>
          </a:p>
        </p:txBody>
      </p:sp>
      <p:sp>
        <p:nvSpPr>
          <p:cNvPr id="11" name="Text 9"/>
          <p:cNvSpPr/>
          <p:nvPr/>
        </p:nvSpPr>
        <p:spPr>
          <a:xfrm>
            <a:off x="1563624" y="3218688"/>
            <a:ext cx="1234440" cy="320040"/>
          </a:xfrm>
          <a:prstGeom prst="rect">
            <a:avLst/>
          </a:prstGeom>
          <a:noFill/>
          <a:ln/>
        </p:spPr>
        <p:txBody>
          <a:bodyPr wrap="square" lIns="0" tIns="0" rIns="0" bIns="0" rtlCol="0" anchor="ctr"/>
          <a:lstStyle/>
          <a:p>
            <a:pPr marL="0" indent="0" algn="ctr">
              <a:buNone/>
            </a:pPr>
            <a:r>
              <a:rPr lang="en-US" sz="1100" dirty="0">
                <a:solidFill>
                  <a:srgbClr val="1D9E75"/>
                </a:solidFill>
                <a:latin typeface="Arial" pitchFamily="34" charset="0"/>
                <a:ea typeface="Arial" pitchFamily="34" charset="-122"/>
                <a:cs typeface="Arial" pitchFamily="34" charset="-120"/>
              </a:rPr>
              <a:t>đúng</a:t>
            </a:r>
            <a:endParaRPr lang="en-US" sz="1100" dirty="0"/>
          </a:p>
        </p:txBody>
      </p:sp>
      <p:sp>
        <p:nvSpPr>
          <p:cNvPr id="12" name="Shape 10"/>
          <p:cNvSpPr/>
          <p:nvPr/>
        </p:nvSpPr>
        <p:spPr>
          <a:xfrm>
            <a:off x="2852928" y="2468880"/>
            <a:ext cx="1234440" cy="1234440"/>
          </a:xfrm>
          <a:prstGeom prst="roundRect">
            <a:avLst>
              <a:gd name="adj" fmla="val 4444"/>
            </a:avLst>
          </a:prstGeom>
          <a:solidFill>
            <a:srgbClr val="FBE7E4"/>
          </a:solidFill>
          <a:ln w="25400">
            <a:solidFill>
              <a:srgbClr val="FFFFFF"/>
            </a:solidFill>
            <a:prstDash val="solid"/>
          </a:ln>
        </p:spPr>
      </p:sp>
      <p:sp>
        <p:nvSpPr>
          <p:cNvPr id="13" name="Text 11"/>
          <p:cNvSpPr/>
          <p:nvPr/>
        </p:nvSpPr>
        <p:spPr>
          <a:xfrm>
            <a:off x="2852928" y="2724912"/>
            <a:ext cx="1234440" cy="457200"/>
          </a:xfrm>
          <a:prstGeom prst="rect">
            <a:avLst/>
          </a:prstGeom>
          <a:noFill/>
          <a:ln/>
        </p:spPr>
        <p:txBody>
          <a:bodyPr wrap="square" lIns="0" tIns="0" rIns="0" bIns="0" rtlCol="0" anchor="ctr"/>
          <a:lstStyle/>
          <a:p>
            <a:pPr marL="0" indent="0" algn="ctr">
              <a:buNone/>
            </a:pPr>
            <a:r>
              <a:rPr lang="en-US" sz="2400" b="1" dirty="0">
                <a:solidFill>
                  <a:srgbClr val="C0392B"/>
                </a:solidFill>
                <a:latin typeface="Arial" pitchFamily="34" charset="0"/>
                <a:ea typeface="Arial" pitchFamily="34" charset="-122"/>
                <a:cs typeface="Arial" pitchFamily="34" charset="-120"/>
              </a:rPr>
              <a:t>FP</a:t>
            </a:r>
            <a:endParaRPr lang="en-US" sz="2400" dirty="0"/>
          </a:p>
        </p:txBody>
      </p:sp>
      <p:sp>
        <p:nvSpPr>
          <p:cNvPr id="14" name="Text 12"/>
          <p:cNvSpPr/>
          <p:nvPr/>
        </p:nvSpPr>
        <p:spPr>
          <a:xfrm>
            <a:off x="2852928" y="3218688"/>
            <a:ext cx="1234440" cy="320040"/>
          </a:xfrm>
          <a:prstGeom prst="rect">
            <a:avLst/>
          </a:prstGeom>
          <a:noFill/>
          <a:ln/>
        </p:spPr>
        <p:txBody>
          <a:bodyPr wrap="square" lIns="0" tIns="0" rIns="0" bIns="0" rtlCol="0" anchor="ctr"/>
          <a:lstStyle/>
          <a:p>
            <a:pPr marL="0" indent="0" algn="ctr">
              <a:buNone/>
            </a:pPr>
            <a:r>
              <a:rPr lang="en-US" sz="1100" dirty="0">
                <a:solidFill>
                  <a:srgbClr val="C0392B"/>
                </a:solidFill>
                <a:latin typeface="Arial" pitchFamily="34" charset="0"/>
                <a:ea typeface="Arial" pitchFamily="34" charset="-122"/>
                <a:cs typeface="Arial" pitchFamily="34" charset="-120"/>
              </a:rPr>
              <a:t>báo giả</a:t>
            </a:r>
            <a:endParaRPr lang="en-US" sz="1100" dirty="0"/>
          </a:p>
        </p:txBody>
      </p:sp>
      <p:sp>
        <p:nvSpPr>
          <p:cNvPr id="15" name="Shape 13"/>
          <p:cNvSpPr/>
          <p:nvPr/>
        </p:nvSpPr>
        <p:spPr>
          <a:xfrm>
            <a:off x="1563624" y="3758184"/>
            <a:ext cx="1234440" cy="1234440"/>
          </a:xfrm>
          <a:prstGeom prst="roundRect">
            <a:avLst>
              <a:gd name="adj" fmla="val 4444"/>
            </a:avLst>
          </a:prstGeom>
          <a:solidFill>
            <a:srgbClr val="FBE7E4"/>
          </a:solidFill>
          <a:ln w="25400">
            <a:solidFill>
              <a:srgbClr val="FFFFFF"/>
            </a:solidFill>
            <a:prstDash val="solid"/>
          </a:ln>
        </p:spPr>
      </p:sp>
      <p:sp>
        <p:nvSpPr>
          <p:cNvPr id="16" name="Text 14"/>
          <p:cNvSpPr/>
          <p:nvPr/>
        </p:nvSpPr>
        <p:spPr>
          <a:xfrm>
            <a:off x="1563624" y="4014216"/>
            <a:ext cx="1234440" cy="457200"/>
          </a:xfrm>
          <a:prstGeom prst="rect">
            <a:avLst/>
          </a:prstGeom>
          <a:noFill/>
          <a:ln/>
        </p:spPr>
        <p:txBody>
          <a:bodyPr wrap="square" lIns="0" tIns="0" rIns="0" bIns="0" rtlCol="0" anchor="ctr"/>
          <a:lstStyle/>
          <a:p>
            <a:pPr marL="0" indent="0" algn="ctr">
              <a:buNone/>
            </a:pPr>
            <a:r>
              <a:rPr lang="en-US" sz="2400" b="1" dirty="0">
                <a:solidFill>
                  <a:srgbClr val="C0392B"/>
                </a:solidFill>
                <a:latin typeface="Arial" pitchFamily="34" charset="0"/>
                <a:ea typeface="Arial" pitchFamily="34" charset="-122"/>
                <a:cs typeface="Arial" pitchFamily="34" charset="-120"/>
              </a:rPr>
              <a:t>FN</a:t>
            </a:r>
            <a:endParaRPr lang="en-US" sz="2400" dirty="0"/>
          </a:p>
        </p:txBody>
      </p:sp>
      <p:sp>
        <p:nvSpPr>
          <p:cNvPr id="17" name="Text 15"/>
          <p:cNvSpPr/>
          <p:nvPr/>
        </p:nvSpPr>
        <p:spPr>
          <a:xfrm>
            <a:off x="1563624" y="4507992"/>
            <a:ext cx="1234440" cy="320040"/>
          </a:xfrm>
          <a:prstGeom prst="rect">
            <a:avLst/>
          </a:prstGeom>
          <a:noFill/>
          <a:ln/>
        </p:spPr>
        <p:txBody>
          <a:bodyPr wrap="square" lIns="0" tIns="0" rIns="0" bIns="0" rtlCol="0" anchor="ctr"/>
          <a:lstStyle/>
          <a:p>
            <a:pPr marL="0" indent="0" algn="ctr">
              <a:buNone/>
            </a:pPr>
            <a:r>
              <a:rPr lang="en-US" sz="1100" dirty="0">
                <a:solidFill>
                  <a:srgbClr val="C0392B"/>
                </a:solidFill>
                <a:latin typeface="Arial" pitchFamily="34" charset="0"/>
                <a:ea typeface="Arial" pitchFamily="34" charset="-122"/>
                <a:cs typeface="Arial" pitchFamily="34" charset="-120"/>
              </a:rPr>
              <a:t>bỏ sót</a:t>
            </a:r>
            <a:endParaRPr lang="en-US" sz="1100" dirty="0"/>
          </a:p>
        </p:txBody>
      </p:sp>
      <p:sp>
        <p:nvSpPr>
          <p:cNvPr id="18" name="Shape 16"/>
          <p:cNvSpPr/>
          <p:nvPr/>
        </p:nvSpPr>
        <p:spPr>
          <a:xfrm>
            <a:off x="2852928" y="3758184"/>
            <a:ext cx="1234440" cy="1234440"/>
          </a:xfrm>
          <a:prstGeom prst="roundRect">
            <a:avLst>
              <a:gd name="adj" fmla="val 4444"/>
            </a:avLst>
          </a:prstGeom>
          <a:solidFill>
            <a:srgbClr val="DFF3EC"/>
          </a:solidFill>
          <a:ln w="25400">
            <a:solidFill>
              <a:srgbClr val="FFFFFF"/>
            </a:solidFill>
            <a:prstDash val="solid"/>
          </a:ln>
        </p:spPr>
      </p:sp>
      <p:sp>
        <p:nvSpPr>
          <p:cNvPr id="19" name="Text 17"/>
          <p:cNvSpPr/>
          <p:nvPr/>
        </p:nvSpPr>
        <p:spPr>
          <a:xfrm>
            <a:off x="2852928" y="4014216"/>
            <a:ext cx="1234440" cy="457200"/>
          </a:xfrm>
          <a:prstGeom prst="rect">
            <a:avLst/>
          </a:prstGeom>
          <a:noFill/>
          <a:ln/>
        </p:spPr>
        <p:txBody>
          <a:bodyPr wrap="square" lIns="0" tIns="0" rIns="0" bIns="0" rtlCol="0" anchor="ctr"/>
          <a:lstStyle/>
          <a:p>
            <a:pPr marL="0" indent="0" algn="ctr">
              <a:buNone/>
            </a:pPr>
            <a:r>
              <a:rPr lang="en-US" sz="2400" b="1" dirty="0">
                <a:solidFill>
                  <a:srgbClr val="1D9E75"/>
                </a:solidFill>
                <a:latin typeface="Arial" pitchFamily="34" charset="0"/>
                <a:ea typeface="Arial" pitchFamily="34" charset="-122"/>
                <a:cs typeface="Arial" pitchFamily="34" charset="-120"/>
              </a:rPr>
              <a:t>TP</a:t>
            </a:r>
            <a:endParaRPr lang="en-US" sz="2400" dirty="0"/>
          </a:p>
        </p:txBody>
      </p:sp>
      <p:sp>
        <p:nvSpPr>
          <p:cNvPr id="20" name="Text 18"/>
          <p:cNvSpPr/>
          <p:nvPr/>
        </p:nvSpPr>
        <p:spPr>
          <a:xfrm>
            <a:off x="2852928" y="4507992"/>
            <a:ext cx="1234440" cy="320040"/>
          </a:xfrm>
          <a:prstGeom prst="rect">
            <a:avLst/>
          </a:prstGeom>
          <a:noFill/>
          <a:ln/>
        </p:spPr>
        <p:txBody>
          <a:bodyPr wrap="square" lIns="0" tIns="0" rIns="0" bIns="0" rtlCol="0" anchor="ctr"/>
          <a:lstStyle/>
          <a:p>
            <a:pPr marL="0" indent="0" algn="ctr">
              <a:buNone/>
            </a:pPr>
            <a:r>
              <a:rPr lang="en-US" sz="1100" dirty="0">
                <a:solidFill>
                  <a:srgbClr val="1D9E75"/>
                </a:solidFill>
                <a:latin typeface="Arial" pitchFamily="34" charset="0"/>
                <a:ea typeface="Arial" pitchFamily="34" charset="-122"/>
                <a:cs typeface="Arial" pitchFamily="34" charset="-120"/>
              </a:rPr>
              <a:t>đúng</a:t>
            </a:r>
            <a:endParaRPr lang="en-US" sz="1100" dirty="0"/>
          </a:p>
        </p:txBody>
      </p:sp>
      <p:sp>
        <p:nvSpPr>
          <p:cNvPr id="21" name="Shape 19"/>
          <p:cNvSpPr/>
          <p:nvPr/>
        </p:nvSpPr>
        <p:spPr>
          <a:xfrm>
            <a:off x="5943600" y="1965960"/>
            <a:ext cx="5669280" cy="658368"/>
          </a:xfrm>
          <a:prstGeom prst="roundRect">
            <a:avLst>
              <a:gd name="adj" fmla="val 8333"/>
            </a:avLst>
          </a:prstGeom>
          <a:solidFill>
            <a:srgbClr val="FFFFFF"/>
          </a:solidFill>
          <a:ln w="12700">
            <a:solidFill>
              <a:srgbClr val="D5E8E5"/>
            </a:solidFill>
            <a:prstDash val="solid"/>
          </a:ln>
        </p:spPr>
      </p:sp>
      <p:sp>
        <p:nvSpPr>
          <p:cNvPr id="22" name="Text 20"/>
          <p:cNvSpPr/>
          <p:nvPr/>
        </p:nvSpPr>
        <p:spPr>
          <a:xfrm>
            <a:off x="6172200" y="1965960"/>
            <a:ext cx="1371600" cy="658368"/>
          </a:xfrm>
          <a:prstGeom prst="rect">
            <a:avLst/>
          </a:prstGeom>
          <a:noFill/>
          <a:ln/>
        </p:spPr>
        <p:txBody>
          <a:bodyPr wrap="square" lIns="0" tIns="0" rIns="0" bIns="0" rtlCol="0" anchor="ctr"/>
          <a:lstStyle/>
          <a:p>
            <a:pPr marL="0" indent="0">
              <a:buNone/>
            </a:pPr>
            <a:r>
              <a:rPr lang="en-US" sz="1500" b="1" dirty="0">
                <a:solidFill>
                  <a:srgbClr val="028090"/>
                </a:solidFill>
                <a:latin typeface="Arial" pitchFamily="34" charset="0"/>
                <a:ea typeface="Arial" pitchFamily="34" charset="-122"/>
                <a:cs typeface="Arial" pitchFamily="34" charset="-120"/>
              </a:rPr>
              <a:t>Accuracy</a:t>
            </a:r>
            <a:endParaRPr lang="en-US" sz="1500" dirty="0"/>
          </a:p>
        </p:txBody>
      </p:sp>
      <p:sp>
        <p:nvSpPr>
          <p:cNvPr id="23" name="Text 21"/>
          <p:cNvSpPr/>
          <p:nvPr/>
        </p:nvSpPr>
        <p:spPr>
          <a:xfrm>
            <a:off x="7543800" y="1965960"/>
            <a:ext cx="2148840" cy="658368"/>
          </a:xfrm>
          <a:prstGeom prst="rect">
            <a:avLst/>
          </a:prstGeom>
          <a:noFill/>
          <a:ln/>
        </p:spPr>
        <p:txBody>
          <a:bodyPr wrap="square" lIns="0" tIns="0" rIns="0" bIns="0" rtlCol="0" anchor="ctr"/>
          <a:lstStyle/>
          <a:p>
            <a:pPr marL="0" indent="0">
              <a:buNone/>
            </a:pPr>
            <a:r>
              <a:rPr lang="en-US" sz="1300" b="1" dirty="0">
                <a:solidFill>
                  <a:srgbClr val="0B2A4A"/>
                </a:solidFill>
                <a:latin typeface="Courier New" pitchFamily="34" charset="0"/>
                <a:ea typeface="Courier New" pitchFamily="34" charset="-122"/>
                <a:cs typeface="Courier New" pitchFamily="34" charset="-120"/>
              </a:rPr>
              <a:t>(TP + TN) / tổng</a:t>
            </a:r>
            <a:endParaRPr lang="en-US" sz="1300" dirty="0"/>
          </a:p>
        </p:txBody>
      </p:sp>
      <p:sp>
        <p:nvSpPr>
          <p:cNvPr id="24" name="Text 22"/>
          <p:cNvSpPr/>
          <p:nvPr/>
        </p:nvSpPr>
        <p:spPr>
          <a:xfrm>
            <a:off x="9738360" y="1965960"/>
            <a:ext cx="1783080" cy="658368"/>
          </a:xfrm>
          <a:prstGeom prst="rect">
            <a:avLst/>
          </a:prstGeom>
          <a:noFill/>
          <a:ln/>
        </p:spPr>
        <p:txBody>
          <a:bodyPr wrap="square" lIns="0" tIns="0" rIns="0" bIns="0" rtlCol="0" anchor="ctr"/>
          <a:lstStyle/>
          <a:p>
            <a:pPr marL="0" indent="0">
              <a:lnSpc>
                <a:spcPct val="100000"/>
              </a:lnSpc>
              <a:buNone/>
            </a:pPr>
            <a:r>
              <a:rPr lang="en-US" sz="1050" dirty="0">
                <a:solidFill>
                  <a:srgbClr val="5B7280"/>
                </a:solidFill>
                <a:latin typeface="Arial" pitchFamily="34" charset="0"/>
                <a:ea typeface="Arial" pitchFamily="34" charset="-122"/>
                <a:cs typeface="Arial" pitchFamily="34" charset="-120"/>
              </a:rPr>
              <a:t>Đoán đúng chung</a:t>
            </a:r>
            <a:endParaRPr lang="en-US" sz="1050" dirty="0"/>
          </a:p>
        </p:txBody>
      </p:sp>
      <p:sp>
        <p:nvSpPr>
          <p:cNvPr id="25" name="Shape 23"/>
          <p:cNvSpPr/>
          <p:nvPr/>
        </p:nvSpPr>
        <p:spPr>
          <a:xfrm>
            <a:off x="5943600" y="2715768"/>
            <a:ext cx="5669280" cy="658368"/>
          </a:xfrm>
          <a:prstGeom prst="roundRect">
            <a:avLst>
              <a:gd name="adj" fmla="val 8333"/>
            </a:avLst>
          </a:prstGeom>
          <a:solidFill>
            <a:srgbClr val="FFFFFF"/>
          </a:solidFill>
          <a:ln w="12700">
            <a:solidFill>
              <a:srgbClr val="D5E8E5"/>
            </a:solidFill>
            <a:prstDash val="solid"/>
          </a:ln>
        </p:spPr>
      </p:sp>
      <p:sp>
        <p:nvSpPr>
          <p:cNvPr id="26" name="Text 24"/>
          <p:cNvSpPr/>
          <p:nvPr/>
        </p:nvSpPr>
        <p:spPr>
          <a:xfrm>
            <a:off x="6172200" y="2715768"/>
            <a:ext cx="1371600" cy="658368"/>
          </a:xfrm>
          <a:prstGeom prst="rect">
            <a:avLst/>
          </a:prstGeom>
          <a:noFill/>
          <a:ln/>
        </p:spPr>
        <p:txBody>
          <a:bodyPr wrap="square" lIns="0" tIns="0" rIns="0" bIns="0" rtlCol="0" anchor="ctr"/>
          <a:lstStyle/>
          <a:p>
            <a:pPr marL="0" indent="0">
              <a:buNone/>
            </a:pPr>
            <a:r>
              <a:rPr lang="en-US" sz="1500" b="1" dirty="0">
                <a:solidFill>
                  <a:srgbClr val="028090"/>
                </a:solidFill>
                <a:latin typeface="Arial" pitchFamily="34" charset="0"/>
                <a:ea typeface="Arial" pitchFamily="34" charset="-122"/>
                <a:cs typeface="Arial" pitchFamily="34" charset="-120"/>
              </a:rPr>
              <a:t>Precision</a:t>
            </a:r>
            <a:endParaRPr lang="en-US" sz="1500" dirty="0"/>
          </a:p>
        </p:txBody>
      </p:sp>
      <p:sp>
        <p:nvSpPr>
          <p:cNvPr id="27" name="Text 25"/>
          <p:cNvSpPr/>
          <p:nvPr/>
        </p:nvSpPr>
        <p:spPr>
          <a:xfrm>
            <a:off x="7543800" y="2715768"/>
            <a:ext cx="2148840" cy="658368"/>
          </a:xfrm>
          <a:prstGeom prst="rect">
            <a:avLst/>
          </a:prstGeom>
          <a:noFill/>
          <a:ln/>
        </p:spPr>
        <p:txBody>
          <a:bodyPr wrap="square" lIns="0" tIns="0" rIns="0" bIns="0" rtlCol="0" anchor="ctr"/>
          <a:lstStyle/>
          <a:p>
            <a:pPr marL="0" indent="0">
              <a:buNone/>
            </a:pPr>
            <a:r>
              <a:rPr lang="en-US" sz="1300" b="1" dirty="0">
                <a:solidFill>
                  <a:srgbClr val="0B2A4A"/>
                </a:solidFill>
                <a:latin typeface="Courier New" pitchFamily="34" charset="0"/>
                <a:ea typeface="Courier New" pitchFamily="34" charset="-122"/>
                <a:cs typeface="Courier New" pitchFamily="34" charset="-120"/>
              </a:rPr>
              <a:t>TP / (TP + FP)</a:t>
            </a:r>
            <a:endParaRPr lang="en-US" sz="1300" dirty="0"/>
          </a:p>
        </p:txBody>
      </p:sp>
      <p:sp>
        <p:nvSpPr>
          <p:cNvPr id="28" name="Text 26"/>
          <p:cNvSpPr/>
          <p:nvPr/>
        </p:nvSpPr>
        <p:spPr>
          <a:xfrm>
            <a:off x="9738360" y="2715768"/>
            <a:ext cx="1783080" cy="658368"/>
          </a:xfrm>
          <a:prstGeom prst="rect">
            <a:avLst/>
          </a:prstGeom>
          <a:noFill/>
          <a:ln/>
        </p:spPr>
        <p:txBody>
          <a:bodyPr wrap="square" lIns="0" tIns="0" rIns="0" bIns="0" rtlCol="0" anchor="ctr"/>
          <a:lstStyle/>
          <a:p>
            <a:pPr marL="0" indent="0">
              <a:lnSpc>
                <a:spcPct val="100000"/>
              </a:lnSpc>
              <a:buNone/>
            </a:pPr>
            <a:r>
              <a:rPr lang="en-US" sz="1050" dirty="0">
                <a:solidFill>
                  <a:srgbClr val="5B7280"/>
                </a:solidFill>
                <a:latin typeface="Arial" pitchFamily="34" charset="0"/>
                <a:ea typeface="Arial" pitchFamily="34" charset="-122"/>
                <a:cs typeface="Arial" pitchFamily="34" charset="-120"/>
              </a:rPr>
              <a:t>Báo mỏi thì đúng bao nhiêu</a:t>
            </a:r>
            <a:endParaRPr lang="en-US" sz="1050" dirty="0"/>
          </a:p>
        </p:txBody>
      </p:sp>
      <p:sp>
        <p:nvSpPr>
          <p:cNvPr id="29" name="Shape 27"/>
          <p:cNvSpPr/>
          <p:nvPr/>
        </p:nvSpPr>
        <p:spPr>
          <a:xfrm>
            <a:off x="5943600" y="3465576"/>
            <a:ext cx="5669280" cy="658368"/>
          </a:xfrm>
          <a:prstGeom prst="roundRect">
            <a:avLst>
              <a:gd name="adj" fmla="val 8333"/>
            </a:avLst>
          </a:prstGeom>
          <a:solidFill>
            <a:srgbClr val="FFFFFF"/>
          </a:solidFill>
          <a:ln w="12700">
            <a:solidFill>
              <a:srgbClr val="D5E8E5"/>
            </a:solidFill>
            <a:prstDash val="solid"/>
          </a:ln>
        </p:spPr>
      </p:sp>
      <p:sp>
        <p:nvSpPr>
          <p:cNvPr id="30" name="Text 28"/>
          <p:cNvSpPr/>
          <p:nvPr/>
        </p:nvSpPr>
        <p:spPr>
          <a:xfrm>
            <a:off x="6172200" y="3465576"/>
            <a:ext cx="1371600" cy="658368"/>
          </a:xfrm>
          <a:prstGeom prst="rect">
            <a:avLst/>
          </a:prstGeom>
          <a:noFill/>
          <a:ln/>
        </p:spPr>
        <p:txBody>
          <a:bodyPr wrap="square" lIns="0" tIns="0" rIns="0" bIns="0" rtlCol="0" anchor="ctr"/>
          <a:lstStyle/>
          <a:p>
            <a:pPr marL="0" indent="0">
              <a:buNone/>
            </a:pPr>
            <a:r>
              <a:rPr lang="en-US" sz="1500" b="1" dirty="0">
                <a:solidFill>
                  <a:srgbClr val="028090"/>
                </a:solidFill>
                <a:latin typeface="Arial" pitchFamily="34" charset="0"/>
                <a:ea typeface="Arial" pitchFamily="34" charset="-122"/>
                <a:cs typeface="Arial" pitchFamily="34" charset="-120"/>
              </a:rPr>
              <a:t>Recall</a:t>
            </a:r>
            <a:endParaRPr lang="en-US" sz="1500" dirty="0"/>
          </a:p>
        </p:txBody>
      </p:sp>
      <p:sp>
        <p:nvSpPr>
          <p:cNvPr id="31" name="Text 29"/>
          <p:cNvSpPr/>
          <p:nvPr/>
        </p:nvSpPr>
        <p:spPr>
          <a:xfrm>
            <a:off x="7543800" y="3465576"/>
            <a:ext cx="2148840" cy="658368"/>
          </a:xfrm>
          <a:prstGeom prst="rect">
            <a:avLst/>
          </a:prstGeom>
          <a:noFill/>
          <a:ln/>
        </p:spPr>
        <p:txBody>
          <a:bodyPr wrap="square" lIns="0" tIns="0" rIns="0" bIns="0" rtlCol="0" anchor="ctr"/>
          <a:lstStyle/>
          <a:p>
            <a:pPr marL="0" indent="0">
              <a:buNone/>
            </a:pPr>
            <a:r>
              <a:rPr lang="en-US" sz="1300" b="1" dirty="0">
                <a:solidFill>
                  <a:srgbClr val="0B2A4A"/>
                </a:solidFill>
                <a:latin typeface="Courier New" pitchFamily="34" charset="0"/>
                <a:ea typeface="Courier New" pitchFamily="34" charset="-122"/>
                <a:cs typeface="Courier New" pitchFamily="34" charset="-120"/>
              </a:rPr>
              <a:t>TP / (TP + FN)</a:t>
            </a:r>
            <a:endParaRPr lang="en-US" sz="1300" dirty="0"/>
          </a:p>
        </p:txBody>
      </p:sp>
      <p:sp>
        <p:nvSpPr>
          <p:cNvPr id="32" name="Text 30"/>
          <p:cNvSpPr/>
          <p:nvPr/>
        </p:nvSpPr>
        <p:spPr>
          <a:xfrm>
            <a:off x="9738360" y="3465576"/>
            <a:ext cx="1783080" cy="658368"/>
          </a:xfrm>
          <a:prstGeom prst="rect">
            <a:avLst/>
          </a:prstGeom>
          <a:noFill/>
          <a:ln/>
        </p:spPr>
        <p:txBody>
          <a:bodyPr wrap="square" lIns="0" tIns="0" rIns="0" bIns="0" rtlCol="0" anchor="ctr"/>
          <a:lstStyle/>
          <a:p>
            <a:pPr marL="0" indent="0">
              <a:lnSpc>
                <a:spcPct val="100000"/>
              </a:lnSpc>
              <a:buNone/>
            </a:pPr>
            <a:r>
              <a:rPr lang="en-US" sz="1050" dirty="0">
                <a:solidFill>
                  <a:srgbClr val="5B7280"/>
                </a:solidFill>
                <a:latin typeface="Arial" pitchFamily="34" charset="0"/>
                <a:ea typeface="Arial" pitchFamily="34" charset="-122"/>
                <a:cs typeface="Arial" pitchFamily="34" charset="-120"/>
              </a:rPr>
              <a:t>Bắt được bao nhiêu ca mỏi thật</a:t>
            </a:r>
            <a:endParaRPr lang="en-US" sz="1050" dirty="0"/>
          </a:p>
        </p:txBody>
      </p:sp>
      <p:sp>
        <p:nvSpPr>
          <p:cNvPr id="33" name="Shape 31"/>
          <p:cNvSpPr/>
          <p:nvPr/>
        </p:nvSpPr>
        <p:spPr>
          <a:xfrm>
            <a:off x="5943600" y="4215384"/>
            <a:ext cx="5669280" cy="658368"/>
          </a:xfrm>
          <a:prstGeom prst="roundRect">
            <a:avLst>
              <a:gd name="adj" fmla="val 8333"/>
            </a:avLst>
          </a:prstGeom>
          <a:solidFill>
            <a:srgbClr val="FFFFFF"/>
          </a:solidFill>
          <a:ln w="12700">
            <a:solidFill>
              <a:srgbClr val="D5E8E5"/>
            </a:solidFill>
            <a:prstDash val="solid"/>
          </a:ln>
        </p:spPr>
      </p:sp>
      <p:sp>
        <p:nvSpPr>
          <p:cNvPr id="34" name="Text 32"/>
          <p:cNvSpPr/>
          <p:nvPr/>
        </p:nvSpPr>
        <p:spPr>
          <a:xfrm>
            <a:off x="6172200" y="4215384"/>
            <a:ext cx="1371600" cy="658368"/>
          </a:xfrm>
          <a:prstGeom prst="rect">
            <a:avLst/>
          </a:prstGeom>
          <a:noFill/>
          <a:ln/>
        </p:spPr>
        <p:txBody>
          <a:bodyPr wrap="square" lIns="0" tIns="0" rIns="0" bIns="0" rtlCol="0" anchor="ctr"/>
          <a:lstStyle/>
          <a:p>
            <a:pPr marL="0" indent="0">
              <a:buNone/>
            </a:pPr>
            <a:r>
              <a:rPr lang="en-US" sz="1500" b="1" dirty="0">
                <a:solidFill>
                  <a:srgbClr val="028090"/>
                </a:solidFill>
                <a:latin typeface="Arial" pitchFamily="34" charset="0"/>
                <a:ea typeface="Arial" pitchFamily="34" charset="-122"/>
                <a:cs typeface="Arial" pitchFamily="34" charset="-120"/>
              </a:rPr>
              <a:t>F1</a:t>
            </a:r>
            <a:endParaRPr lang="en-US" sz="1500" dirty="0"/>
          </a:p>
        </p:txBody>
      </p:sp>
      <p:sp>
        <p:nvSpPr>
          <p:cNvPr id="35" name="Text 33"/>
          <p:cNvSpPr/>
          <p:nvPr/>
        </p:nvSpPr>
        <p:spPr>
          <a:xfrm>
            <a:off x="7543800" y="4215384"/>
            <a:ext cx="2148840" cy="658368"/>
          </a:xfrm>
          <a:prstGeom prst="rect">
            <a:avLst/>
          </a:prstGeom>
          <a:noFill/>
          <a:ln/>
        </p:spPr>
        <p:txBody>
          <a:bodyPr wrap="square" lIns="0" tIns="0" rIns="0" bIns="0" rtlCol="0" anchor="ctr"/>
          <a:lstStyle/>
          <a:p>
            <a:pPr marL="0" indent="0">
              <a:buNone/>
            </a:pPr>
            <a:r>
              <a:rPr lang="en-US" sz="1300" b="1" dirty="0">
                <a:solidFill>
                  <a:srgbClr val="0B2A4A"/>
                </a:solidFill>
                <a:latin typeface="Courier New" pitchFamily="34" charset="0"/>
                <a:ea typeface="Courier New" pitchFamily="34" charset="-122"/>
                <a:cs typeface="Courier New" pitchFamily="34" charset="-120"/>
              </a:rPr>
              <a:t>2·P·R / (P + R)</a:t>
            </a:r>
            <a:endParaRPr lang="en-US" sz="1300" dirty="0"/>
          </a:p>
        </p:txBody>
      </p:sp>
      <p:sp>
        <p:nvSpPr>
          <p:cNvPr id="36" name="Text 34"/>
          <p:cNvSpPr/>
          <p:nvPr/>
        </p:nvSpPr>
        <p:spPr>
          <a:xfrm>
            <a:off x="9738360" y="4215384"/>
            <a:ext cx="1783080" cy="658368"/>
          </a:xfrm>
          <a:prstGeom prst="rect">
            <a:avLst/>
          </a:prstGeom>
          <a:noFill/>
          <a:ln/>
        </p:spPr>
        <p:txBody>
          <a:bodyPr wrap="square" lIns="0" tIns="0" rIns="0" bIns="0" rtlCol="0" anchor="ctr"/>
          <a:lstStyle/>
          <a:p>
            <a:pPr marL="0" indent="0">
              <a:lnSpc>
                <a:spcPct val="100000"/>
              </a:lnSpc>
              <a:buNone/>
            </a:pPr>
            <a:r>
              <a:rPr lang="en-US" sz="1050" dirty="0">
                <a:solidFill>
                  <a:srgbClr val="5B7280"/>
                </a:solidFill>
                <a:latin typeface="Arial" pitchFamily="34" charset="0"/>
                <a:ea typeface="Arial" pitchFamily="34" charset="-122"/>
                <a:cs typeface="Arial" pitchFamily="34" charset="-120"/>
              </a:rPr>
              <a:t>Cân bằng Precision &amp; Recall</a:t>
            </a:r>
            <a:endParaRPr lang="en-US" sz="1050" dirty="0"/>
          </a:p>
        </p:txBody>
      </p:sp>
      <p:sp>
        <p:nvSpPr>
          <p:cNvPr id="37" name="Shape 35"/>
          <p:cNvSpPr/>
          <p:nvPr/>
        </p:nvSpPr>
        <p:spPr>
          <a:xfrm>
            <a:off x="5943600" y="5029200"/>
            <a:ext cx="5669280" cy="960120"/>
          </a:xfrm>
          <a:prstGeom prst="roundRect">
            <a:avLst>
              <a:gd name="adj" fmla="val 7619"/>
            </a:avLst>
          </a:prstGeom>
          <a:solidFill>
            <a:srgbClr val="0B2A4A"/>
          </a:solidFill>
          <a:ln/>
        </p:spPr>
      </p:sp>
      <p:sp>
        <p:nvSpPr>
          <p:cNvPr id="38" name="Text 36"/>
          <p:cNvSpPr/>
          <p:nvPr/>
        </p:nvSpPr>
        <p:spPr>
          <a:xfrm>
            <a:off x="6172200" y="5138928"/>
            <a:ext cx="5212080" cy="274320"/>
          </a:xfrm>
          <a:prstGeom prst="rect">
            <a:avLst/>
          </a:prstGeom>
          <a:noFill/>
          <a:ln/>
        </p:spPr>
        <p:txBody>
          <a:bodyPr wrap="square" lIns="0" tIns="0" rIns="0" bIns="0" rtlCol="0" anchor="ctr"/>
          <a:lstStyle/>
          <a:p>
            <a:pPr marL="0" indent="0">
              <a:buNone/>
            </a:pPr>
            <a:r>
              <a:rPr lang="en-US" sz="1200" b="1" dirty="0">
                <a:solidFill>
                  <a:srgbClr val="6FD3C9"/>
                </a:solidFill>
                <a:latin typeface="Arial" pitchFamily="34" charset="0"/>
                <a:ea typeface="Arial" pitchFamily="34" charset="-122"/>
                <a:cs typeface="Arial" pitchFamily="34" charset="-120"/>
              </a:rPr>
              <a:t>Kiểm chứng KNN</a:t>
            </a:r>
            <a:endParaRPr lang="en-US" sz="1200" dirty="0"/>
          </a:p>
        </p:txBody>
      </p:sp>
      <p:sp>
        <p:nvSpPr>
          <p:cNvPr id="39" name="Text 37"/>
          <p:cNvSpPr/>
          <p:nvPr/>
        </p:nvSpPr>
        <p:spPr>
          <a:xfrm>
            <a:off x="6172200" y="5413248"/>
            <a:ext cx="5212080" cy="45720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F1 = 2 × 0,974 × 0,935 / (0,974 + 0,935) = 0,9541  →  95,41% (Table 2)</a:t>
            </a:r>
            <a:endParaRPr lang="en-US" sz="1250" dirty="0"/>
          </a:p>
        </p:txBody>
      </p:sp>
      <p:sp>
        <p:nvSpPr>
          <p:cNvPr id="40" name="Text 38"/>
          <p:cNvSpPr/>
          <p:nvPr/>
        </p:nvSpPr>
        <p:spPr>
          <a:xfrm>
            <a:off x="822960" y="5257800"/>
            <a:ext cx="4846320" cy="822960"/>
          </a:xfrm>
          <a:prstGeom prst="rect">
            <a:avLst/>
          </a:prstGeom>
          <a:noFill/>
          <a:ln/>
        </p:spPr>
        <p:txBody>
          <a:bodyPr wrap="square" lIns="0" tIns="0" rIns="0" bIns="0" rtlCol="0" anchor="t"/>
          <a:lstStyle/>
          <a:p>
            <a:pPr marL="0" indent="0">
              <a:lnSpc>
                <a:spcPct val="115000"/>
              </a:lnSpc>
              <a:buNone/>
            </a:pPr>
            <a:r>
              <a:rPr lang="en-US" sz="1050" i="1" dirty="0">
                <a:solidFill>
                  <a:srgbClr val="5B7280"/>
                </a:solidFill>
                <a:latin typeface="Arial" pitchFamily="34" charset="0"/>
                <a:ea typeface="Arial" pitchFamily="34" charset="-122"/>
                <a:cs typeface="Arial" pitchFamily="34" charset="-120"/>
              </a:rPr>
              <a:t>AUC-ROC cần xác suất dự đoán (quét mọi ngưỡng) · CV-Acc là accuracy trung bình qua các fold khi huấn luyện — cả hai không suy từ ma trận một-ngưỡng.</a:t>
            </a:r>
            <a:endParaRPr lang="en-US" sz="1050" dirty="0"/>
          </a:p>
        </p:txBody>
      </p:sp>
      <p:sp>
        <p:nvSpPr>
          <p:cNvPr id="41" name="Text 39"/>
          <p:cNvSpPr/>
          <p:nvPr/>
        </p:nvSpPr>
        <p:spPr>
          <a:xfrm>
            <a:off x="502920" y="6473952"/>
            <a:ext cx="5486400" cy="274320"/>
          </a:xfrm>
          <a:prstGeom prst="rect">
            <a:avLst/>
          </a:prstGeom>
          <a:noFill/>
          <a:ln/>
        </p:spPr>
        <p:txBody>
          <a:bodyPr wrap="square" lIns="0" tIns="0" rIns="0" bIns="0" rtlCol="0" anchor="ctr"/>
          <a:lstStyle/>
          <a:p>
            <a:pPr marL="0" indent="0">
              <a:buNone/>
            </a:pPr>
            <a:r>
              <a:rPr lang="en-US" sz="900" dirty="0">
                <a:solidFill>
                  <a:srgbClr val="5B7280"/>
                </a:solidFill>
                <a:latin typeface="Arial" pitchFamily="34" charset="0"/>
                <a:ea typeface="Arial" pitchFamily="34" charset="-122"/>
                <a:cs typeface="Arial" pitchFamily="34" charset="-120"/>
              </a:rPr>
              <a:t>sEMG Fatigue Detection · Springer 2025</a:t>
            </a:r>
            <a:endParaRPr lang="en-US" sz="900" dirty="0"/>
          </a:p>
        </p:txBody>
      </p:sp>
      <p:sp>
        <p:nvSpPr>
          <p:cNvPr id="42" name="Text 40"/>
          <p:cNvSpPr/>
          <p:nvPr/>
        </p:nvSpPr>
        <p:spPr>
          <a:xfrm>
            <a:off x="11277295" y="6473952"/>
            <a:ext cx="411480" cy="274320"/>
          </a:xfrm>
          <a:prstGeom prst="rect">
            <a:avLst/>
          </a:prstGeom>
          <a:noFill/>
          <a:ln/>
        </p:spPr>
        <p:txBody>
          <a:bodyPr wrap="square" lIns="0" tIns="0" rIns="0" bIns="0" rtlCol="0" anchor="ctr"/>
          <a:lstStyle/>
          <a:p>
            <a:pPr marL="0" indent="0" algn="r">
              <a:buNone/>
            </a:pPr>
            <a:r>
              <a:rPr lang="en-US" sz="900" dirty="0">
                <a:solidFill>
                  <a:srgbClr val="5B7280"/>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8229600" cy="320040"/>
          </a:xfrm>
          <a:prstGeom prst="rect">
            <a:avLst/>
          </a:prstGeom>
          <a:noFill/>
          <a:ln/>
        </p:spPr>
        <p:txBody>
          <a:bodyPr wrap="square" lIns="0" tIns="0" rIns="0" bIns="0" rtlCol="0" anchor="ctr"/>
          <a:lstStyle/>
          <a:p>
            <a:pPr marL="0" indent="0">
              <a:buNone/>
            </a:pPr>
            <a:r>
              <a:rPr lang="en-US" sz="1250" b="1" kern="0" spc="200" dirty="0">
                <a:solidFill>
                  <a:srgbClr val="028090"/>
                </a:solidFill>
                <a:latin typeface="Arial" pitchFamily="34" charset="0"/>
                <a:ea typeface="Arial" pitchFamily="34" charset="-122"/>
                <a:cs typeface="Arial" pitchFamily="34" charset="-120"/>
              </a:rPr>
              <a:t>05 · KẾT QUẢ PHÂN LOẠI</a:t>
            </a:r>
            <a:endParaRPr lang="en-US" sz="1250" dirty="0"/>
          </a:p>
        </p:txBody>
      </p:sp>
      <p:sp>
        <p:nvSpPr>
          <p:cNvPr id="3" name="Text 1"/>
          <p:cNvSpPr/>
          <p:nvPr/>
        </p:nvSpPr>
        <p:spPr>
          <a:xfrm>
            <a:off x="548640" y="822960"/>
            <a:ext cx="10972800" cy="731520"/>
          </a:xfrm>
          <a:prstGeom prst="rect">
            <a:avLst/>
          </a:prstGeom>
          <a:noFill/>
          <a:ln/>
        </p:spPr>
        <p:txBody>
          <a:bodyPr wrap="square" lIns="0" tIns="0" rIns="0" bIns="0" rtlCol="0" anchor="ctr"/>
          <a:lstStyle/>
          <a:p>
            <a:pPr marL="0" indent="0">
              <a:buNone/>
            </a:pPr>
            <a:r>
              <a:rPr lang="en-US" sz="3200" b="1" dirty="0">
                <a:solidFill>
                  <a:srgbClr val="0B2A4A"/>
                </a:solidFill>
                <a:latin typeface="Cambria" pitchFamily="34" charset="0"/>
                <a:ea typeface="Cambria" pitchFamily="34" charset="-122"/>
                <a:cs typeface="Cambria" pitchFamily="34" charset="-120"/>
              </a:rPr>
              <a:t>KNN vượt trội so với SVM và LDA</a:t>
            </a:r>
            <a:endParaRPr lang="en-US" sz="3200" dirty="0"/>
          </a:p>
        </p:txBody>
      </p:sp>
      <p:graphicFrame>
        <p:nvGraphicFramePr>
          <p:cNvPr id="4" name="Chart 0"/>
          <p:cNvGraphicFramePr/>
          <p:nvPr/>
        </p:nvGraphicFramePr>
        <p:xfrm>
          <a:off x="502920" y="1920240"/>
          <a:ext cx="672084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635240" y="1920240"/>
            <a:ext cx="4023360" cy="3977640"/>
          </a:xfrm>
          <a:prstGeom prst="roundRect">
            <a:avLst>
              <a:gd name="adj" fmla="val 2299"/>
            </a:avLst>
          </a:prstGeom>
          <a:solidFill>
            <a:srgbClr val="0B2A4A"/>
          </a:solidFill>
          <a:ln/>
        </p:spPr>
      </p:sp>
      <p:sp>
        <p:nvSpPr>
          <p:cNvPr id="6" name="Text 3"/>
          <p:cNvSpPr/>
          <p:nvPr/>
        </p:nvSpPr>
        <p:spPr>
          <a:xfrm>
            <a:off x="8001000" y="2148840"/>
            <a:ext cx="3291840" cy="274320"/>
          </a:xfrm>
          <a:prstGeom prst="rect">
            <a:avLst/>
          </a:prstGeom>
          <a:noFill/>
          <a:ln/>
        </p:spPr>
        <p:txBody>
          <a:bodyPr wrap="square" lIns="0" tIns="0" rIns="0" bIns="0" rtlCol="0" anchor="ctr"/>
          <a:lstStyle/>
          <a:p>
            <a:pPr marL="0" indent="0">
              <a:buNone/>
            </a:pPr>
            <a:r>
              <a:rPr lang="en-US" sz="1150" b="1" kern="0" spc="150" dirty="0">
                <a:solidFill>
                  <a:srgbClr val="6FD3C9"/>
                </a:solidFill>
                <a:latin typeface="Arial" pitchFamily="34" charset="0"/>
                <a:ea typeface="Arial" pitchFamily="34" charset="-122"/>
                <a:cs typeface="Arial" pitchFamily="34" charset="-120"/>
              </a:rPr>
              <a:t>MÔ HÌNH TỐT NHẤT</a:t>
            </a:r>
            <a:endParaRPr lang="en-US" sz="1150" dirty="0"/>
          </a:p>
        </p:txBody>
      </p:sp>
      <p:sp>
        <p:nvSpPr>
          <p:cNvPr id="7" name="Text 4"/>
          <p:cNvSpPr/>
          <p:nvPr/>
        </p:nvSpPr>
        <p:spPr>
          <a:xfrm>
            <a:off x="8001000" y="2377440"/>
            <a:ext cx="3291840" cy="64008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KNN</a:t>
            </a:r>
            <a:endParaRPr lang="en-US" sz="4000" dirty="0"/>
          </a:p>
        </p:txBody>
      </p:sp>
      <p:sp>
        <p:nvSpPr>
          <p:cNvPr id="8" name="Text 5"/>
          <p:cNvSpPr/>
          <p:nvPr/>
        </p:nvSpPr>
        <p:spPr>
          <a:xfrm>
            <a:off x="8001000" y="3200400"/>
            <a:ext cx="2194560" cy="310896"/>
          </a:xfrm>
          <a:prstGeom prst="rect">
            <a:avLst/>
          </a:prstGeom>
          <a:noFill/>
          <a:ln/>
        </p:spPr>
        <p:txBody>
          <a:bodyPr wrap="square" lIns="0" tIns="0" rIns="0" bIns="0" rtlCol="0" anchor="ctr"/>
          <a:lstStyle/>
          <a:p>
            <a:pPr marL="0" indent="0">
              <a:buNone/>
            </a:pPr>
            <a:r>
              <a:rPr lang="en-US" sz="1350" dirty="0">
                <a:solidFill>
                  <a:srgbClr val="BFD8D5"/>
                </a:solidFill>
                <a:latin typeface="Arial" pitchFamily="34" charset="0"/>
                <a:ea typeface="Arial" pitchFamily="34" charset="-122"/>
                <a:cs typeface="Arial" pitchFamily="34" charset="-120"/>
              </a:rPr>
              <a:t>F1-score</a:t>
            </a:r>
            <a:endParaRPr lang="en-US" sz="1350" dirty="0"/>
          </a:p>
        </p:txBody>
      </p:sp>
      <p:sp>
        <p:nvSpPr>
          <p:cNvPr id="9" name="Text 6"/>
          <p:cNvSpPr/>
          <p:nvPr/>
        </p:nvSpPr>
        <p:spPr>
          <a:xfrm>
            <a:off x="9921240" y="3200400"/>
            <a:ext cx="1371600" cy="310896"/>
          </a:xfrm>
          <a:prstGeom prst="rect">
            <a:avLst/>
          </a:prstGeom>
          <a:noFill/>
          <a:ln/>
        </p:spPr>
        <p:txBody>
          <a:bodyPr wrap="square" lIns="0" tIns="0" rIns="0" bIns="0" rtlCol="0" anchor="ctr"/>
          <a:lstStyle/>
          <a:p>
            <a:pPr marL="0" indent="0" algn="r">
              <a:buNone/>
            </a:pPr>
            <a:r>
              <a:rPr lang="en-US" sz="1500" b="1" dirty="0">
                <a:solidFill>
                  <a:srgbClr val="00A896"/>
                </a:solidFill>
                <a:latin typeface="Arial" pitchFamily="34" charset="0"/>
                <a:ea typeface="Arial" pitchFamily="34" charset="-122"/>
                <a:cs typeface="Arial" pitchFamily="34" charset="-120"/>
              </a:rPr>
              <a:t>95,41%</a:t>
            </a:r>
            <a:endParaRPr lang="en-US" sz="1500" dirty="0"/>
          </a:p>
        </p:txBody>
      </p:sp>
      <p:sp>
        <p:nvSpPr>
          <p:cNvPr id="10" name="Text 7"/>
          <p:cNvSpPr/>
          <p:nvPr/>
        </p:nvSpPr>
        <p:spPr>
          <a:xfrm>
            <a:off x="8001000" y="3703320"/>
            <a:ext cx="2194560" cy="310896"/>
          </a:xfrm>
          <a:prstGeom prst="rect">
            <a:avLst/>
          </a:prstGeom>
          <a:noFill/>
          <a:ln/>
        </p:spPr>
        <p:txBody>
          <a:bodyPr wrap="square" lIns="0" tIns="0" rIns="0" bIns="0" rtlCol="0" anchor="ctr"/>
          <a:lstStyle/>
          <a:p>
            <a:pPr marL="0" indent="0">
              <a:buNone/>
            </a:pPr>
            <a:r>
              <a:rPr lang="en-US" sz="1350" dirty="0">
                <a:solidFill>
                  <a:srgbClr val="BFD8D5"/>
                </a:solidFill>
                <a:latin typeface="Arial" pitchFamily="34" charset="0"/>
                <a:ea typeface="Arial" pitchFamily="34" charset="-122"/>
                <a:cs typeface="Arial" pitchFamily="34" charset="-120"/>
              </a:rPr>
              <a:t>Accuracy</a:t>
            </a:r>
            <a:endParaRPr lang="en-US" sz="1350" dirty="0"/>
          </a:p>
        </p:txBody>
      </p:sp>
      <p:sp>
        <p:nvSpPr>
          <p:cNvPr id="11" name="Text 8"/>
          <p:cNvSpPr/>
          <p:nvPr/>
        </p:nvSpPr>
        <p:spPr>
          <a:xfrm>
            <a:off x="9921240" y="3703320"/>
            <a:ext cx="1371600" cy="310896"/>
          </a:xfrm>
          <a:prstGeom prst="rect">
            <a:avLst/>
          </a:prstGeom>
          <a:noFill/>
          <a:ln/>
        </p:spPr>
        <p:txBody>
          <a:bodyPr wrap="square" lIns="0" tIns="0" rIns="0" bIns="0" rtlCol="0" anchor="ctr"/>
          <a:lstStyle/>
          <a:p>
            <a:pPr marL="0" indent="0" algn="r">
              <a:buNone/>
            </a:pPr>
            <a:r>
              <a:rPr lang="en-US" sz="1500" b="1" dirty="0">
                <a:solidFill>
                  <a:srgbClr val="FFFFFF"/>
                </a:solidFill>
                <a:latin typeface="Arial" pitchFamily="34" charset="0"/>
                <a:ea typeface="Arial" pitchFamily="34" charset="-122"/>
                <a:cs typeface="Arial" pitchFamily="34" charset="-120"/>
              </a:rPr>
              <a:t>95,31%</a:t>
            </a:r>
            <a:endParaRPr lang="en-US" sz="1500" dirty="0"/>
          </a:p>
        </p:txBody>
      </p:sp>
      <p:sp>
        <p:nvSpPr>
          <p:cNvPr id="12" name="Text 9"/>
          <p:cNvSpPr/>
          <p:nvPr/>
        </p:nvSpPr>
        <p:spPr>
          <a:xfrm>
            <a:off x="8001000" y="4206240"/>
            <a:ext cx="2194560" cy="310896"/>
          </a:xfrm>
          <a:prstGeom prst="rect">
            <a:avLst/>
          </a:prstGeom>
          <a:noFill/>
          <a:ln/>
        </p:spPr>
        <p:txBody>
          <a:bodyPr wrap="square" lIns="0" tIns="0" rIns="0" bIns="0" rtlCol="0" anchor="ctr"/>
          <a:lstStyle/>
          <a:p>
            <a:pPr marL="0" indent="0">
              <a:buNone/>
            </a:pPr>
            <a:r>
              <a:rPr lang="en-US" sz="1350" dirty="0">
                <a:solidFill>
                  <a:srgbClr val="BFD8D5"/>
                </a:solidFill>
                <a:latin typeface="Arial" pitchFamily="34" charset="0"/>
                <a:ea typeface="Arial" pitchFamily="34" charset="-122"/>
                <a:cs typeface="Arial" pitchFamily="34" charset="-120"/>
              </a:rPr>
              <a:t>Precision</a:t>
            </a:r>
            <a:endParaRPr lang="en-US" sz="1350" dirty="0"/>
          </a:p>
        </p:txBody>
      </p:sp>
      <p:sp>
        <p:nvSpPr>
          <p:cNvPr id="13" name="Text 10"/>
          <p:cNvSpPr/>
          <p:nvPr/>
        </p:nvSpPr>
        <p:spPr>
          <a:xfrm>
            <a:off x="9921240" y="4206240"/>
            <a:ext cx="1371600" cy="310896"/>
          </a:xfrm>
          <a:prstGeom prst="rect">
            <a:avLst/>
          </a:prstGeom>
          <a:noFill/>
          <a:ln/>
        </p:spPr>
        <p:txBody>
          <a:bodyPr wrap="square" lIns="0" tIns="0" rIns="0" bIns="0" rtlCol="0" anchor="ctr"/>
          <a:lstStyle/>
          <a:p>
            <a:pPr marL="0" indent="0" algn="r">
              <a:buNone/>
            </a:pPr>
            <a:r>
              <a:rPr lang="en-US" sz="1500" b="1" dirty="0">
                <a:solidFill>
                  <a:srgbClr val="FFFFFF"/>
                </a:solidFill>
                <a:latin typeface="Arial" pitchFamily="34" charset="0"/>
                <a:ea typeface="Arial" pitchFamily="34" charset="-122"/>
                <a:cs typeface="Arial" pitchFamily="34" charset="-120"/>
              </a:rPr>
              <a:t>97,40%</a:t>
            </a:r>
            <a:endParaRPr lang="en-US" sz="1500" dirty="0"/>
          </a:p>
        </p:txBody>
      </p:sp>
      <p:sp>
        <p:nvSpPr>
          <p:cNvPr id="14" name="Text 11"/>
          <p:cNvSpPr/>
          <p:nvPr/>
        </p:nvSpPr>
        <p:spPr>
          <a:xfrm>
            <a:off x="8001000" y="4709160"/>
            <a:ext cx="2194560" cy="310896"/>
          </a:xfrm>
          <a:prstGeom prst="rect">
            <a:avLst/>
          </a:prstGeom>
          <a:noFill/>
          <a:ln/>
        </p:spPr>
        <p:txBody>
          <a:bodyPr wrap="square" lIns="0" tIns="0" rIns="0" bIns="0" rtlCol="0" anchor="ctr"/>
          <a:lstStyle/>
          <a:p>
            <a:pPr marL="0" indent="0">
              <a:buNone/>
            </a:pPr>
            <a:r>
              <a:rPr lang="en-US" sz="1350" dirty="0">
                <a:solidFill>
                  <a:srgbClr val="BFD8D5"/>
                </a:solidFill>
                <a:latin typeface="Arial" pitchFamily="34" charset="0"/>
                <a:ea typeface="Arial" pitchFamily="34" charset="-122"/>
                <a:cs typeface="Arial" pitchFamily="34" charset="-120"/>
              </a:rPr>
              <a:t>Recall</a:t>
            </a:r>
            <a:endParaRPr lang="en-US" sz="1350" dirty="0"/>
          </a:p>
        </p:txBody>
      </p:sp>
      <p:sp>
        <p:nvSpPr>
          <p:cNvPr id="15" name="Text 12"/>
          <p:cNvSpPr/>
          <p:nvPr/>
        </p:nvSpPr>
        <p:spPr>
          <a:xfrm>
            <a:off x="9921240" y="4709160"/>
            <a:ext cx="1371600" cy="310896"/>
          </a:xfrm>
          <a:prstGeom prst="rect">
            <a:avLst/>
          </a:prstGeom>
          <a:noFill/>
          <a:ln/>
        </p:spPr>
        <p:txBody>
          <a:bodyPr wrap="square" lIns="0" tIns="0" rIns="0" bIns="0" rtlCol="0" anchor="ctr"/>
          <a:lstStyle/>
          <a:p>
            <a:pPr marL="0" indent="0" algn="r">
              <a:buNone/>
            </a:pPr>
            <a:r>
              <a:rPr lang="en-US" sz="1500" b="1" dirty="0">
                <a:solidFill>
                  <a:srgbClr val="FFFFFF"/>
                </a:solidFill>
                <a:latin typeface="Arial" pitchFamily="34" charset="0"/>
                <a:ea typeface="Arial" pitchFamily="34" charset="-122"/>
                <a:cs typeface="Arial" pitchFamily="34" charset="-120"/>
              </a:rPr>
              <a:t>93,50%</a:t>
            </a:r>
            <a:endParaRPr lang="en-US" sz="1500" dirty="0"/>
          </a:p>
        </p:txBody>
      </p:sp>
      <p:sp>
        <p:nvSpPr>
          <p:cNvPr id="16" name="Text 13"/>
          <p:cNvSpPr/>
          <p:nvPr/>
        </p:nvSpPr>
        <p:spPr>
          <a:xfrm>
            <a:off x="8001000" y="5212080"/>
            <a:ext cx="2194560" cy="310896"/>
          </a:xfrm>
          <a:prstGeom prst="rect">
            <a:avLst/>
          </a:prstGeom>
          <a:noFill/>
          <a:ln/>
        </p:spPr>
        <p:txBody>
          <a:bodyPr wrap="square" lIns="0" tIns="0" rIns="0" bIns="0" rtlCol="0" anchor="ctr"/>
          <a:lstStyle/>
          <a:p>
            <a:pPr marL="0" indent="0">
              <a:buNone/>
            </a:pPr>
            <a:r>
              <a:rPr lang="en-US" sz="1350" dirty="0">
                <a:solidFill>
                  <a:srgbClr val="BFD8D5"/>
                </a:solidFill>
                <a:latin typeface="Arial" pitchFamily="34" charset="0"/>
                <a:ea typeface="Arial" pitchFamily="34" charset="-122"/>
                <a:cs typeface="Arial" pitchFamily="34" charset="-120"/>
              </a:rPr>
              <a:t>AUC-ROC</a:t>
            </a:r>
            <a:endParaRPr lang="en-US" sz="1350" dirty="0"/>
          </a:p>
        </p:txBody>
      </p:sp>
      <p:sp>
        <p:nvSpPr>
          <p:cNvPr id="17" name="Text 14"/>
          <p:cNvSpPr/>
          <p:nvPr/>
        </p:nvSpPr>
        <p:spPr>
          <a:xfrm>
            <a:off x="9921240" y="5212080"/>
            <a:ext cx="1371600" cy="310896"/>
          </a:xfrm>
          <a:prstGeom prst="rect">
            <a:avLst/>
          </a:prstGeom>
          <a:noFill/>
          <a:ln/>
        </p:spPr>
        <p:txBody>
          <a:bodyPr wrap="square" lIns="0" tIns="0" rIns="0" bIns="0" rtlCol="0" anchor="ctr"/>
          <a:lstStyle/>
          <a:p>
            <a:pPr marL="0" indent="0" algn="r">
              <a:buNone/>
            </a:pPr>
            <a:r>
              <a:rPr lang="en-US" sz="1500" b="1" dirty="0">
                <a:solidFill>
                  <a:srgbClr val="FFFFFF"/>
                </a:solidFill>
                <a:latin typeface="Arial" pitchFamily="34" charset="0"/>
                <a:ea typeface="Arial" pitchFamily="34" charset="-122"/>
                <a:cs typeface="Arial" pitchFamily="34" charset="-120"/>
              </a:rPr>
              <a:t>0,95</a:t>
            </a:r>
            <a:endParaRPr lang="en-US" sz="1500" dirty="0"/>
          </a:p>
        </p:txBody>
      </p:sp>
      <p:sp>
        <p:nvSpPr>
          <p:cNvPr id="18" name="Text 15"/>
          <p:cNvSpPr/>
          <p:nvPr/>
        </p:nvSpPr>
        <p:spPr>
          <a:xfrm>
            <a:off x="8001000" y="5623560"/>
            <a:ext cx="3291840" cy="274320"/>
          </a:xfrm>
          <a:prstGeom prst="rect">
            <a:avLst/>
          </a:prstGeom>
          <a:noFill/>
          <a:ln/>
        </p:spPr>
        <p:txBody>
          <a:bodyPr wrap="square" lIns="0" tIns="0" rIns="0" bIns="0" rtlCol="0" anchor="ctr"/>
          <a:lstStyle/>
          <a:p>
            <a:pPr marL="0" indent="0">
              <a:buNone/>
            </a:pPr>
            <a:r>
              <a:rPr lang="en-US" sz="850" i="1" dirty="0">
                <a:solidFill>
                  <a:srgbClr val="7FA8A4"/>
                </a:solidFill>
                <a:latin typeface="Arial" pitchFamily="34" charset="0"/>
                <a:ea typeface="Arial" pitchFamily="34" charset="-122"/>
                <a:cs typeface="Arial" pitchFamily="34" charset="-120"/>
              </a:rPr>
              <a:t>Nguồn: Table 2, BME 2025. Abstract ghi F1 = 95,12% (chênh nhẹ do làm tròn).</a:t>
            </a:r>
            <a:endParaRPr lang="en-US" sz="850" dirty="0"/>
          </a:p>
        </p:txBody>
      </p:sp>
      <p:sp>
        <p:nvSpPr>
          <p:cNvPr id="19" name="Text 16"/>
          <p:cNvSpPr/>
          <p:nvPr/>
        </p:nvSpPr>
        <p:spPr>
          <a:xfrm>
            <a:off x="502920" y="6473952"/>
            <a:ext cx="5486400" cy="274320"/>
          </a:xfrm>
          <a:prstGeom prst="rect">
            <a:avLst/>
          </a:prstGeom>
          <a:noFill/>
          <a:ln/>
        </p:spPr>
        <p:txBody>
          <a:bodyPr wrap="square" lIns="0" tIns="0" rIns="0" bIns="0" rtlCol="0" anchor="ctr"/>
          <a:lstStyle/>
          <a:p>
            <a:pPr marL="0" indent="0">
              <a:buNone/>
            </a:pPr>
            <a:r>
              <a:rPr lang="en-US" sz="900" dirty="0">
                <a:solidFill>
                  <a:srgbClr val="5B7280"/>
                </a:solidFill>
                <a:latin typeface="Arial" pitchFamily="34" charset="0"/>
                <a:ea typeface="Arial" pitchFamily="34" charset="-122"/>
                <a:cs typeface="Arial" pitchFamily="34" charset="-120"/>
              </a:rPr>
              <a:t>sEMG Fatigue Detection · Springer 2025</a:t>
            </a:r>
            <a:endParaRPr lang="en-US" sz="900" dirty="0"/>
          </a:p>
        </p:txBody>
      </p:sp>
      <p:sp>
        <p:nvSpPr>
          <p:cNvPr id="20" name="Text 17"/>
          <p:cNvSpPr/>
          <p:nvPr/>
        </p:nvSpPr>
        <p:spPr>
          <a:xfrm>
            <a:off x="11277295" y="6473952"/>
            <a:ext cx="411480" cy="274320"/>
          </a:xfrm>
          <a:prstGeom prst="rect">
            <a:avLst/>
          </a:prstGeom>
          <a:noFill/>
          <a:ln/>
        </p:spPr>
        <p:txBody>
          <a:bodyPr wrap="square" lIns="0" tIns="0" rIns="0" bIns="0" rtlCol="0" anchor="ctr"/>
          <a:lstStyle/>
          <a:p>
            <a:pPr marL="0" indent="0" algn="r">
              <a:buNone/>
            </a:pPr>
            <a:r>
              <a:rPr lang="en-US" sz="900" dirty="0">
                <a:solidFill>
                  <a:srgbClr val="5B7280"/>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1FAF9"/>
        </a:solidFill>
        <a:effectLst/>
      </p:bgPr>
    </p:bg>
    <p:spTree>
      <p:nvGrpSpPr>
        <p:cNvPr id="1" name=""/>
        <p:cNvGrpSpPr/>
        <p:nvPr/>
      </p:nvGrpSpPr>
      <p:grpSpPr>
        <a:xfrm>
          <a:off x="0" y="0"/>
          <a:ext cx="0" cy="0"/>
          <a:chOff x="0" y="0"/>
          <a:chExt cx="0" cy="0"/>
        </a:xfrm>
      </p:grpSpPr>
      <p:sp>
        <p:nvSpPr>
          <p:cNvPr id="2" name="Text 0"/>
          <p:cNvSpPr/>
          <p:nvPr/>
        </p:nvSpPr>
        <p:spPr>
          <a:xfrm>
            <a:off x="0" y="0"/>
            <a:ext cx="8229600" cy="320040"/>
          </a:xfrm>
          <a:prstGeom prst="rect">
            <a:avLst/>
          </a:prstGeom>
          <a:noFill/>
          <a:ln/>
        </p:spPr>
        <p:txBody>
          <a:bodyPr wrap="square" lIns="0" tIns="0" rIns="0" bIns="0" rtlCol="0" anchor="ctr"/>
          <a:lstStyle/>
          <a:p>
            <a:pPr marL="0" indent="0">
              <a:buNone/>
            </a:pPr>
            <a:r>
              <a:rPr lang="en-US" sz="1250" b="1" kern="0" spc="200" dirty="0">
                <a:solidFill>
                  <a:srgbClr val="028090"/>
                </a:solidFill>
                <a:latin typeface="Arial" pitchFamily="34" charset="0"/>
                <a:ea typeface="Arial" pitchFamily="34" charset="-122"/>
                <a:cs typeface="Arial" pitchFamily="34" charset="-120"/>
              </a:rPr>
              <a:t>05 · KẾT QUẢ BÀI TIỀN NHIỆM</a:t>
            </a:r>
            <a:endParaRPr lang="en-US" sz="1250" dirty="0"/>
          </a:p>
        </p:txBody>
      </p:sp>
      <p:sp>
        <p:nvSpPr>
          <p:cNvPr id="3" name="Text 1"/>
          <p:cNvSpPr/>
          <p:nvPr/>
        </p:nvSpPr>
        <p:spPr>
          <a:xfrm>
            <a:off x="548640" y="822960"/>
            <a:ext cx="10972800" cy="731520"/>
          </a:xfrm>
          <a:prstGeom prst="rect">
            <a:avLst/>
          </a:prstGeom>
          <a:noFill/>
          <a:ln/>
        </p:spPr>
        <p:txBody>
          <a:bodyPr wrap="square" lIns="0" tIns="0" rIns="0" bIns="0" rtlCol="0" anchor="ctr"/>
          <a:lstStyle/>
          <a:p>
            <a:pPr marL="0" indent="0">
              <a:buNone/>
            </a:pPr>
            <a:r>
              <a:rPr lang="en-US" sz="2900" b="1" dirty="0">
                <a:solidFill>
                  <a:srgbClr val="0B2A4A"/>
                </a:solidFill>
                <a:latin typeface="Cambria" pitchFamily="34" charset="0"/>
                <a:ea typeface="Cambria" pitchFamily="34" charset="-122"/>
                <a:cs typeface="Cambria" pitchFamily="34" charset="-120"/>
              </a:rPr>
              <a:t>ICACE 2019 — SVM với RMS + MAV</a:t>
            </a:r>
            <a:endParaRPr lang="en-US" sz="2900" dirty="0"/>
          </a:p>
        </p:txBody>
      </p:sp>
      <p:sp>
        <p:nvSpPr>
          <p:cNvPr id="4" name="Text 2"/>
          <p:cNvSpPr/>
          <p:nvPr/>
        </p:nvSpPr>
        <p:spPr>
          <a:xfrm>
            <a:off x="1657350" y="1828800"/>
            <a:ext cx="2286000" cy="274320"/>
          </a:xfrm>
          <a:prstGeom prst="rect">
            <a:avLst/>
          </a:prstGeom>
          <a:noFill/>
          <a:ln/>
        </p:spPr>
        <p:txBody>
          <a:bodyPr wrap="square" lIns="0" tIns="0" rIns="0" bIns="0" rtlCol="0" anchor="ctr"/>
          <a:lstStyle/>
          <a:p>
            <a:pPr marL="0" indent="0">
              <a:buNone/>
            </a:pPr>
            <a:r>
              <a:rPr lang="en-US" sz="1050" i="1" dirty="0">
                <a:solidFill>
                  <a:srgbClr val="5B7280"/>
                </a:solidFill>
                <a:latin typeface="Arial" pitchFamily="34" charset="0"/>
                <a:ea typeface="Arial" pitchFamily="34" charset="-122"/>
                <a:cs typeface="Arial" pitchFamily="34" charset="-120"/>
              </a:rPr>
              <a:t>Dự đoán →</a:t>
            </a:r>
            <a:endParaRPr lang="en-US" sz="1050" dirty="0"/>
          </a:p>
        </p:txBody>
      </p:sp>
      <p:sp>
        <p:nvSpPr>
          <p:cNvPr id="5" name="Text 3"/>
          <p:cNvSpPr/>
          <p:nvPr/>
        </p:nvSpPr>
        <p:spPr>
          <a:xfrm>
            <a:off x="1657350" y="2103120"/>
            <a:ext cx="1143000" cy="256032"/>
          </a:xfrm>
          <a:prstGeom prst="rect">
            <a:avLst/>
          </a:prstGeom>
          <a:noFill/>
          <a:ln/>
        </p:spPr>
        <p:txBody>
          <a:bodyPr wrap="square" lIns="0" tIns="0" rIns="0" bIns="0" rtlCol="0" anchor="ctr"/>
          <a:lstStyle/>
          <a:p>
            <a:pPr marL="0" indent="0" algn="ctr">
              <a:buNone/>
            </a:pPr>
            <a:r>
              <a:rPr lang="en-US" sz="1050" b="1" dirty="0">
                <a:solidFill>
                  <a:srgbClr val="12303F"/>
                </a:solidFill>
                <a:latin typeface="Arial" pitchFamily="34" charset="0"/>
                <a:ea typeface="Arial" pitchFamily="34" charset="-122"/>
                <a:cs typeface="Arial" pitchFamily="34" charset="-120"/>
              </a:rPr>
              <a:t>Negative (0)</a:t>
            </a:r>
            <a:endParaRPr lang="en-US" sz="1050" dirty="0"/>
          </a:p>
        </p:txBody>
      </p:sp>
      <p:sp>
        <p:nvSpPr>
          <p:cNvPr id="6" name="Text 4"/>
          <p:cNvSpPr/>
          <p:nvPr/>
        </p:nvSpPr>
        <p:spPr>
          <a:xfrm>
            <a:off x="2855214" y="2103120"/>
            <a:ext cx="1143000" cy="256032"/>
          </a:xfrm>
          <a:prstGeom prst="rect">
            <a:avLst/>
          </a:prstGeom>
          <a:noFill/>
          <a:ln/>
        </p:spPr>
        <p:txBody>
          <a:bodyPr wrap="square" lIns="0" tIns="0" rIns="0" bIns="0" rtlCol="0" anchor="ctr"/>
          <a:lstStyle/>
          <a:p>
            <a:pPr marL="0" indent="0" algn="ctr">
              <a:buNone/>
            </a:pPr>
            <a:r>
              <a:rPr lang="en-US" sz="1050" b="1" dirty="0">
                <a:solidFill>
                  <a:srgbClr val="12303F"/>
                </a:solidFill>
                <a:latin typeface="Arial" pitchFamily="34" charset="0"/>
                <a:ea typeface="Arial" pitchFamily="34" charset="-122"/>
                <a:cs typeface="Arial" pitchFamily="34" charset="-120"/>
              </a:rPr>
              <a:t>Positive (1)</a:t>
            </a:r>
            <a:endParaRPr lang="en-US" sz="1050" dirty="0"/>
          </a:p>
        </p:txBody>
      </p:sp>
      <p:sp>
        <p:nvSpPr>
          <p:cNvPr id="7" name="Text 5"/>
          <p:cNvSpPr/>
          <p:nvPr/>
        </p:nvSpPr>
        <p:spPr>
          <a:xfrm>
            <a:off x="292608" y="2441448"/>
            <a:ext cx="1097280" cy="1143000"/>
          </a:xfrm>
          <a:prstGeom prst="rect">
            <a:avLst/>
          </a:prstGeom>
          <a:noFill/>
          <a:ln/>
        </p:spPr>
        <p:txBody>
          <a:bodyPr wrap="square" lIns="0" tIns="0" rIns="0" bIns="0" rtlCol="0" anchor="ctr"/>
          <a:lstStyle/>
          <a:p>
            <a:pPr marL="0" indent="0" algn="r">
              <a:buNone/>
            </a:pPr>
            <a:r>
              <a:rPr lang="en-US" sz="1050" b="1" dirty="0">
                <a:solidFill>
                  <a:srgbClr val="12303F"/>
                </a:solidFill>
                <a:latin typeface="Arial" pitchFamily="34" charset="0"/>
                <a:ea typeface="Arial" pitchFamily="34" charset="-122"/>
                <a:cs typeface="Arial" pitchFamily="34" charset="-120"/>
              </a:rPr>
              <a:t>Thực</a:t>
            </a:r>
            <a:endParaRPr lang="en-US" sz="1050" dirty="0"/>
          </a:p>
          <a:p>
            <a:pPr marL="0" indent="0" algn="r">
              <a:buNone/>
            </a:pPr>
            <a:r>
              <a:rPr lang="en-US" sz="1050" b="1" dirty="0">
                <a:solidFill>
                  <a:srgbClr val="12303F"/>
                </a:solidFill>
                <a:latin typeface="Arial" pitchFamily="34" charset="0"/>
                <a:ea typeface="Arial" pitchFamily="34" charset="-122"/>
                <a:cs typeface="Arial" pitchFamily="34" charset="-120"/>
              </a:rPr>
              <a:t>Neg(0)</a:t>
            </a:r>
            <a:endParaRPr lang="en-US" sz="1050" dirty="0"/>
          </a:p>
        </p:txBody>
      </p:sp>
      <p:sp>
        <p:nvSpPr>
          <p:cNvPr id="8" name="Text 6"/>
          <p:cNvSpPr/>
          <p:nvPr/>
        </p:nvSpPr>
        <p:spPr>
          <a:xfrm>
            <a:off x="292608" y="3639312"/>
            <a:ext cx="1097280" cy="1143000"/>
          </a:xfrm>
          <a:prstGeom prst="rect">
            <a:avLst/>
          </a:prstGeom>
          <a:noFill/>
          <a:ln/>
        </p:spPr>
        <p:txBody>
          <a:bodyPr wrap="square" lIns="0" tIns="0" rIns="0" bIns="0" rtlCol="0" anchor="ctr"/>
          <a:lstStyle/>
          <a:p>
            <a:pPr marL="0" indent="0" algn="r">
              <a:buNone/>
            </a:pPr>
            <a:r>
              <a:rPr lang="en-US" sz="1050" b="1" dirty="0">
                <a:solidFill>
                  <a:srgbClr val="12303F"/>
                </a:solidFill>
                <a:latin typeface="Arial" pitchFamily="34" charset="0"/>
                <a:ea typeface="Arial" pitchFamily="34" charset="-122"/>
                <a:cs typeface="Arial" pitchFamily="34" charset="-120"/>
              </a:rPr>
              <a:t>Thực</a:t>
            </a:r>
            <a:endParaRPr lang="en-US" sz="1050" dirty="0"/>
          </a:p>
          <a:p>
            <a:pPr marL="0" indent="0" algn="r">
              <a:buNone/>
            </a:pPr>
            <a:r>
              <a:rPr lang="en-US" sz="1050" b="1" dirty="0">
                <a:solidFill>
                  <a:srgbClr val="12303F"/>
                </a:solidFill>
                <a:latin typeface="Arial" pitchFamily="34" charset="0"/>
                <a:ea typeface="Arial" pitchFamily="34" charset="-122"/>
                <a:cs typeface="Arial" pitchFamily="34" charset="-120"/>
              </a:rPr>
              <a:t>Pos(1)</a:t>
            </a:r>
            <a:endParaRPr lang="en-US" sz="1050" dirty="0"/>
          </a:p>
        </p:txBody>
      </p:sp>
      <p:sp>
        <p:nvSpPr>
          <p:cNvPr id="9" name="Shape 7"/>
          <p:cNvSpPr/>
          <p:nvPr/>
        </p:nvSpPr>
        <p:spPr>
          <a:xfrm>
            <a:off x="1657350" y="2441448"/>
            <a:ext cx="1143000" cy="1143000"/>
          </a:xfrm>
          <a:prstGeom prst="roundRect">
            <a:avLst>
              <a:gd name="adj" fmla="val 4800"/>
            </a:avLst>
          </a:prstGeom>
          <a:solidFill>
            <a:srgbClr val="028090"/>
          </a:solidFill>
          <a:ln w="25400">
            <a:solidFill>
              <a:srgbClr val="FFFFFF"/>
            </a:solidFill>
            <a:prstDash val="solid"/>
          </a:ln>
        </p:spPr>
      </p:sp>
      <p:sp>
        <p:nvSpPr>
          <p:cNvPr id="10" name="Text 8"/>
          <p:cNvSpPr/>
          <p:nvPr/>
        </p:nvSpPr>
        <p:spPr>
          <a:xfrm>
            <a:off x="1657350" y="2660904"/>
            <a:ext cx="1143000" cy="402336"/>
          </a:xfrm>
          <a:prstGeom prst="rect">
            <a:avLst/>
          </a:prstGeom>
          <a:noFill/>
          <a:ln/>
        </p:spPr>
        <p:txBody>
          <a:bodyPr wrap="square" lIns="0" tIns="0" rIns="0" bIns="0" rtlCol="0" anchor="ctr"/>
          <a:lstStyle/>
          <a:p>
            <a:pPr marL="0" indent="0" algn="ctr">
              <a:buNone/>
            </a:pPr>
            <a:r>
              <a:rPr lang="en-US" sz="2200" b="1" dirty="0">
                <a:solidFill>
                  <a:srgbClr val="04342C"/>
                </a:solidFill>
                <a:latin typeface="Arial" pitchFamily="34" charset="0"/>
                <a:ea typeface="Arial" pitchFamily="34" charset="-122"/>
                <a:cs typeface="Arial" pitchFamily="34" charset="-120"/>
              </a:rPr>
              <a:t>179</a:t>
            </a:r>
            <a:endParaRPr lang="en-US" sz="2200" dirty="0"/>
          </a:p>
        </p:txBody>
      </p:sp>
      <p:sp>
        <p:nvSpPr>
          <p:cNvPr id="11" name="Text 9"/>
          <p:cNvSpPr/>
          <p:nvPr/>
        </p:nvSpPr>
        <p:spPr>
          <a:xfrm>
            <a:off x="1657350" y="3099816"/>
            <a:ext cx="1143000" cy="274320"/>
          </a:xfrm>
          <a:prstGeom prst="rect">
            <a:avLst/>
          </a:prstGeom>
          <a:noFill/>
          <a:ln/>
        </p:spPr>
        <p:txBody>
          <a:bodyPr wrap="square" lIns="0" tIns="0" rIns="0" bIns="0" rtlCol="0" anchor="ctr"/>
          <a:lstStyle/>
          <a:p>
            <a:pPr marL="0" indent="0" algn="ctr">
              <a:buNone/>
            </a:pPr>
            <a:r>
              <a:rPr lang="en-US" sz="950" dirty="0">
                <a:solidFill>
                  <a:srgbClr val="04342C"/>
                </a:solidFill>
                <a:latin typeface="Arial" pitchFamily="34" charset="0"/>
                <a:ea typeface="Arial" pitchFamily="34" charset="-122"/>
                <a:cs typeface="Arial" pitchFamily="34" charset="-120"/>
              </a:rPr>
              <a:t>TN</a:t>
            </a:r>
            <a:endParaRPr lang="en-US" sz="950" dirty="0"/>
          </a:p>
        </p:txBody>
      </p:sp>
      <p:sp>
        <p:nvSpPr>
          <p:cNvPr id="12" name="Shape 10"/>
          <p:cNvSpPr/>
          <p:nvPr/>
        </p:nvSpPr>
        <p:spPr>
          <a:xfrm>
            <a:off x="2855214" y="2441448"/>
            <a:ext cx="1143000" cy="1143000"/>
          </a:xfrm>
          <a:prstGeom prst="roundRect">
            <a:avLst>
              <a:gd name="adj" fmla="val 4800"/>
            </a:avLst>
          </a:prstGeom>
          <a:solidFill>
            <a:srgbClr val="C0392B"/>
          </a:solidFill>
          <a:ln w="25400">
            <a:solidFill>
              <a:srgbClr val="FFFFFF"/>
            </a:solidFill>
            <a:prstDash val="solid"/>
          </a:ln>
        </p:spPr>
      </p:sp>
      <p:sp>
        <p:nvSpPr>
          <p:cNvPr id="13" name="Text 11"/>
          <p:cNvSpPr/>
          <p:nvPr/>
        </p:nvSpPr>
        <p:spPr>
          <a:xfrm>
            <a:off x="2855214" y="2660904"/>
            <a:ext cx="1143000" cy="402336"/>
          </a:xfrm>
          <a:prstGeom prst="rect">
            <a:avLst/>
          </a:prstGeom>
          <a:noFill/>
          <a:ln/>
        </p:spPr>
        <p:txBody>
          <a:bodyPr wrap="square" lIns="0" tIns="0" rIns="0" bIns="0" rtlCol="0" anchor="ctr"/>
          <a:lstStyle/>
          <a:p>
            <a:pPr marL="0" indent="0" algn="ctr">
              <a:buNone/>
            </a:pPr>
            <a:r>
              <a:rPr lang="en-US" sz="2200" b="1" dirty="0">
                <a:solidFill>
                  <a:srgbClr val="4A1B0C"/>
                </a:solidFill>
                <a:latin typeface="Arial" pitchFamily="34" charset="0"/>
                <a:ea typeface="Arial" pitchFamily="34" charset="-122"/>
                <a:cs typeface="Arial" pitchFamily="34" charset="-120"/>
              </a:rPr>
              <a:t>64</a:t>
            </a:r>
            <a:endParaRPr lang="en-US" sz="2200" dirty="0"/>
          </a:p>
        </p:txBody>
      </p:sp>
      <p:sp>
        <p:nvSpPr>
          <p:cNvPr id="14" name="Text 12"/>
          <p:cNvSpPr/>
          <p:nvPr/>
        </p:nvSpPr>
        <p:spPr>
          <a:xfrm>
            <a:off x="2855214" y="3099816"/>
            <a:ext cx="1143000" cy="274320"/>
          </a:xfrm>
          <a:prstGeom prst="rect">
            <a:avLst/>
          </a:prstGeom>
          <a:noFill/>
          <a:ln/>
        </p:spPr>
        <p:txBody>
          <a:bodyPr wrap="square" lIns="0" tIns="0" rIns="0" bIns="0" rtlCol="0" anchor="ctr"/>
          <a:lstStyle/>
          <a:p>
            <a:pPr marL="0" indent="0" algn="ctr">
              <a:buNone/>
            </a:pPr>
            <a:r>
              <a:rPr lang="en-US" sz="950" dirty="0">
                <a:solidFill>
                  <a:srgbClr val="4A1B0C"/>
                </a:solidFill>
                <a:latin typeface="Arial" pitchFamily="34" charset="0"/>
                <a:ea typeface="Arial" pitchFamily="34" charset="-122"/>
                <a:cs typeface="Arial" pitchFamily="34" charset="-120"/>
              </a:rPr>
              <a:t>FP</a:t>
            </a:r>
            <a:endParaRPr lang="en-US" sz="950" dirty="0"/>
          </a:p>
        </p:txBody>
      </p:sp>
      <p:sp>
        <p:nvSpPr>
          <p:cNvPr id="15" name="Shape 13"/>
          <p:cNvSpPr/>
          <p:nvPr/>
        </p:nvSpPr>
        <p:spPr>
          <a:xfrm>
            <a:off x="1657350" y="3639312"/>
            <a:ext cx="1143000" cy="1143000"/>
          </a:xfrm>
          <a:prstGeom prst="roundRect">
            <a:avLst>
              <a:gd name="adj" fmla="val 4800"/>
            </a:avLst>
          </a:prstGeom>
          <a:solidFill>
            <a:srgbClr val="C0392B"/>
          </a:solidFill>
          <a:ln w="25400">
            <a:solidFill>
              <a:srgbClr val="FFFFFF"/>
            </a:solidFill>
            <a:prstDash val="solid"/>
          </a:ln>
        </p:spPr>
      </p:sp>
      <p:sp>
        <p:nvSpPr>
          <p:cNvPr id="16" name="Text 14"/>
          <p:cNvSpPr/>
          <p:nvPr/>
        </p:nvSpPr>
        <p:spPr>
          <a:xfrm>
            <a:off x="1657350" y="3858768"/>
            <a:ext cx="1143000" cy="402336"/>
          </a:xfrm>
          <a:prstGeom prst="rect">
            <a:avLst/>
          </a:prstGeom>
          <a:noFill/>
          <a:ln/>
        </p:spPr>
        <p:txBody>
          <a:bodyPr wrap="square" lIns="0" tIns="0" rIns="0" bIns="0" rtlCol="0" anchor="ctr"/>
          <a:lstStyle/>
          <a:p>
            <a:pPr marL="0" indent="0" algn="ctr">
              <a:buNone/>
            </a:pPr>
            <a:r>
              <a:rPr lang="en-US" sz="2200" b="1" dirty="0">
                <a:solidFill>
                  <a:srgbClr val="4A1B0C"/>
                </a:solidFill>
                <a:latin typeface="Arial" pitchFamily="34" charset="0"/>
                <a:ea typeface="Arial" pitchFamily="34" charset="-122"/>
                <a:cs typeface="Arial" pitchFamily="34" charset="-120"/>
              </a:rPr>
              <a:t>27</a:t>
            </a:r>
            <a:endParaRPr lang="en-US" sz="2200" dirty="0"/>
          </a:p>
        </p:txBody>
      </p:sp>
      <p:sp>
        <p:nvSpPr>
          <p:cNvPr id="17" name="Text 15"/>
          <p:cNvSpPr/>
          <p:nvPr/>
        </p:nvSpPr>
        <p:spPr>
          <a:xfrm>
            <a:off x="1657350" y="4297680"/>
            <a:ext cx="1143000" cy="274320"/>
          </a:xfrm>
          <a:prstGeom prst="rect">
            <a:avLst/>
          </a:prstGeom>
          <a:noFill/>
          <a:ln/>
        </p:spPr>
        <p:txBody>
          <a:bodyPr wrap="square" lIns="0" tIns="0" rIns="0" bIns="0" rtlCol="0" anchor="ctr"/>
          <a:lstStyle/>
          <a:p>
            <a:pPr marL="0" indent="0" algn="ctr">
              <a:buNone/>
            </a:pPr>
            <a:r>
              <a:rPr lang="en-US" sz="950" dirty="0">
                <a:solidFill>
                  <a:srgbClr val="4A1B0C"/>
                </a:solidFill>
                <a:latin typeface="Arial" pitchFamily="34" charset="0"/>
                <a:ea typeface="Arial" pitchFamily="34" charset="-122"/>
                <a:cs typeface="Arial" pitchFamily="34" charset="-120"/>
              </a:rPr>
              <a:t>FN</a:t>
            </a:r>
            <a:endParaRPr lang="en-US" sz="950" dirty="0"/>
          </a:p>
        </p:txBody>
      </p:sp>
      <p:sp>
        <p:nvSpPr>
          <p:cNvPr id="18" name="Shape 16"/>
          <p:cNvSpPr/>
          <p:nvPr/>
        </p:nvSpPr>
        <p:spPr>
          <a:xfrm>
            <a:off x="2855214" y="3639312"/>
            <a:ext cx="1143000" cy="1143000"/>
          </a:xfrm>
          <a:prstGeom prst="roundRect">
            <a:avLst>
              <a:gd name="adj" fmla="val 4800"/>
            </a:avLst>
          </a:prstGeom>
          <a:solidFill>
            <a:srgbClr val="028090"/>
          </a:solidFill>
          <a:ln w="25400">
            <a:solidFill>
              <a:srgbClr val="FFFFFF"/>
            </a:solidFill>
            <a:prstDash val="solid"/>
          </a:ln>
        </p:spPr>
      </p:sp>
      <p:sp>
        <p:nvSpPr>
          <p:cNvPr id="19" name="Text 17"/>
          <p:cNvSpPr/>
          <p:nvPr/>
        </p:nvSpPr>
        <p:spPr>
          <a:xfrm>
            <a:off x="2855214" y="3858768"/>
            <a:ext cx="1143000" cy="402336"/>
          </a:xfrm>
          <a:prstGeom prst="rect">
            <a:avLst/>
          </a:prstGeom>
          <a:noFill/>
          <a:ln/>
        </p:spPr>
        <p:txBody>
          <a:bodyPr wrap="square" lIns="0" tIns="0" rIns="0" bIns="0" rtlCol="0" anchor="ctr"/>
          <a:lstStyle/>
          <a:p>
            <a:pPr marL="0" indent="0" algn="ctr">
              <a:buNone/>
            </a:pPr>
            <a:r>
              <a:rPr lang="en-US" sz="2200" b="1" dirty="0">
                <a:solidFill>
                  <a:srgbClr val="04342C"/>
                </a:solidFill>
                <a:latin typeface="Arial" pitchFamily="34" charset="0"/>
                <a:ea typeface="Arial" pitchFamily="34" charset="-122"/>
                <a:cs typeface="Arial" pitchFamily="34" charset="-120"/>
              </a:rPr>
              <a:t>190</a:t>
            </a:r>
            <a:endParaRPr lang="en-US" sz="2200" dirty="0"/>
          </a:p>
        </p:txBody>
      </p:sp>
      <p:sp>
        <p:nvSpPr>
          <p:cNvPr id="20" name="Text 18"/>
          <p:cNvSpPr/>
          <p:nvPr/>
        </p:nvSpPr>
        <p:spPr>
          <a:xfrm>
            <a:off x="2855214" y="4297680"/>
            <a:ext cx="1143000" cy="274320"/>
          </a:xfrm>
          <a:prstGeom prst="rect">
            <a:avLst/>
          </a:prstGeom>
          <a:noFill/>
          <a:ln/>
        </p:spPr>
        <p:txBody>
          <a:bodyPr wrap="square" lIns="0" tIns="0" rIns="0" bIns="0" rtlCol="0" anchor="ctr"/>
          <a:lstStyle/>
          <a:p>
            <a:pPr marL="0" indent="0" algn="ctr">
              <a:buNone/>
            </a:pPr>
            <a:r>
              <a:rPr lang="en-US" sz="950" dirty="0">
                <a:solidFill>
                  <a:srgbClr val="04342C"/>
                </a:solidFill>
                <a:latin typeface="Arial" pitchFamily="34" charset="0"/>
                <a:ea typeface="Arial" pitchFamily="34" charset="-122"/>
                <a:cs typeface="Arial" pitchFamily="34" charset="-120"/>
              </a:rPr>
              <a:t>TP</a:t>
            </a:r>
            <a:endParaRPr lang="en-US" sz="950" dirty="0"/>
          </a:p>
        </p:txBody>
      </p:sp>
      <p:sp>
        <p:nvSpPr>
          <p:cNvPr id="21" name="Text 19"/>
          <p:cNvSpPr/>
          <p:nvPr/>
        </p:nvSpPr>
        <p:spPr>
          <a:xfrm>
            <a:off x="731520" y="4974336"/>
            <a:ext cx="2926080" cy="274320"/>
          </a:xfrm>
          <a:prstGeom prst="rect">
            <a:avLst/>
          </a:prstGeom>
          <a:noFill/>
          <a:ln/>
        </p:spPr>
        <p:txBody>
          <a:bodyPr wrap="square" lIns="0" tIns="0" rIns="0" bIns="0" rtlCol="0" anchor="ctr"/>
          <a:lstStyle/>
          <a:p>
            <a:pPr marL="0" indent="0">
              <a:buNone/>
            </a:pPr>
            <a:r>
              <a:rPr lang="en-US" sz="950" i="1" dirty="0">
                <a:solidFill>
                  <a:srgbClr val="5B7280"/>
                </a:solidFill>
                <a:latin typeface="Arial" pitchFamily="34" charset="0"/>
                <a:ea typeface="Arial" pitchFamily="34" charset="-122"/>
                <a:cs typeface="Arial" pitchFamily="34" charset="-120"/>
              </a:rPr>
              <a:t>n = 460 mẫu · hold-out 80/20 (không phải LOSO)</a:t>
            </a:r>
            <a:endParaRPr lang="en-US" sz="950" dirty="0"/>
          </a:p>
        </p:txBody>
      </p:sp>
      <p:sp>
        <p:nvSpPr>
          <p:cNvPr id="22" name="Shape 20"/>
          <p:cNvSpPr/>
          <p:nvPr/>
        </p:nvSpPr>
        <p:spPr>
          <a:xfrm>
            <a:off x="6126480" y="1920240"/>
            <a:ext cx="5532120" cy="1965960"/>
          </a:xfrm>
          <a:prstGeom prst="roundRect">
            <a:avLst>
              <a:gd name="adj" fmla="val 4186"/>
            </a:avLst>
          </a:prstGeom>
          <a:solidFill>
            <a:srgbClr val="0B2A4A"/>
          </a:solidFill>
          <a:ln/>
        </p:spPr>
      </p:sp>
      <p:sp>
        <p:nvSpPr>
          <p:cNvPr id="23" name="Text 21"/>
          <p:cNvSpPr/>
          <p:nvPr/>
        </p:nvSpPr>
        <p:spPr>
          <a:xfrm>
            <a:off x="6446520" y="2103120"/>
            <a:ext cx="4892040" cy="274320"/>
          </a:xfrm>
          <a:prstGeom prst="rect">
            <a:avLst/>
          </a:prstGeom>
          <a:noFill/>
          <a:ln/>
        </p:spPr>
        <p:txBody>
          <a:bodyPr wrap="square" lIns="0" tIns="0" rIns="0" bIns="0" rtlCol="0" anchor="ctr"/>
          <a:lstStyle/>
          <a:p>
            <a:pPr marL="0" indent="0">
              <a:buNone/>
            </a:pPr>
            <a:r>
              <a:rPr lang="en-US" sz="1100" b="1" kern="0" spc="150" dirty="0">
                <a:solidFill>
                  <a:srgbClr val="6FD3C9"/>
                </a:solidFill>
                <a:latin typeface="Arial" pitchFamily="34" charset="0"/>
                <a:ea typeface="Arial" pitchFamily="34" charset="-122"/>
                <a:cs typeface="Arial" pitchFamily="34" charset="-120"/>
              </a:rPr>
              <a:t>KẾT QUẢ SVM (GAUSSIAN)</a:t>
            </a:r>
            <a:endParaRPr lang="en-US" sz="1100" dirty="0"/>
          </a:p>
        </p:txBody>
      </p:sp>
      <p:sp>
        <p:nvSpPr>
          <p:cNvPr id="24" name="Text 22"/>
          <p:cNvSpPr/>
          <p:nvPr/>
        </p:nvSpPr>
        <p:spPr>
          <a:xfrm>
            <a:off x="6446520" y="2450592"/>
            <a:ext cx="2560320" cy="292608"/>
          </a:xfrm>
          <a:prstGeom prst="rect">
            <a:avLst/>
          </a:prstGeom>
          <a:noFill/>
          <a:ln/>
        </p:spPr>
        <p:txBody>
          <a:bodyPr wrap="square" lIns="0" tIns="0" rIns="0" bIns="0" rtlCol="0" anchor="ctr"/>
          <a:lstStyle/>
          <a:p>
            <a:pPr marL="0" indent="0">
              <a:buNone/>
            </a:pPr>
            <a:r>
              <a:rPr lang="en-US" sz="1200" dirty="0">
                <a:solidFill>
                  <a:srgbClr val="BFD8D5"/>
                </a:solidFill>
                <a:latin typeface="Arial" pitchFamily="34" charset="0"/>
                <a:ea typeface="Arial" pitchFamily="34" charset="-122"/>
                <a:cs typeface="Arial" pitchFamily="34" charset="-120"/>
              </a:rPr>
              <a:t>macro F1-score</a:t>
            </a:r>
            <a:endParaRPr lang="en-US" sz="1200" dirty="0"/>
          </a:p>
        </p:txBody>
      </p:sp>
      <p:sp>
        <p:nvSpPr>
          <p:cNvPr id="25" name="Text 23"/>
          <p:cNvSpPr/>
          <p:nvPr/>
        </p:nvSpPr>
        <p:spPr>
          <a:xfrm>
            <a:off x="8961120" y="2450592"/>
            <a:ext cx="2423160" cy="292608"/>
          </a:xfrm>
          <a:prstGeom prst="rect">
            <a:avLst/>
          </a:prstGeom>
          <a:noFill/>
          <a:ln/>
        </p:spPr>
        <p:txBody>
          <a:bodyPr wrap="square" lIns="0" tIns="0" rIns="0" bIns="0" rtlCol="0" anchor="ctr"/>
          <a:lstStyle/>
          <a:p>
            <a:pPr marL="0" indent="0" algn="r">
              <a:buNone/>
            </a:pPr>
            <a:r>
              <a:rPr lang="en-US" sz="1300" b="1" dirty="0">
                <a:solidFill>
                  <a:srgbClr val="00A896"/>
                </a:solidFill>
                <a:latin typeface="Arial" pitchFamily="34" charset="0"/>
                <a:ea typeface="Arial" pitchFamily="34" charset="-122"/>
                <a:cs typeface="Arial" pitchFamily="34" charset="-120"/>
              </a:rPr>
              <a:t>0,8068</a:t>
            </a:r>
            <a:endParaRPr lang="en-US" sz="1300" dirty="0"/>
          </a:p>
        </p:txBody>
      </p:sp>
      <p:sp>
        <p:nvSpPr>
          <p:cNvPr id="26" name="Text 24"/>
          <p:cNvSpPr/>
          <p:nvPr/>
        </p:nvSpPr>
        <p:spPr>
          <a:xfrm>
            <a:off x="6446520" y="2756916"/>
            <a:ext cx="2560320" cy="292608"/>
          </a:xfrm>
          <a:prstGeom prst="rect">
            <a:avLst/>
          </a:prstGeom>
          <a:noFill/>
          <a:ln/>
        </p:spPr>
        <p:txBody>
          <a:bodyPr wrap="square" lIns="0" tIns="0" rIns="0" bIns="0" rtlCol="0" anchor="ctr"/>
          <a:lstStyle/>
          <a:p>
            <a:pPr marL="0" indent="0">
              <a:buNone/>
            </a:pPr>
            <a:r>
              <a:rPr lang="en-US" sz="1200" dirty="0">
                <a:solidFill>
                  <a:srgbClr val="BFD8D5"/>
                </a:solidFill>
                <a:latin typeface="Arial" pitchFamily="34" charset="0"/>
                <a:ea typeface="Arial" pitchFamily="34" charset="-122"/>
                <a:cs typeface="Arial" pitchFamily="34" charset="-120"/>
              </a:rPr>
              <a:t>Accuracy</a:t>
            </a:r>
            <a:endParaRPr lang="en-US" sz="1200" dirty="0"/>
          </a:p>
        </p:txBody>
      </p:sp>
      <p:sp>
        <p:nvSpPr>
          <p:cNvPr id="27" name="Text 25"/>
          <p:cNvSpPr/>
          <p:nvPr/>
        </p:nvSpPr>
        <p:spPr>
          <a:xfrm>
            <a:off x="8961120" y="2756916"/>
            <a:ext cx="2423160" cy="292608"/>
          </a:xfrm>
          <a:prstGeom prst="rect">
            <a:avLst/>
          </a:prstGeom>
          <a:noFill/>
          <a:ln/>
        </p:spPr>
        <p:txBody>
          <a:bodyPr wrap="square" lIns="0" tIns="0" rIns="0" bIns="0" rtlCol="0" anchor="ctr"/>
          <a:lstStyle/>
          <a:p>
            <a:pPr marL="0" indent="0" algn="r">
              <a:buNone/>
            </a:pPr>
            <a:r>
              <a:rPr lang="en-US" sz="1300" b="1" dirty="0">
                <a:solidFill>
                  <a:srgbClr val="00A896"/>
                </a:solidFill>
                <a:latin typeface="Arial" pitchFamily="34" charset="0"/>
                <a:ea typeface="Arial" pitchFamily="34" charset="-122"/>
                <a:cs typeface="Arial" pitchFamily="34" charset="-120"/>
              </a:rPr>
              <a:t>82,81%</a:t>
            </a:r>
            <a:endParaRPr lang="en-US" sz="1300" dirty="0"/>
          </a:p>
        </p:txBody>
      </p:sp>
      <p:sp>
        <p:nvSpPr>
          <p:cNvPr id="28" name="Text 26"/>
          <p:cNvSpPr/>
          <p:nvPr/>
        </p:nvSpPr>
        <p:spPr>
          <a:xfrm>
            <a:off x="6446520" y="3063240"/>
            <a:ext cx="2560320" cy="292608"/>
          </a:xfrm>
          <a:prstGeom prst="rect">
            <a:avLst/>
          </a:prstGeom>
          <a:noFill/>
          <a:ln/>
        </p:spPr>
        <p:txBody>
          <a:bodyPr wrap="square" lIns="0" tIns="0" rIns="0" bIns="0" rtlCol="0" anchor="ctr"/>
          <a:lstStyle/>
          <a:p>
            <a:pPr marL="0" indent="0">
              <a:buNone/>
            </a:pPr>
            <a:r>
              <a:rPr lang="en-US" sz="1200" dirty="0">
                <a:solidFill>
                  <a:srgbClr val="BFD8D5"/>
                </a:solidFill>
                <a:latin typeface="Arial" pitchFamily="34" charset="0"/>
                <a:ea typeface="Arial" pitchFamily="34" charset="-122"/>
                <a:cs typeface="Arial" pitchFamily="34" charset="-120"/>
              </a:rPr>
              <a:t>AUC-ROC</a:t>
            </a:r>
            <a:endParaRPr lang="en-US" sz="1200" dirty="0"/>
          </a:p>
        </p:txBody>
      </p:sp>
      <p:sp>
        <p:nvSpPr>
          <p:cNvPr id="29" name="Text 27"/>
          <p:cNvSpPr/>
          <p:nvPr/>
        </p:nvSpPr>
        <p:spPr>
          <a:xfrm>
            <a:off x="8961120" y="3063240"/>
            <a:ext cx="2423160" cy="292608"/>
          </a:xfrm>
          <a:prstGeom prst="rect">
            <a:avLst/>
          </a:prstGeom>
          <a:noFill/>
          <a:ln/>
        </p:spPr>
        <p:txBody>
          <a:bodyPr wrap="square" lIns="0" tIns="0" rIns="0" bIns="0" rtlCol="0" anchor="ctr"/>
          <a:lstStyle/>
          <a:p>
            <a:pPr marL="0" indent="0" algn="r">
              <a:buNone/>
            </a:pPr>
            <a:r>
              <a:rPr lang="en-US" sz="1300" b="1" dirty="0">
                <a:solidFill>
                  <a:srgbClr val="00A896"/>
                </a:solidFill>
                <a:latin typeface="Arial" pitchFamily="34" charset="0"/>
                <a:ea typeface="Arial" pitchFamily="34" charset="-122"/>
                <a:cs typeface="Arial" pitchFamily="34" charset="-120"/>
              </a:rPr>
              <a:t>0,9026</a:t>
            </a:r>
            <a:endParaRPr lang="en-US" sz="1300" dirty="0"/>
          </a:p>
        </p:txBody>
      </p:sp>
      <p:sp>
        <p:nvSpPr>
          <p:cNvPr id="30" name="Text 28"/>
          <p:cNvSpPr/>
          <p:nvPr/>
        </p:nvSpPr>
        <p:spPr>
          <a:xfrm>
            <a:off x="6446520" y="3369564"/>
            <a:ext cx="2560320" cy="292608"/>
          </a:xfrm>
          <a:prstGeom prst="rect">
            <a:avLst/>
          </a:prstGeom>
          <a:noFill/>
          <a:ln/>
        </p:spPr>
        <p:txBody>
          <a:bodyPr wrap="square" lIns="0" tIns="0" rIns="0" bIns="0" rtlCol="0" anchor="ctr"/>
          <a:lstStyle/>
          <a:p>
            <a:pPr marL="0" indent="0">
              <a:buNone/>
            </a:pPr>
            <a:r>
              <a:rPr lang="en-US" sz="1200" dirty="0">
                <a:solidFill>
                  <a:srgbClr val="BFD8D5"/>
                </a:solidFill>
                <a:latin typeface="Arial" pitchFamily="34" charset="0"/>
                <a:ea typeface="Arial" pitchFamily="34" charset="-122"/>
                <a:cs typeface="Arial" pitchFamily="34" charset="-120"/>
              </a:rPr>
              <a:t>Đặc trưng</a:t>
            </a:r>
            <a:endParaRPr lang="en-US" sz="1200" dirty="0"/>
          </a:p>
        </p:txBody>
      </p:sp>
      <p:sp>
        <p:nvSpPr>
          <p:cNvPr id="31" name="Text 29"/>
          <p:cNvSpPr/>
          <p:nvPr/>
        </p:nvSpPr>
        <p:spPr>
          <a:xfrm>
            <a:off x="8961120" y="3369564"/>
            <a:ext cx="2423160" cy="292608"/>
          </a:xfrm>
          <a:prstGeom prst="rect">
            <a:avLst/>
          </a:prstGeom>
          <a:noFill/>
          <a:ln/>
        </p:spPr>
        <p:txBody>
          <a:bodyPr wrap="square" lIns="0" tIns="0" rIns="0" bIns="0" rtlCol="0" anchor="ctr"/>
          <a:lstStyle/>
          <a:p>
            <a:pPr marL="0" indent="0" algn="r">
              <a:buNone/>
            </a:pPr>
            <a:r>
              <a:rPr lang="en-US" sz="1300" b="1" dirty="0">
                <a:solidFill>
                  <a:srgbClr val="00A896"/>
                </a:solidFill>
                <a:latin typeface="Arial" pitchFamily="34" charset="0"/>
                <a:ea typeface="Arial" pitchFamily="34" charset="-122"/>
                <a:cs typeface="Arial" pitchFamily="34" charset="-120"/>
              </a:rPr>
              <a:t>Chỉ RMS + MAV</a:t>
            </a:r>
            <a:endParaRPr lang="en-US" sz="1300" dirty="0"/>
          </a:p>
        </p:txBody>
      </p:sp>
      <p:sp>
        <p:nvSpPr>
          <p:cNvPr id="32" name="Text 30"/>
          <p:cNvSpPr/>
          <p:nvPr/>
        </p:nvSpPr>
        <p:spPr>
          <a:xfrm>
            <a:off x="6446520" y="3675888"/>
            <a:ext cx="2560320" cy="292608"/>
          </a:xfrm>
          <a:prstGeom prst="rect">
            <a:avLst/>
          </a:prstGeom>
          <a:noFill/>
          <a:ln/>
        </p:spPr>
        <p:txBody>
          <a:bodyPr wrap="square" lIns="0" tIns="0" rIns="0" bIns="0" rtlCol="0" anchor="ctr"/>
          <a:lstStyle/>
          <a:p>
            <a:pPr marL="0" indent="0">
              <a:buNone/>
            </a:pPr>
            <a:r>
              <a:rPr lang="en-US" sz="1200" dirty="0">
                <a:solidFill>
                  <a:srgbClr val="BFD8D5"/>
                </a:solidFill>
                <a:latin typeface="Arial" pitchFamily="34" charset="0"/>
                <a:ea typeface="Arial" pitchFamily="34" charset="-122"/>
                <a:cs typeface="Arial" pitchFamily="34" charset="-120"/>
              </a:rPr>
              <a:t>Số kênh</a:t>
            </a:r>
            <a:endParaRPr lang="en-US" sz="1200" dirty="0"/>
          </a:p>
        </p:txBody>
      </p:sp>
      <p:sp>
        <p:nvSpPr>
          <p:cNvPr id="33" name="Text 31"/>
          <p:cNvSpPr/>
          <p:nvPr/>
        </p:nvSpPr>
        <p:spPr>
          <a:xfrm>
            <a:off x="8961120" y="3675888"/>
            <a:ext cx="2423160" cy="292608"/>
          </a:xfrm>
          <a:prstGeom prst="rect">
            <a:avLst/>
          </a:prstGeom>
          <a:noFill/>
          <a:ln/>
        </p:spPr>
        <p:txBody>
          <a:bodyPr wrap="square" lIns="0" tIns="0" rIns="0" bIns="0" rtlCol="0" anchor="ctr"/>
          <a:lstStyle/>
          <a:p>
            <a:pPr marL="0" indent="0" algn="r">
              <a:buNone/>
            </a:pPr>
            <a:r>
              <a:rPr lang="en-US" sz="1300" b="1" dirty="0">
                <a:solidFill>
                  <a:srgbClr val="00A896"/>
                </a:solidFill>
                <a:latin typeface="Arial" pitchFamily="34" charset="0"/>
                <a:ea typeface="Arial" pitchFamily="34" charset="-122"/>
                <a:cs typeface="Arial" pitchFamily="34" charset="-120"/>
              </a:rPr>
              <a:t>64 kênh EMG</a:t>
            </a:r>
            <a:endParaRPr lang="en-US" sz="1300" dirty="0"/>
          </a:p>
        </p:txBody>
      </p:sp>
      <p:sp>
        <p:nvSpPr>
          <p:cNvPr id="34" name="Shape 32"/>
          <p:cNvSpPr/>
          <p:nvPr/>
        </p:nvSpPr>
        <p:spPr>
          <a:xfrm>
            <a:off x="6126480" y="4069080"/>
            <a:ext cx="5532120" cy="2011680"/>
          </a:xfrm>
          <a:prstGeom prst="roundRect">
            <a:avLst>
              <a:gd name="adj" fmla="val 4091"/>
            </a:avLst>
          </a:prstGeom>
          <a:solidFill>
            <a:srgbClr val="FFFFFF"/>
          </a:solidFill>
          <a:ln w="12700">
            <a:solidFill>
              <a:srgbClr val="D5E8E5"/>
            </a:solidFill>
            <a:prstDash val="solid"/>
          </a:ln>
        </p:spPr>
      </p:sp>
      <p:sp>
        <p:nvSpPr>
          <p:cNvPr id="35" name="Text 33"/>
          <p:cNvSpPr/>
          <p:nvPr/>
        </p:nvSpPr>
        <p:spPr>
          <a:xfrm>
            <a:off x="6400800" y="4069080"/>
            <a:ext cx="4983480" cy="2011680"/>
          </a:xfrm>
          <a:prstGeom prst="rect">
            <a:avLst/>
          </a:prstGeom>
          <a:noFill/>
          <a:ln/>
        </p:spPr>
        <p:txBody>
          <a:bodyPr wrap="square" lIns="0" tIns="0" rIns="0" bIns="0" rtlCol="0" anchor="ctr"/>
          <a:lstStyle/>
          <a:p>
            <a:pPr marL="0" indent="0">
              <a:lnSpc>
                <a:spcPct val="122000"/>
              </a:lnSpc>
              <a:buNone/>
            </a:pPr>
            <a:r>
              <a:rPr lang="en-US" sz="1150" b="1" dirty="0">
                <a:solidFill>
                  <a:srgbClr val="0B2A4A"/>
                </a:solidFill>
                <a:latin typeface="Arial" pitchFamily="34" charset="0"/>
                <a:ea typeface="Arial" pitchFamily="34" charset="-122"/>
                <a:cs typeface="Arial" pitchFamily="34" charset="-120"/>
              </a:rPr>
              <a:t>So với BME 2025: </a:t>
            </a:r>
            <a:r>
              <a:rPr lang="en-US" sz="1100" dirty="0">
                <a:solidFill>
                  <a:srgbClr val="12303F"/>
                </a:solidFill>
                <a:latin typeface="Arial" pitchFamily="34" charset="0"/>
                <a:ea typeface="Arial" pitchFamily="34" charset="-122"/>
                <a:cs typeface="Arial" pitchFamily="34" charset="-120"/>
              </a:rPr>
              <a:t>ICACE 2019 chỉ dùng 2 đặc trưng nên F1 thấp hơn cả SVM-Linear 14 đặc trưng (0,895) trong BME 2025 — mở rộng đặc trưng đóng góp nhiều hơn đổi kernel. Precision/Recall khá cân bằng (179 TN, 190 TP so với 64 FP, 27 FN) — không lệch cực đoan như SVM-RBF ở BME 2025, có lẽ vì ít đặc trưng nên ít nguy cơ overfit theo gamma.</a:t>
            </a:r>
            <a:endParaRPr lang="en-US" sz="1150" dirty="0"/>
          </a:p>
        </p:txBody>
      </p:sp>
      <p:sp>
        <p:nvSpPr>
          <p:cNvPr id="36" name="Text 34"/>
          <p:cNvSpPr/>
          <p:nvPr/>
        </p:nvSpPr>
        <p:spPr>
          <a:xfrm>
            <a:off x="502920" y="6473952"/>
            <a:ext cx="5486400" cy="274320"/>
          </a:xfrm>
          <a:prstGeom prst="rect">
            <a:avLst/>
          </a:prstGeom>
          <a:noFill/>
          <a:ln/>
        </p:spPr>
        <p:txBody>
          <a:bodyPr wrap="square" lIns="0" tIns="0" rIns="0" bIns="0" rtlCol="0" anchor="ctr"/>
          <a:lstStyle/>
          <a:p>
            <a:pPr marL="0" indent="0">
              <a:buNone/>
            </a:pPr>
            <a:r>
              <a:rPr lang="en-US" sz="900" dirty="0">
                <a:solidFill>
                  <a:srgbClr val="5B7280"/>
                </a:solidFill>
                <a:latin typeface="Arial" pitchFamily="34" charset="0"/>
                <a:ea typeface="Arial" pitchFamily="34" charset="-122"/>
                <a:cs typeface="Arial" pitchFamily="34" charset="-120"/>
              </a:rPr>
              <a:t>sEMG Fatigue Detection · Springer 2025</a:t>
            </a:r>
            <a:endParaRPr lang="en-US" sz="900" dirty="0"/>
          </a:p>
        </p:txBody>
      </p:sp>
      <p:sp>
        <p:nvSpPr>
          <p:cNvPr id="37" name="Text 35"/>
          <p:cNvSpPr/>
          <p:nvPr/>
        </p:nvSpPr>
        <p:spPr>
          <a:xfrm>
            <a:off x="11277295" y="6473952"/>
            <a:ext cx="411480" cy="274320"/>
          </a:xfrm>
          <a:prstGeom prst="rect">
            <a:avLst/>
          </a:prstGeom>
          <a:noFill/>
          <a:ln/>
        </p:spPr>
        <p:txBody>
          <a:bodyPr wrap="square" lIns="0" tIns="0" rIns="0" bIns="0" rtlCol="0" anchor="ctr"/>
          <a:lstStyle/>
          <a:p>
            <a:pPr marL="0" indent="0" algn="r">
              <a:buNone/>
            </a:pPr>
            <a:r>
              <a:rPr lang="en-US" sz="900" dirty="0">
                <a:solidFill>
                  <a:srgbClr val="5B7280"/>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2A4A"/>
        </a:solidFill>
        <a:effectLst/>
      </p:bgPr>
    </p:bg>
    <p:spTree>
      <p:nvGrpSpPr>
        <p:cNvPr id="1" name=""/>
        <p:cNvGrpSpPr/>
        <p:nvPr/>
      </p:nvGrpSpPr>
      <p:grpSpPr>
        <a:xfrm>
          <a:off x="0" y="0"/>
          <a:ext cx="0" cy="0"/>
          <a:chOff x="0" y="0"/>
          <a:chExt cx="0" cy="0"/>
        </a:xfrm>
      </p:grpSpPr>
      <p:sp>
        <p:nvSpPr>
          <p:cNvPr id="2" name="Text 0"/>
          <p:cNvSpPr/>
          <p:nvPr/>
        </p:nvSpPr>
        <p:spPr>
          <a:xfrm>
            <a:off x="548640" y="548640"/>
            <a:ext cx="8229600" cy="320040"/>
          </a:xfrm>
          <a:prstGeom prst="rect">
            <a:avLst/>
          </a:prstGeom>
          <a:noFill/>
          <a:ln/>
        </p:spPr>
        <p:txBody>
          <a:bodyPr wrap="square" lIns="0" tIns="0" rIns="0" bIns="0" rtlCol="0" anchor="ctr"/>
          <a:lstStyle/>
          <a:p>
            <a:pPr marL="0" indent="0">
              <a:buNone/>
            </a:pPr>
            <a:r>
              <a:rPr lang="en-US" sz="1250" b="1" kern="0" spc="200" dirty="0">
                <a:solidFill>
                  <a:srgbClr val="6FD3C9"/>
                </a:solidFill>
                <a:latin typeface="Arial" pitchFamily="34" charset="0"/>
                <a:ea typeface="Arial" pitchFamily="34" charset="-122"/>
                <a:cs typeface="Arial" pitchFamily="34" charset="-120"/>
              </a:rPr>
              <a:t>07 · KẾT LUẬN &amp; HƯỚNG PHÁT TRIỂN</a:t>
            </a:r>
            <a:endParaRPr lang="en-US" sz="1250" dirty="0"/>
          </a:p>
        </p:txBody>
      </p:sp>
      <p:sp>
        <p:nvSpPr>
          <p:cNvPr id="3" name="Text 1"/>
          <p:cNvSpPr/>
          <p:nvPr/>
        </p:nvSpPr>
        <p:spPr>
          <a:xfrm>
            <a:off x="548640" y="914400"/>
            <a:ext cx="10972800" cy="1005840"/>
          </a:xfrm>
          <a:prstGeom prst="rect">
            <a:avLst/>
          </a:prstGeom>
          <a:noFill/>
          <a:ln/>
        </p:spPr>
        <p:txBody>
          <a:bodyPr wrap="square" lIns="0" tIns="0" rIns="0" bIns="0" rtlCol="0" anchor="ctr"/>
          <a:lstStyle/>
          <a:p>
            <a:pPr marL="0" indent="0">
              <a:lnSpc>
                <a:spcPct val="103000"/>
              </a:lnSpc>
              <a:buNone/>
            </a:pPr>
            <a:r>
              <a:rPr lang="en-US" sz="3000" b="1" dirty="0">
                <a:solidFill>
                  <a:srgbClr val="FFFFFF"/>
                </a:solidFill>
                <a:latin typeface="Cambria" pitchFamily="34" charset="0"/>
                <a:ea typeface="Cambria" pitchFamily="34" charset="-122"/>
                <a:cs typeface="Cambria" pitchFamily="34" charset="-120"/>
              </a:rPr>
              <a:t>Học máy cho phân loại mỏi cơ đáng tin cậy</a:t>
            </a:r>
            <a:endParaRPr lang="en-US" sz="3000" dirty="0"/>
          </a:p>
        </p:txBody>
      </p:sp>
      <p:sp>
        <p:nvSpPr>
          <p:cNvPr id="4" name="Shape 2"/>
          <p:cNvSpPr/>
          <p:nvPr/>
        </p:nvSpPr>
        <p:spPr>
          <a:xfrm>
            <a:off x="548640" y="2286000"/>
            <a:ext cx="3611880" cy="3246120"/>
          </a:xfrm>
          <a:prstGeom prst="roundRect">
            <a:avLst>
              <a:gd name="adj" fmla="val 2535"/>
            </a:avLst>
          </a:prstGeom>
          <a:solidFill>
            <a:srgbClr val="10344E"/>
          </a:solidFill>
          <a:ln w="12700">
            <a:solidFill>
              <a:srgbClr val="1C4A5E"/>
            </a:solidFill>
            <a:prstDash val="solid"/>
          </a:ln>
        </p:spPr>
        <p:txBody>
          <a:bodyPr/>
          <a:p/>
        </p:txBody>
      </p:sp>
      <p:sp>
        <p:nvSpPr>
          <p:cNvPr id="5" name="Shape 3"/>
          <p:cNvSpPr/>
          <p:nvPr/>
        </p:nvSpPr>
        <p:spPr>
          <a:xfrm>
            <a:off x="868680" y="2578608"/>
            <a:ext cx="182880" cy="182880"/>
          </a:xfrm>
          <a:prstGeom prst="ellipse">
            <a:avLst/>
          </a:prstGeom>
          <a:solidFill>
            <a:srgbClr val="00A896"/>
          </a:solidFill>
          <a:ln/>
        </p:spPr>
        <p:txBody>
          <a:bodyPr/>
          <a:p/>
        </p:txBody>
      </p:sp>
      <p:sp>
        <p:nvSpPr>
          <p:cNvPr id="6" name="Text 4"/>
          <p:cNvSpPr/>
          <p:nvPr/>
        </p:nvSpPr>
        <p:spPr>
          <a:xfrm>
            <a:off x="1170432" y="2487168"/>
            <a:ext cx="2697480" cy="36576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Kết luận</a:t>
            </a:r>
            <a:endParaRPr lang="en-US" sz="1700" dirty="0"/>
          </a:p>
        </p:txBody>
      </p:sp>
      <p:sp>
        <p:nvSpPr>
          <p:cNvPr id="7" name="Text 5"/>
          <p:cNvSpPr/>
          <p:nvPr/>
        </p:nvSpPr>
        <p:spPr>
          <a:xfrm>
            <a:off x="896112" y="3063240"/>
            <a:ext cx="3017520" cy="2331720"/>
          </a:xfrm>
          <a:prstGeom prst="rect">
            <a:avLst/>
          </a:prstGeom>
          <a:noFill/>
          <a:ln/>
        </p:spPr>
        <p:txBody>
          <a:bodyPr wrap="square" lIns="0" tIns="0" rIns="0" bIns="0" rtlCol="0" anchor="t"/>
          <a:lstStyle/>
          <a:p>
            <a:pPr marL="177800" indent="-177800">
              <a:lnSpc>
                <a:spcPct val="110000"/>
              </a:lnSpc>
              <a:spcAft>
                <a:spcPts val="900"/>
              </a:spcAft>
              <a:buSzPct val="100000"/>
              <a:buChar char="•"/>
            </a:pPr>
            <a:r>
              <a:rPr lang="en-US" sz="1250" dirty="0">
                <a:solidFill>
                  <a:srgbClr val="C7DDDA"/>
                </a:solidFill>
                <a:latin typeface="Arial" pitchFamily="34" charset="0"/>
                <a:ea typeface="Arial" pitchFamily="34" charset="-122"/>
                <a:cs typeface="Arial" pitchFamily="34" charset="-120"/>
              </a:rPr>
              <a:t>Kết hợp 14 đặc trưng + mRMR + KNN đạt F1 = 95,41% (Table 2).</a:t>
            </a:r>
            <a:endParaRPr lang="en-US" sz="1250" dirty="0"/>
          </a:p>
          <a:p>
            <a:pPr marL="177800" indent="-177800">
              <a:lnSpc>
                <a:spcPct val="110000"/>
              </a:lnSpc>
              <a:spcAft>
                <a:spcPts val="900"/>
              </a:spcAft>
              <a:buSzPct val="100000"/>
              <a:buChar char="•"/>
            </a:pPr>
            <a:r>
              <a:rPr lang="en-US" sz="1250" dirty="0">
                <a:solidFill>
                  <a:srgbClr val="C7DDDA"/>
                </a:solidFill>
                <a:latin typeface="Arial" pitchFamily="34" charset="0"/>
                <a:ea typeface="Arial" pitchFamily="34" charset="-122"/>
                <a:cs typeface="Arial" pitchFamily="34" charset="-120"/>
              </a:rPr>
              <a:t>KNN vượt SVM (RBF/Linear) và LDA trong 4 cấu hình BME 2025.</a:t>
            </a:r>
            <a:endParaRPr lang="en-US" sz="1250" dirty="0"/>
          </a:p>
          <a:p>
            <a:pPr marL="177800" indent="-177800">
              <a:lnSpc>
                <a:spcPct val="110000"/>
              </a:lnSpc>
              <a:spcAft>
                <a:spcPts val="900"/>
              </a:spcAft>
              <a:buSzPct val="100000"/>
              <a:buChar char="•"/>
            </a:pPr>
            <a:r>
              <a:rPr lang="en-US" sz="1250" dirty="0">
                <a:solidFill>
                  <a:srgbClr val="C7DDDA"/>
                </a:solidFill>
                <a:latin typeface="Arial" pitchFamily="34" charset="0"/>
                <a:ea typeface="Arial" pitchFamily="34" charset="-122"/>
                <a:cs typeface="Arial" pitchFamily="34" charset="-120"/>
              </a:rPr>
              <a:t>So với ICACE 2019 (SVM Gaussian, F1=0,807): cải thiện rõ rệt.</a:t>
            </a:r>
            <a:endParaRPr lang="en-US" sz="1250" dirty="0"/>
          </a:p>
        </p:txBody>
      </p:sp>
      <p:sp>
        <p:nvSpPr>
          <p:cNvPr id="8" name="Shape 6"/>
          <p:cNvSpPr/>
          <p:nvPr/>
        </p:nvSpPr>
        <p:spPr>
          <a:xfrm>
            <a:off x="4379976" y="2286000"/>
            <a:ext cx="3611880" cy="3246120"/>
          </a:xfrm>
          <a:prstGeom prst="roundRect">
            <a:avLst>
              <a:gd name="adj" fmla="val 2535"/>
            </a:avLst>
          </a:prstGeom>
          <a:solidFill>
            <a:srgbClr val="10344E"/>
          </a:solidFill>
          <a:ln w="12700">
            <a:solidFill>
              <a:srgbClr val="1C4A5E"/>
            </a:solidFill>
            <a:prstDash val="solid"/>
          </a:ln>
        </p:spPr>
        <p:txBody>
          <a:bodyPr/>
          <a:p/>
        </p:txBody>
      </p:sp>
      <p:sp>
        <p:nvSpPr>
          <p:cNvPr id="9" name="Shape 7"/>
          <p:cNvSpPr/>
          <p:nvPr/>
        </p:nvSpPr>
        <p:spPr>
          <a:xfrm>
            <a:off x="4700016" y="2578608"/>
            <a:ext cx="182880" cy="182880"/>
          </a:xfrm>
          <a:prstGeom prst="ellipse">
            <a:avLst/>
          </a:prstGeom>
          <a:solidFill>
            <a:srgbClr val="C9A227"/>
          </a:solidFill>
          <a:ln/>
        </p:spPr>
        <p:txBody>
          <a:bodyPr/>
          <a:p/>
        </p:txBody>
      </p:sp>
      <p:sp>
        <p:nvSpPr>
          <p:cNvPr id="10" name="Text 8"/>
          <p:cNvSpPr/>
          <p:nvPr/>
        </p:nvSpPr>
        <p:spPr>
          <a:xfrm>
            <a:off x="5001768" y="2487168"/>
            <a:ext cx="2697480" cy="36576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Hạn chế</a:t>
            </a:r>
            <a:endParaRPr lang="en-US" sz="1700" dirty="0"/>
          </a:p>
        </p:txBody>
      </p:sp>
      <p:sp>
        <p:nvSpPr>
          <p:cNvPr id="11" name="Text 9"/>
          <p:cNvSpPr/>
          <p:nvPr/>
        </p:nvSpPr>
        <p:spPr>
          <a:xfrm>
            <a:off x="4727448" y="3063240"/>
            <a:ext cx="3017520" cy="2331720"/>
          </a:xfrm>
          <a:prstGeom prst="rect">
            <a:avLst/>
          </a:prstGeom>
          <a:noFill/>
          <a:ln/>
        </p:spPr>
        <p:txBody>
          <a:bodyPr wrap="square" lIns="0" tIns="0" rIns="0" bIns="0" rtlCol="0" anchor="t"/>
          <a:lstStyle/>
          <a:p>
            <a:pPr marL="177800" indent="-177800">
              <a:lnSpc>
                <a:spcPct val="110000"/>
              </a:lnSpc>
              <a:spcAft>
                <a:spcPts val="900"/>
              </a:spcAft>
              <a:buSzPct val="100000"/>
              <a:buChar char="•"/>
            </a:pPr>
            <a:r>
              <a:rPr lang="en-US" sz="1250" dirty="0">
                <a:solidFill>
                  <a:srgbClr val="C7DDDA"/>
                </a:solidFill>
                <a:latin typeface="Arial" pitchFamily="34" charset="0"/>
                <a:ea typeface="Arial" pitchFamily="34" charset="-122"/>
                <a:cs typeface="Arial" pitchFamily="34" charset="-120"/>
              </a:rPr>
              <a:t>Cỡ mẫu nhỏ (10 người) hạn chế tính tổng quát hóa.</a:t>
            </a:r>
            <a:endParaRPr lang="en-US" sz="1250" dirty="0"/>
          </a:p>
          <a:p>
            <a:pPr marL="177800" indent="-177800">
              <a:lnSpc>
                <a:spcPct val="110000"/>
              </a:lnSpc>
              <a:spcAft>
                <a:spcPts val="900"/>
              </a:spcAft>
              <a:buSzPct val="100000"/>
              <a:buChar char="•"/>
            </a:pPr>
            <a:r>
              <a:rPr lang="en-US" sz="1250" dirty="0">
                <a:solidFill>
                  <a:srgbClr val="C7DDDA"/>
                </a:solidFill>
                <a:latin typeface="Arial" pitchFamily="34" charset="0"/>
                <a:ea typeface="Arial" pitchFamily="34" charset="-122"/>
                <a:cs typeface="Arial" pitchFamily="34" charset="-120"/>
              </a:rPr>
              <a:t>mRMR chỉ mang tính chỉ báo, chưa tối ưu trong mô hình.</a:t>
            </a:r>
            <a:endParaRPr lang="en-US" sz="1250" dirty="0"/>
          </a:p>
          <a:p>
            <a:pPr marL="177800" indent="-177800">
              <a:lnSpc>
                <a:spcPct val="110000"/>
              </a:lnSpc>
              <a:spcAft>
                <a:spcPts val="900"/>
              </a:spcAft>
              <a:buSzPct val="100000"/>
              <a:buChar char="•"/>
            </a:pPr>
            <a:r>
              <a:rPr lang="en-US" sz="1250" dirty="0">
                <a:solidFill>
                  <a:srgbClr val="C7DDDA"/>
                </a:solidFill>
                <a:latin typeface="Arial" pitchFamily="34" charset="0"/>
                <a:ea typeface="Arial" pitchFamily="34" charset="-122"/>
                <a:cs typeface="Arial" pitchFamily="34" charset="-120"/>
              </a:rPr>
              <a:t>Chưa giải quyết bài toán xử lý thời gian thực.</a:t>
            </a:r>
            <a:endParaRPr lang="en-US" sz="1250" dirty="0"/>
          </a:p>
        </p:txBody>
      </p:sp>
      <p:sp>
        <p:nvSpPr>
          <p:cNvPr id="12" name="Shape 10"/>
          <p:cNvSpPr/>
          <p:nvPr/>
        </p:nvSpPr>
        <p:spPr>
          <a:xfrm>
            <a:off x="8211312" y="2286000"/>
            <a:ext cx="3611880" cy="3246120"/>
          </a:xfrm>
          <a:prstGeom prst="roundRect">
            <a:avLst>
              <a:gd name="adj" fmla="val 2535"/>
            </a:avLst>
          </a:prstGeom>
          <a:solidFill>
            <a:srgbClr val="10344E"/>
          </a:solidFill>
          <a:ln w="12700">
            <a:solidFill>
              <a:srgbClr val="1C4A5E"/>
            </a:solidFill>
            <a:prstDash val="solid"/>
          </a:ln>
        </p:spPr>
        <p:txBody>
          <a:bodyPr/>
          <a:p/>
        </p:txBody>
      </p:sp>
      <p:sp>
        <p:nvSpPr>
          <p:cNvPr id="13" name="Shape 11"/>
          <p:cNvSpPr/>
          <p:nvPr/>
        </p:nvSpPr>
        <p:spPr>
          <a:xfrm>
            <a:off x="8531352" y="2578608"/>
            <a:ext cx="182880" cy="182880"/>
          </a:xfrm>
          <a:prstGeom prst="ellipse">
            <a:avLst/>
          </a:prstGeom>
          <a:solidFill>
            <a:srgbClr val="6FD3C9"/>
          </a:solidFill>
          <a:ln/>
        </p:spPr>
        <p:txBody>
          <a:bodyPr/>
          <a:p/>
        </p:txBody>
      </p:sp>
      <p:sp>
        <p:nvSpPr>
          <p:cNvPr id="14" name="Text 12"/>
          <p:cNvSpPr/>
          <p:nvPr/>
        </p:nvSpPr>
        <p:spPr>
          <a:xfrm>
            <a:off x="8833104" y="2487168"/>
            <a:ext cx="2697480" cy="36576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Hướng phát triển</a:t>
            </a:r>
            <a:endParaRPr lang="en-US" sz="1700" dirty="0"/>
          </a:p>
        </p:txBody>
      </p:sp>
      <p:sp>
        <p:nvSpPr>
          <p:cNvPr id="15" name="Text 13"/>
          <p:cNvSpPr/>
          <p:nvPr/>
        </p:nvSpPr>
        <p:spPr>
          <a:xfrm>
            <a:off x="8558784" y="3063240"/>
            <a:ext cx="3017520" cy="2331720"/>
          </a:xfrm>
          <a:prstGeom prst="rect">
            <a:avLst/>
          </a:prstGeom>
          <a:noFill/>
          <a:ln/>
        </p:spPr>
        <p:txBody>
          <a:bodyPr wrap="square" lIns="0" tIns="0" rIns="0" bIns="0" rtlCol="0" anchor="t"/>
          <a:lstStyle/>
          <a:p>
            <a:pPr marL="177800" indent="-177800">
              <a:lnSpc>
                <a:spcPct val="110000"/>
              </a:lnSpc>
              <a:spcAft>
                <a:spcPts val="900"/>
              </a:spcAft>
              <a:buSzPct val="100000"/>
              <a:buChar char="•"/>
            </a:pPr>
            <a:r>
              <a:rPr lang="en-US" sz="1250" dirty="0">
                <a:solidFill>
                  <a:srgbClr val="C7DDDA"/>
                </a:solidFill>
                <a:latin typeface="Arial" pitchFamily="34" charset="0"/>
                <a:ea typeface="Arial" pitchFamily="34" charset="-122"/>
                <a:cs typeface="Arial" pitchFamily="34" charset="-120"/>
              </a:rPr>
              <a:t>Triển khai phân loại mỏi cơ real-time.</a:t>
            </a:r>
            <a:endParaRPr lang="en-US" sz="1250" dirty="0"/>
          </a:p>
          <a:p>
            <a:pPr marL="177800" indent="-177800">
              <a:lnSpc>
                <a:spcPct val="110000"/>
              </a:lnSpc>
              <a:spcAft>
                <a:spcPts val="900"/>
              </a:spcAft>
              <a:buSzPct val="100000"/>
              <a:buChar char="•"/>
            </a:pPr>
            <a:r>
              <a:rPr lang="en-US" sz="1250" dirty="0">
                <a:solidFill>
                  <a:srgbClr val="C7DDDA"/>
                </a:solidFill>
                <a:latin typeface="Arial" pitchFamily="34" charset="0"/>
                <a:ea typeface="Arial" pitchFamily="34" charset="-122"/>
                <a:cs typeface="Arial" pitchFamily="34" charset="-120"/>
              </a:rPr>
              <a:t>Tích hợp lâm sàng: phục hồi chức năng, thể thao.</a:t>
            </a:r>
            <a:endParaRPr lang="en-US" sz="1250" dirty="0"/>
          </a:p>
          <a:p>
            <a:pPr marL="177800" indent="-177800">
              <a:lnSpc>
                <a:spcPct val="110000"/>
              </a:lnSpc>
              <a:spcAft>
                <a:spcPts val="900"/>
              </a:spcAft>
              <a:buSzPct val="100000"/>
              <a:buChar char="•"/>
            </a:pPr>
            <a:r>
              <a:rPr lang="en-US" sz="1250" dirty="0">
                <a:solidFill>
                  <a:srgbClr val="C7DDDA"/>
                </a:solidFill>
                <a:latin typeface="Arial" pitchFamily="34" charset="0"/>
                <a:ea typeface="Arial" pitchFamily="34" charset="-122"/>
                <a:cs typeface="Arial" pitchFamily="34" charset="-120"/>
              </a:rPr>
              <a:t>Mở rộng cohort &amp; đa cơ để tăng độ bền mô hình.</a:t>
            </a:r>
            <a:endParaRPr lang="en-US" sz="1250" dirty="0"/>
          </a:p>
        </p:txBody>
      </p:sp>
      <p:sp>
        <p:nvSpPr>
          <p:cNvPr id="16" name="Text 14"/>
          <p:cNvSpPr/>
          <p:nvPr/>
        </p:nvSpPr>
        <p:spPr>
          <a:xfrm>
            <a:off x="548640" y="5943600"/>
            <a:ext cx="10972800" cy="320040"/>
          </a:xfrm>
          <a:prstGeom prst="rect">
            <a:avLst/>
          </a:prstGeom>
          <a:noFill/>
          <a:ln/>
        </p:spPr>
        <p:txBody>
          <a:bodyPr wrap="square" lIns="0" tIns="0" rIns="0" bIns="0" rtlCol="0" anchor="ctr"/>
          <a:lstStyle/>
          <a:p>
            <a:pPr marL="0" indent="0">
              <a:buNone/>
            </a:pPr>
            <a:r>
              <a:rPr lang="en-US" sz="1100" i="1" dirty="0">
                <a:solidFill>
                  <a:srgbClr val="8FB6B3"/>
                </a:solidFill>
                <a:latin typeface="Arial" pitchFamily="34" charset="0"/>
                <a:ea typeface="Arial" pitchFamily="34" charset="-122"/>
                <a:cs typeface="Arial" pitchFamily="34" charset="-120"/>
              </a:rPr>
              <a:t>Nghi Tran Huu, Gia Thien Luu, Philippe Ravier, Olivier Buttelli — Springer, 2025</a:t>
            </a:r>
            <a:endParaRPr lang="en-US" sz="11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8229600" cy="320040"/>
          </a:xfrm>
          <a:prstGeom prst="rect">
            <a:avLst/>
          </a:prstGeom>
          <a:noFill/>
        </p:spPr>
        <p:txBody>
          <a:bodyPr wrap="square" lIns="0" rIns="0" tIns="0" bIns="0">
            <a:spAutoFit/>
          </a:bodyPr>
          <a:lstStyle/>
          <a:p>
            <a:pPr algn="l"/>
            <a:r>
              <a:rPr sz="1250" b="1">
                <a:solidFill>
                  <a:srgbClr val="028090"/>
                </a:solidFill>
                <a:latin typeface="Arial"/>
              </a:rPr>
              <a:t>06 · DEMO ỨNG DỤNG · USECASE 1</a:t>
            </a:r>
          </a:p>
        </p:txBody>
      </p:sp>
      <p:sp>
        <p:nvSpPr>
          <p:cNvPr id="3" name="TextBox 2"/>
          <p:cNvSpPr txBox="1"/>
          <p:nvPr/>
        </p:nvSpPr>
        <p:spPr>
          <a:xfrm>
            <a:off x="548640" y="822960"/>
            <a:ext cx="11155680" cy="1097280"/>
          </a:xfrm>
          <a:prstGeom prst="rect">
            <a:avLst/>
          </a:prstGeom>
          <a:noFill/>
        </p:spPr>
        <p:txBody>
          <a:bodyPr wrap="square" lIns="0" rIns="0" tIns="0" bIns="0">
            <a:spAutoFit/>
          </a:bodyPr>
          <a:lstStyle/>
          <a:p>
            <a:pPr algn="l"/>
            <a:r>
              <a:rPr sz="3200" b="1">
                <a:solidFill>
                  <a:srgbClr val="0B2A4A"/>
                </a:solidFill>
                <a:latin typeface="Cambria"/>
              </a:rPr>
              <a:t>Giám sát mỏi cơ thời gian thực</a:t>
            </a:r>
          </a:p>
          <a:p>
            <a:pPr algn="l"/>
            <a:r>
              <a:rPr sz="3200" b="1">
                <a:solidFill>
                  <a:srgbClr val="0B2A4A"/>
                </a:solidFill>
                <a:latin typeface="Cambria"/>
              </a:rPr>
              <a:t>trong buổi tập phục hồi chức năng</a:t>
            </a:r>
          </a:p>
        </p:txBody>
      </p:sp>
      <p:sp>
        <p:nvSpPr>
          <p:cNvPr id="4" name="TextBox 3"/>
          <p:cNvSpPr txBox="1"/>
          <p:nvPr/>
        </p:nvSpPr>
        <p:spPr>
          <a:xfrm>
            <a:off x="502920" y="6473952"/>
            <a:ext cx="5486400" cy="274320"/>
          </a:xfrm>
          <a:prstGeom prst="rect">
            <a:avLst/>
          </a:prstGeom>
          <a:noFill/>
        </p:spPr>
        <p:txBody>
          <a:bodyPr wrap="square" lIns="0" rIns="0" tIns="0" bIns="0">
            <a:spAutoFit/>
          </a:bodyPr>
          <a:lstStyle/>
          <a:p>
            <a:pPr algn="l"/>
            <a:r>
              <a:rPr sz="900" b="0">
                <a:solidFill>
                  <a:srgbClr val="5B7280"/>
                </a:solidFill>
                <a:latin typeface="Arial"/>
              </a:rPr>
              <a:t>sEMG Fatigue Detection · Springer 2025</a:t>
            </a:r>
          </a:p>
        </p:txBody>
      </p:sp>
      <p:sp>
        <p:nvSpPr>
          <p:cNvPr id="5" name="TextBox 4"/>
          <p:cNvSpPr txBox="1"/>
          <p:nvPr/>
        </p:nvSpPr>
        <p:spPr>
          <a:xfrm>
            <a:off x="11277295" y="6473952"/>
            <a:ext cx="411480" cy="274320"/>
          </a:xfrm>
          <a:prstGeom prst="rect">
            <a:avLst/>
          </a:prstGeom>
          <a:noFill/>
        </p:spPr>
        <p:txBody>
          <a:bodyPr wrap="square" lIns="0" rIns="0" tIns="0" bIns="0">
            <a:spAutoFit/>
          </a:bodyPr>
          <a:lstStyle/>
          <a:p>
            <a:pPr algn="r"/>
            <a:r>
              <a:rPr sz="900" b="0">
                <a:solidFill>
                  <a:srgbClr val="5B7280"/>
                </a:solidFill>
                <a:latin typeface="Arial"/>
              </a:rPr>
              <a:t>20</a:t>
            </a:r>
          </a:p>
        </p:txBody>
      </p:sp>
      <p:sp>
        <p:nvSpPr>
          <p:cNvPr id="6" name="TextBox 5"/>
          <p:cNvSpPr txBox="1"/>
          <p:nvPr/>
        </p:nvSpPr>
        <p:spPr>
          <a:xfrm>
            <a:off x="548640" y="1627632"/>
            <a:ext cx="11094720" cy="411480"/>
          </a:xfrm>
          <a:prstGeom prst="rect">
            <a:avLst/>
          </a:prstGeom>
          <a:noFill/>
        </p:spPr>
        <p:txBody>
          <a:bodyPr wrap="square" lIns="0" rIns="0" tIns="0" bIns="0">
            <a:spAutoFit/>
          </a:bodyPr>
          <a:lstStyle/>
          <a:p>
            <a:pPr algn="l">
              <a:lnSpc>
                <a:spcPct val="115000"/>
              </a:lnSpc>
            </a:pPr>
            <a:r>
              <a:rPr sz="1250" b="0">
                <a:solidFill>
                  <a:srgbClr val="5B7280"/>
                </a:solidFill>
                <a:latin typeface="Arial"/>
              </a:rPr>
              <a:t>Kỹ thuật viên gắn cảm biến sEMG 64 điện cực lên cơ đang tập (VD: cơ nhị đầu tay); hệ thống phân loại Mỏi / Không mỏi theo thời gian thực trong suốt buổi tập.</a:t>
            </a:r>
          </a:p>
        </p:txBody>
      </p:sp>
      <p:sp>
        <p:nvSpPr>
          <p:cNvPr id="7" name="Rounded Rectangle 6"/>
          <p:cNvSpPr/>
          <p:nvPr/>
        </p:nvSpPr>
        <p:spPr>
          <a:xfrm>
            <a:off x="548640" y="2286000"/>
            <a:ext cx="3576320" cy="2971800"/>
          </a:xfrm>
          <a:prstGeom prst="roundRect">
            <a:avLst>
              <a:gd name="adj" fmla="val 3000"/>
            </a:avLst>
          </a:prstGeom>
          <a:solidFill>
            <a:srgbClr val="FFFFFF"/>
          </a:solidFill>
          <a:ln w="12700">
            <a:solidFill>
              <a:srgbClr val="D5E8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286000"/>
            <a:ext cx="3576320" cy="3200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651760"/>
            <a:ext cx="3027680" cy="228600"/>
          </a:xfrm>
          <a:prstGeom prst="rect">
            <a:avLst/>
          </a:prstGeom>
          <a:noFill/>
        </p:spPr>
        <p:txBody>
          <a:bodyPr wrap="square" lIns="0" rIns="0" tIns="0" bIns="0">
            <a:spAutoFit/>
          </a:bodyPr>
          <a:lstStyle/>
          <a:p>
            <a:pPr algn="l"/>
            <a:r>
              <a:rPr sz="1050" b="1">
                <a:solidFill>
                  <a:srgbClr val="028090"/>
                </a:solidFill>
                <a:latin typeface="Arial"/>
              </a:rPr>
              <a:t>MỤC TIÊU</a:t>
            </a:r>
          </a:p>
        </p:txBody>
      </p:sp>
      <p:sp>
        <p:nvSpPr>
          <p:cNvPr id="10" name="TextBox 9"/>
          <p:cNvSpPr txBox="1"/>
          <p:nvPr/>
        </p:nvSpPr>
        <p:spPr>
          <a:xfrm>
            <a:off x="822960" y="2971800"/>
            <a:ext cx="3027680" cy="548640"/>
          </a:xfrm>
          <a:prstGeom prst="rect">
            <a:avLst/>
          </a:prstGeom>
          <a:noFill/>
        </p:spPr>
        <p:txBody>
          <a:bodyPr wrap="square" lIns="0" rIns="0" tIns="0" bIns="0">
            <a:spAutoFit/>
          </a:bodyPr>
          <a:lstStyle/>
          <a:p>
            <a:pPr algn="l">
              <a:lnSpc>
                <a:spcPct val="110000"/>
              </a:lnSpc>
            </a:pPr>
            <a:r>
              <a:rPr sz="1500" b="1">
                <a:solidFill>
                  <a:srgbClr val="12303F"/>
                </a:solidFill>
                <a:latin typeface="Arial"/>
              </a:rPr>
              <a:t>Phát hiện đúng thời điểm mỏi</a:t>
            </a:r>
          </a:p>
        </p:txBody>
      </p:sp>
      <p:sp>
        <p:nvSpPr>
          <p:cNvPr id="11" name="TextBox 10"/>
          <p:cNvSpPr txBox="1"/>
          <p:nvPr/>
        </p:nvSpPr>
        <p:spPr>
          <a:xfrm>
            <a:off x="822960" y="3566160"/>
            <a:ext cx="3027680" cy="1417320"/>
          </a:xfrm>
          <a:prstGeom prst="rect">
            <a:avLst/>
          </a:prstGeom>
          <a:noFill/>
        </p:spPr>
        <p:txBody>
          <a:bodyPr wrap="square" lIns="0" rIns="0" tIns="0" bIns="0">
            <a:spAutoFit/>
          </a:bodyPr>
          <a:lstStyle/>
          <a:p>
            <a:pPr algn="l">
              <a:lnSpc>
                <a:spcPct val="125000"/>
              </a:lnSpc>
            </a:pPr>
            <a:r>
              <a:rPr sz="1150" b="0">
                <a:solidFill>
                  <a:srgbClr val="5B7280"/>
                </a:solidFill>
                <a:latin typeface="Arial"/>
              </a:rPr>
              <a:t>Nhận biết đúng lúc cơ bắt đầu mỏi quá mức, tránh tập bù trừ sai tư thế hoặc chấn thương do tập quá sức.</a:t>
            </a:r>
          </a:p>
        </p:txBody>
      </p:sp>
      <p:sp>
        <p:nvSpPr>
          <p:cNvPr id="12" name="Rounded Rectangle 11"/>
          <p:cNvSpPr/>
          <p:nvPr/>
        </p:nvSpPr>
        <p:spPr>
          <a:xfrm>
            <a:off x="4307840" y="2286000"/>
            <a:ext cx="3576320" cy="2971800"/>
          </a:xfrm>
          <a:prstGeom prst="roundRect">
            <a:avLst>
              <a:gd name="adj" fmla="val 3000"/>
            </a:avLst>
          </a:prstGeom>
          <a:solidFill>
            <a:srgbClr val="FFFFFF"/>
          </a:solidFill>
          <a:ln w="12700">
            <a:solidFill>
              <a:srgbClr val="D5E8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7840" y="2286000"/>
            <a:ext cx="3576320" cy="32004"/>
          </a:xfrm>
          <a:prstGeom prst="rect">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82160" y="2651760"/>
            <a:ext cx="3027680" cy="228600"/>
          </a:xfrm>
          <a:prstGeom prst="rect">
            <a:avLst/>
          </a:prstGeom>
          <a:noFill/>
        </p:spPr>
        <p:txBody>
          <a:bodyPr wrap="square" lIns="0" rIns="0" tIns="0" bIns="0">
            <a:spAutoFit/>
          </a:bodyPr>
          <a:lstStyle/>
          <a:p>
            <a:pPr algn="l"/>
            <a:r>
              <a:rPr sz="1050" b="1">
                <a:solidFill>
                  <a:srgbClr val="00A896"/>
                </a:solidFill>
                <a:latin typeface="Arial"/>
              </a:rPr>
              <a:t>CHỨC NĂNG</a:t>
            </a:r>
          </a:p>
        </p:txBody>
      </p:sp>
      <p:sp>
        <p:nvSpPr>
          <p:cNvPr id="15" name="TextBox 14"/>
          <p:cNvSpPr txBox="1"/>
          <p:nvPr/>
        </p:nvSpPr>
        <p:spPr>
          <a:xfrm>
            <a:off x="4582160" y="2971800"/>
            <a:ext cx="3027680" cy="548640"/>
          </a:xfrm>
          <a:prstGeom prst="rect">
            <a:avLst/>
          </a:prstGeom>
          <a:noFill/>
        </p:spPr>
        <p:txBody>
          <a:bodyPr wrap="square" lIns="0" rIns="0" tIns="0" bIns="0">
            <a:spAutoFit/>
          </a:bodyPr>
          <a:lstStyle/>
          <a:p>
            <a:pPr algn="l">
              <a:lnSpc>
                <a:spcPct val="110000"/>
              </a:lnSpc>
            </a:pPr>
            <a:r>
              <a:rPr sz="1500" b="1">
                <a:solidFill>
                  <a:srgbClr val="12303F"/>
                </a:solidFill>
                <a:latin typeface="Arial"/>
              </a:rPr>
              <a:t>Giám sát 64 điện cực real-time</a:t>
            </a:r>
          </a:p>
        </p:txBody>
      </p:sp>
      <p:sp>
        <p:nvSpPr>
          <p:cNvPr id="16" name="TextBox 15"/>
          <p:cNvSpPr txBox="1"/>
          <p:nvPr/>
        </p:nvSpPr>
        <p:spPr>
          <a:xfrm>
            <a:off x="4582160" y="3566160"/>
            <a:ext cx="3027680" cy="1417320"/>
          </a:xfrm>
          <a:prstGeom prst="rect">
            <a:avLst/>
          </a:prstGeom>
          <a:noFill/>
        </p:spPr>
        <p:txBody>
          <a:bodyPr wrap="square" lIns="0" rIns="0" tIns="0" bIns="0">
            <a:spAutoFit/>
          </a:bodyPr>
          <a:lstStyle/>
          <a:p>
            <a:pPr algn="l">
              <a:lnSpc>
                <a:spcPct val="125000"/>
              </a:lnSpc>
            </a:pPr>
            <a:r>
              <a:rPr sz="1150" b="0">
                <a:solidFill>
                  <a:srgbClr val="5B7280"/>
                </a:solidFill>
                <a:latin typeface="Arial"/>
              </a:rPr>
              <a:t>Theo dõi tín hiệu sEMG 64 điện cực theo thời gian thực, phát hiện mỏi cơ theo từng vùng, cảnh báo tự động.</a:t>
            </a:r>
          </a:p>
        </p:txBody>
      </p:sp>
      <p:sp>
        <p:nvSpPr>
          <p:cNvPr id="17" name="Rounded Rectangle 16"/>
          <p:cNvSpPr/>
          <p:nvPr/>
        </p:nvSpPr>
        <p:spPr>
          <a:xfrm>
            <a:off x="8067040" y="2286000"/>
            <a:ext cx="3576320" cy="2971800"/>
          </a:xfrm>
          <a:prstGeom prst="roundRect">
            <a:avLst>
              <a:gd name="adj" fmla="val 3000"/>
            </a:avLst>
          </a:prstGeom>
          <a:solidFill>
            <a:srgbClr val="FFFFFF"/>
          </a:solidFill>
          <a:ln w="12700">
            <a:solidFill>
              <a:srgbClr val="D5E8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7040" y="2286000"/>
            <a:ext cx="3576320" cy="320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41360" y="2651760"/>
            <a:ext cx="3027680" cy="228600"/>
          </a:xfrm>
          <a:prstGeom prst="rect">
            <a:avLst/>
          </a:prstGeom>
          <a:noFill/>
        </p:spPr>
        <p:txBody>
          <a:bodyPr wrap="square" lIns="0" rIns="0" tIns="0" bIns="0">
            <a:spAutoFit/>
          </a:bodyPr>
          <a:lstStyle/>
          <a:p>
            <a:pPr algn="l"/>
            <a:r>
              <a:rPr sz="1050" b="1">
                <a:solidFill>
                  <a:srgbClr val="C9A227"/>
                </a:solidFill>
                <a:latin typeface="Arial"/>
              </a:rPr>
              <a:t>OUTPUT</a:t>
            </a:r>
          </a:p>
        </p:txBody>
      </p:sp>
      <p:sp>
        <p:nvSpPr>
          <p:cNvPr id="20" name="TextBox 19"/>
          <p:cNvSpPr txBox="1"/>
          <p:nvPr/>
        </p:nvSpPr>
        <p:spPr>
          <a:xfrm>
            <a:off x="8341360" y="2971800"/>
            <a:ext cx="3027680" cy="548640"/>
          </a:xfrm>
          <a:prstGeom prst="rect">
            <a:avLst/>
          </a:prstGeom>
          <a:noFill/>
        </p:spPr>
        <p:txBody>
          <a:bodyPr wrap="square" lIns="0" rIns="0" tIns="0" bIns="0">
            <a:spAutoFit/>
          </a:bodyPr>
          <a:lstStyle/>
          <a:p>
            <a:pPr algn="l">
              <a:lnSpc>
                <a:spcPct val="110000"/>
              </a:lnSpc>
            </a:pPr>
            <a:r>
              <a:rPr sz="1500" b="1">
                <a:solidFill>
                  <a:srgbClr val="12303F"/>
                </a:solidFill>
                <a:latin typeface="Arial"/>
              </a:rPr>
              <a:t>Trạng thái + sơ đồ + khuyến nghị</a:t>
            </a:r>
          </a:p>
        </p:txBody>
      </p:sp>
      <p:sp>
        <p:nvSpPr>
          <p:cNvPr id="21" name="TextBox 20"/>
          <p:cNvSpPr txBox="1"/>
          <p:nvPr/>
        </p:nvSpPr>
        <p:spPr>
          <a:xfrm>
            <a:off x="8341360" y="3566160"/>
            <a:ext cx="3027680" cy="1417320"/>
          </a:xfrm>
          <a:prstGeom prst="rect">
            <a:avLst/>
          </a:prstGeom>
          <a:noFill/>
        </p:spPr>
        <p:txBody>
          <a:bodyPr wrap="square" lIns="0" rIns="0" tIns="0" bIns="0">
            <a:spAutoFit/>
          </a:bodyPr>
          <a:lstStyle/>
          <a:p>
            <a:pPr algn="l">
              <a:lnSpc>
                <a:spcPct val="125000"/>
              </a:lnSpc>
            </a:pPr>
            <a:r>
              <a:rPr sz="1150" b="0">
                <a:solidFill>
                  <a:srgbClr val="5B7280"/>
                </a:solidFill>
                <a:latin typeface="Arial"/>
              </a:rPr>
              <a:t>Trạng thái Mỏi/Không mỏi real-time, sơ đồ 64 điện cực đổi màu theo vùng, và khuyến nghị hành động khi phát hiện mỏi.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8229600" cy="320040"/>
          </a:xfrm>
          <a:prstGeom prst="rect">
            <a:avLst/>
          </a:prstGeom>
          <a:noFill/>
        </p:spPr>
        <p:txBody>
          <a:bodyPr wrap="square" lIns="0" rIns="0" tIns="0" bIns="0">
            <a:spAutoFit/>
          </a:bodyPr>
          <a:lstStyle/>
          <a:p>
            <a:pPr algn="l"/>
            <a:r>
              <a:rPr sz="1250" b="1">
                <a:solidFill>
                  <a:srgbClr val="028090"/>
                </a:solidFill>
                <a:latin typeface="Arial"/>
              </a:rPr>
              <a:t>06 · DEMO ỨNG DỤNG · USECASE 1</a:t>
            </a:r>
          </a:p>
        </p:txBody>
      </p:sp>
      <p:sp>
        <p:nvSpPr>
          <p:cNvPr id="3" name="TextBox 2"/>
          <p:cNvSpPr txBox="1"/>
          <p:nvPr/>
        </p:nvSpPr>
        <p:spPr>
          <a:xfrm>
            <a:off x="548640" y="822960"/>
            <a:ext cx="11155680" cy="731520"/>
          </a:xfrm>
          <a:prstGeom prst="rect">
            <a:avLst/>
          </a:prstGeom>
          <a:noFill/>
        </p:spPr>
        <p:txBody>
          <a:bodyPr wrap="square" lIns="0" rIns="0" tIns="0" bIns="0">
            <a:spAutoFit/>
          </a:bodyPr>
          <a:lstStyle/>
          <a:p>
            <a:pPr algn="l"/>
            <a:r>
              <a:rPr sz="3200" b="1">
                <a:solidFill>
                  <a:srgbClr val="0B2A4A"/>
                </a:solidFill>
                <a:latin typeface="Cambria"/>
              </a:rPr>
              <a:t>Đọc hiểu các chỉ số trên màn hình demo</a:t>
            </a:r>
          </a:p>
        </p:txBody>
      </p:sp>
      <p:sp>
        <p:nvSpPr>
          <p:cNvPr id="4" name="TextBox 3"/>
          <p:cNvSpPr txBox="1"/>
          <p:nvPr/>
        </p:nvSpPr>
        <p:spPr>
          <a:xfrm>
            <a:off x="502920" y="6473952"/>
            <a:ext cx="5486400" cy="274320"/>
          </a:xfrm>
          <a:prstGeom prst="rect">
            <a:avLst/>
          </a:prstGeom>
          <a:noFill/>
        </p:spPr>
        <p:txBody>
          <a:bodyPr wrap="square" lIns="0" rIns="0" tIns="0" bIns="0">
            <a:spAutoFit/>
          </a:bodyPr>
          <a:lstStyle/>
          <a:p>
            <a:pPr algn="l"/>
            <a:r>
              <a:rPr sz="900" b="0">
                <a:solidFill>
                  <a:srgbClr val="5B7280"/>
                </a:solidFill>
                <a:latin typeface="Arial"/>
              </a:rPr>
              <a:t>sEMG Fatigue Detection · Springer 2025</a:t>
            </a:r>
          </a:p>
        </p:txBody>
      </p:sp>
      <p:sp>
        <p:nvSpPr>
          <p:cNvPr id="5" name="TextBox 4"/>
          <p:cNvSpPr txBox="1"/>
          <p:nvPr/>
        </p:nvSpPr>
        <p:spPr>
          <a:xfrm>
            <a:off x="11277295" y="6473952"/>
            <a:ext cx="411480" cy="274320"/>
          </a:xfrm>
          <a:prstGeom prst="rect">
            <a:avLst/>
          </a:prstGeom>
          <a:noFill/>
        </p:spPr>
        <p:txBody>
          <a:bodyPr wrap="square" lIns="0" rIns="0" tIns="0" bIns="0">
            <a:spAutoFit/>
          </a:bodyPr>
          <a:lstStyle/>
          <a:p>
            <a:pPr algn="r"/>
            <a:r>
              <a:rPr sz="900" b="0">
                <a:solidFill>
                  <a:srgbClr val="5B7280"/>
                </a:solidFill>
                <a:latin typeface="Arial"/>
              </a:rPr>
              <a:t>21</a:t>
            </a:r>
          </a:p>
        </p:txBody>
      </p:sp>
      <p:sp>
        <p:nvSpPr>
          <p:cNvPr id="6" name="TextBox 5"/>
          <p:cNvSpPr txBox="1"/>
          <p:nvPr/>
        </p:nvSpPr>
        <p:spPr>
          <a:xfrm>
            <a:off x="548640" y="1627632"/>
            <a:ext cx="11094720" cy="411480"/>
          </a:xfrm>
          <a:prstGeom prst="rect">
            <a:avLst/>
          </a:prstGeom>
          <a:noFill/>
        </p:spPr>
        <p:txBody>
          <a:bodyPr wrap="square" lIns="0" rIns="0" tIns="0" bIns="0">
            <a:spAutoFit/>
          </a:bodyPr>
          <a:lstStyle/>
          <a:p>
            <a:pPr algn="l">
              <a:lnSpc>
                <a:spcPct val="115000"/>
              </a:lnSpc>
            </a:pPr>
            <a:r>
              <a:rPr sz="1250" b="0">
                <a:solidFill>
                  <a:srgbClr val="5B7280"/>
                </a:solidFill>
                <a:latin typeface="Arial"/>
              </a:rPr>
              <a:t>Mỗi thuật ngữ dưới đây gắn với đúng con số / vùng hiển thị khi buổi tập chạy, khớp với biểu đồ “Xu hướng RMS &amp; MDF” trong demo.</a:t>
            </a:r>
          </a:p>
        </p:txBody>
      </p:sp>
      <p:sp>
        <p:nvSpPr>
          <p:cNvPr id="7" name="Rounded Rectangle 6"/>
          <p:cNvSpPr/>
          <p:nvPr/>
        </p:nvSpPr>
        <p:spPr>
          <a:xfrm>
            <a:off x="548640" y="2286000"/>
            <a:ext cx="3576320" cy="2057400"/>
          </a:xfrm>
          <a:prstGeom prst="roundRect">
            <a:avLst>
              <a:gd name="adj" fmla="val 3000"/>
            </a:avLst>
          </a:prstGeom>
          <a:solidFill>
            <a:srgbClr val="FFFFFF"/>
          </a:solidFill>
          <a:ln w="12700">
            <a:solidFill>
              <a:srgbClr val="D5E8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286000"/>
            <a:ext cx="3576320" cy="3200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651760"/>
            <a:ext cx="3027680" cy="320040"/>
          </a:xfrm>
          <a:prstGeom prst="rect">
            <a:avLst/>
          </a:prstGeom>
          <a:noFill/>
        </p:spPr>
        <p:txBody>
          <a:bodyPr wrap="square" lIns="0" rIns="0" tIns="0" bIns="0">
            <a:spAutoFit/>
          </a:bodyPr>
          <a:lstStyle/>
          <a:p>
            <a:pPr algn="l">
              <a:lnSpc>
                <a:spcPct val="105000"/>
              </a:lnSpc>
            </a:pPr>
            <a:r>
              <a:rPr sz="1350" b="1">
                <a:solidFill>
                  <a:srgbClr val="12303F"/>
                </a:solidFill>
                <a:latin typeface="Arial"/>
              </a:rPr>
              <a:t>RMS</a:t>
            </a:r>
          </a:p>
        </p:txBody>
      </p:sp>
      <p:sp>
        <p:nvSpPr>
          <p:cNvPr id="10" name="TextBox 9"/>
          <p:cNvSpPr txBox="1"/>
          <p:nvPr/>
        </p:nvSpPr>
        <p:spPr>
          <a:xfrm>
            <a:off x="822960" y="3063240"/>
            <a:ext cx="3027680" cy="228600"/>
          </a:xfrm>
          <a:prstGeom prst="rect">
            <a:avLst/>
          </a:prstGeom>
          <a:noFill/>
        </p:spPr>
        <p:txBody>
          <a:bodyPr wrap="square" lIns="0" rIns="0" tIns="0" bIns="0">
            <a:spAutoFit/>
          </a:bodyPr>
          <a:lstStyle/>
          <a:p>
            <a:pPr algn="l"/>
            <a:r>
              <a:rPr sz="950" b="1">
                <a:solidFill>
                  <a:srgbClr val="028090"/>
                </a:solidFill>
                <a:latin typeface="Arial"/>
              </a:rPr>
              <a:t>Root Mean Square · miền thời gian</a:t>
            </a:r>
          </a:p>
        </p:txBody>
      </p:sp>
      <p:sp>
        <p:nvSpPr>
          <p:cNvPr id="11" name="TextBox 10"/>
          <p:cNvSpPr txBox="1"/>
          <p:nvPr/>
        </p:nvSpPr>
        <p:spPr>
          <a:xfrm>
            <a:off x="822960" y="3383280"/>
            <a:ext cx="3027680" cy="685800"/>
          </a:xfrm>
          <a:prstGeom prst="rect">
            <a:avLst/>
          </a:prstGeom>
          <a:noFill/>
        </p:spPr>
        <p:txBody>
          <a:bodyPr wrap="square" lIns="0" rIns="0" tIns="0" bIns="0">
            <a:spAutoFit/>
          </a:bodyPr>
          <a:lstStyle/>
          <a:p>
            <a:pPr algn="l">
              <a:lnSpc>
                <a:spcPct val="120000"/>
              </a:lnSpc>
            </a:pPr>
            <a:r>
              <a:rPr sz="1050" b="0">
                <a:solidFill>
                  <a:srgbClr val="5B7280"/>
                </a:solidFill>
                <a:latin typeface="Arial"/>
              </a:rPr>
              <a:t>“Cơ đang gồng mạnh cỡ nào.” Khi mỏi, cơ huy động thêm sợi cơ để bù lực đã mất → biên độ tín hiệu tăng dần.</a:t>
            </a:r>
          </a:p>
        </p:txBody>
      </p:sp>
      <p:sp>
        <p:nvSpPr>
          <p:cNvPr id="12" name="Rounded Rectangle 11"/>
          <p:cNvSpPr/>
          <p:nvPr/>
        </p:nvSpPr>
        <p:spPr>
          <a:xfrm>
            <a:off x="4307840" y="2286000"/>
            <a:ext cx="3576320" cy="2057400"/>
          </a:xfrm>
          <a:prstGeom prst="roundRect">
            <a:avLst>
              <a:gd name="adj" fmla="val 3000"/>
            </a:avLst>
          </a:prstGeom>
          <a:solidFill>
            <a:srgbClr val="FFFFFF"/>
          </a:solidFill>
          <a:ln w="12700">
            <a:solidFill>
              <a:srgbClr val="D5E8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7840" y="2286000"/>
            <a:ext cx="3576320" cy="32004"/>
          </a:xfrm>
          <a:prstGeom prst="rect">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82160" y="2651760"/>
            <a:ext cx="3027680" cy="320040"/>
          </a:xfrm>
          <a:prstGeom prst="rect">
            <a:avLst/>
          </a:prstGeom>
          <a:noFill/>
        </p:spPr>
        <p:txBody>
          <a:bodyPr wrap="square" lIns="0" rIns="0" tIns="0" bIns="0">
            <a:spAutoFit/>
          </a:bodyPr>
          <a:lstStyle/>
          <a:p>
            <a:pPr algn="l">
              <a:lnSpc>
                <a:spcPct val="105000"/>
              </a:lnSpc>
            </a:pPr>
            <a:r>
              <a:rPr sz="1350" b="1">
                <a:solidFill>
                  <a:srgbClr val="12303F"/>
                </a:solidFill>
                <a:latin typeface="Arial"/>
              </a:rPr>
              <a:t>MDF</a:t>
            </a:r>
          </a:p>
        </p:txBody>
      </p:sp>
      <p:sp>
        <p:nvSpPr>
          <p:cNvPr id="15" name="TextBox 14"/>
          <p:cNvSpPr txBox="1"/>
          <p:nvPr/>
        </p:nvSpPr>
        <p:spPr>
          <a:xfrm>
            <a:off x="4582160" y="3063240"/>
            <a:ext cx="3027680" cy="228600"/>
          </a:xfrm>
          <a:prstGeom prst="rect">
            <a:avLst/>
          </a:prstGeom>
          <a:noFill/>
        </p:spPr>
        <p:txBody>
          <a:bodyPr wrap="square" lIns="0" rIns="0" tIns="0" bIns="0">
            <a:spAutoFit/>
          </a:bodyPr>
          <a:lstStyle/>
          <a:p>
            <a:pPr algn="l"/>
            <a:r>
              <a:rPr sz="950" b="1">
                <a:solidFill>
                  <a:srgbClr val="00A896"/>
                </a:solidFill>
                <a:latin typeface="Arial"/>
              </a:rPr>
              <a:t>Median Frequency · miền tần số</a:t>
            </a:r>
          </a:p>
        </p:txBody>
      </p:sp>
      <p:sp>
        <p:nvSpPr>
          <p:cNvPr id="16" name="TextBox 15"/>
          <p:cNvSpPr txBox="1"/>
          <p:nvPr/>
        </p:nvSpPr>
        <p:spPr>
          <a:xfrm>
            <a:off x="4582160" y="3383280"/>
            <a:ext cx="3027680" cy="685800"/>
          </a:xfrm>
          <a:prstGeom prst="rect">
            <a:avLst/>
          </a:prstGeom>
          <a:noFill/>
        </p:spPr>
        <p:txBody>
          <a:bodyPr wrap="square" lIns="0" rIns="0" tIns="0" bIns="0">
            <a:spAutoFit/>
          </a:bodyPr>
          <a:lstStyle/>
          <a:p>
            <a:pPr algn="l">
              <a:lnSpc>
                <a:spcPct val="120000"/>
              </a:lnSpc>
            </a:pPr>
            <a:r>
              <a:rPr sz="1050" b="0">
                <a:solidFill>
                  <a:srgbClr val="5B7280"/>
                </a:solidFill>
                <a:latin typeface="Arial"/>
              </a:rPr>
              <a:t>“Tín hiệu dao động nhanh hay chậm.” Khi mỏi, tốc độ dẫn truyền thần kinh–cơ chậm lại → tần số trung vị giảm dần.</a:t>
            </a:r>
          </a:p>
        </p:txBody>
      </p:sp>
      <p:sp>
        <p:nvSpPr>
          <p:cNvPr id="17" name="Rounded Rectangle 16"/>
          <p:cNvSpPr/>
          <p:nvPr/>
        </p:nvSpPr>
        <p:spPr>
          <a:xfrm>
            <a:off x="8067040" y="2286000"/>
            <a:ext cx="3576320" cy="2057400"/>
          </a:xfrm>
          <a:prstGeom prst="roundRect">
            <a:avLst>
              <a:gd name="adj" fmla="val 3000"/>
            </a:avLst>
          </a:prstGeom>
          <a:solidFill>
            <a:srgbClr val="FFFFFF"/>
          </a:solidFill>
          <a:ln w="12700">
            <a:solidFill>
              <a:srgbClr val="D5E8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7040" y="2286000"/>
            <a:ext cx="3576320" cy="3200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41360" y="2651760"/>
            <a:ext cx="3027680" cy="320040"/>
          </a:xfrm>
          <a:prstGeom prst="rect">
            <a:avLst/>
          </a:prstGeom>
          <a:noFill/>
        </p:spPr>
        <p:txBody>
          <a:bodyPr wrap="square" lIns="0" rIns="0" tIns="0" bIns="0">
            <a:spAutoFit/>
          </a:bodyPr>
          <a:lstStyle/>
          <a:p>
            <a:pPr algn="l">
              <a:lnSpc>
                <a:spcPct val="105000"/>
              </a:lnSpc>
            </a:pPr>
            <a:r>
              <a:rPr sz="1350" b="1">
                <a:solidFill>
                  <a:srgbClr val="12303F"/>
                </a:solidFill>
                <a:latin typeface="Arial"/>
              </a:rPr>
              <a:t>%MVC</a:t>
            </a:r>
          </a:p>
        </p:txBody>
      </p:sp>
      <p:sp>
        <p:nvSpPr>
          <p:cNvPr id="20" name="TextBox 19"/>
          <p:cNvSpPr txBox="1"/>
          <p:nvPr/>
        </p:nvSpPr>
        <p:spPr>
          <a:xfrm>
            <a:off x="8341360" y="3063240"/>
            <a:ext cx="3027680" cy="228600"/>
          </a:xfrm>
          <a:prstGeom prst="rect">
            <a:avLst/>
          </a:prstGeom>
          <a:noFill/>
        </p:spPr>
        <p:txBody>
          <a:bodyPr wrap="square" lIns="0" rIns="0" tIns="0" bIns="0">
            <a:spAutoFit/>
          </a:bodyPr>
          <a:lstStyle/>
          <a:p>
            <a:pPr algn="l"/>
            <a:r>
              <a:rPr sz="950" b="1">
                <a:solidFill>
                  <a:srgbClr val="028090"/>
                </a:solidFill>
                <a:latin typeface="Arial"/>
              </a:rPr>
              <a:t>Maximum Voluntary Contraction</a:t>
            </a:r>
          </a:p>
        </p:txBody>
      </p:sp>
      <p:sp>
        <p:nvSpPr>
          <p:cNvPr id="21" name="TextBox 20"/>
          <p:cNvSpPr txBox="1"/>
          <p:nvPr/>
        </p:nvSpPr>
        <p:spPr>
          <a:xfrm>
            <a:off x="8341360" y="3383280"/>
            <a:ext cx="3027680" cy="685800"/>
          </a:xfrm>
          <a:prstGeom prst="rect">
            <a:avLst/>
          </a:prstGeom>
          <a:noFill/>
        </p:spPr>
        <p:txBody>
          <a:bodyPr wrap="square" lIns="0" rIns="0" tIns="0" bIns="0">
            <a:spAutoFit/>
          </a:bodyPr>
          <a:lstStyle/>
          <a:p>
            <a:pPr algn="l">
              <a:lnSpc>
                <a:spcPct val="120000"/>
              </a:lnSpc>
            </a:pPr>
            <a:r>
              <a:rPr sz="1050" b="0">
                <a:solidFill>
                  <a:srgbClr val="5B7280"/>
                </a:solidFill>
                <a:latin typeface="Arial"/>
              </a:rPr>
              <a:t>Mức cường độ co cơ hiện tại so với lực tối đa bệnh nhân từng đo được — dùng để chuẩn hoá bài tập giữa các bệnh nhân.</a:t>
            </a:r>
          </a:p>
        </p:txBody>
      </p:sp>
      <p:sp>
        <p:nvSpPr>
          <p:cNvPr id="22" name="Rounded Rectangle 21"/>
          <p:cNvSpPr/>
          <p:nvPr/>
        </p:nvSpPr>
        <p:spPr>
          <a:xfrm>
            <a:off x="548640" y="4526280"/>
            <a:ext cx="3576320" cy="2057400"/>
          </a:xfrm>
          <a:prstGeom prst="roundRect">
            <a:avLst>
              <a:gd name="adj" fmla="val 3000"/>
            </a:avLst>
          </a:prstGeom>
          <a:solidFill>
            <a:srgbClr val="FFFFFF"/>
          </a:solidFill>
          <a:ln w="12700">
            <a:solidFill>
              <a:srgbClr val="D5E8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4526280"/>
            <a:ext cx="3576320" cy="320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892040"/>
            <a:ext cx="3027680" cy="320040"/>
          </a:xfrm>
          <a:prstGeom prst="rect">
            <a:avLst/>
          </a:prstGeom>
          <a:noFill/>
        </p:spPr>
        <p:txBody>
          <a:bodyPr wrap="square" lIns="0" rIns="0" tIns="0" bIns="0">
            <a:spAutoFit/>
          </a:bodyPr>
          <a:lstStyle/>
          <a:p>
            <a:pPr algn="l">
              <a:lnSpc>
                <a:spcPct val="105000"/>
              </a:lnSpc>
            </a:pPr>
            <a:r>
              <a:rPr sz="1350" b="1">
                <a:solidFill>
                  <a:srgbClr val="12303F"/>
                </a:solidFill>
                <a:latin typeface="Arial"/>
              </a:rPr>
              <a:t>Sơ đồ 64 điện cực</a:t>
            </a:r>
          </a:p>
        </p:txBody>
      </p:sp>
      <p:sp>
        <p:nvSpPr>
          <p:cNvPr id="25" name="TextBox 24"/>
          <p:cNvSpPr txBox="1"/>
          <p:nvPr/>
        </p:nvSpPr>
        <p:spPr>
          <a:xfrm>
            <a:off x="822960" y="5303520"/>
            <a:ext cx="3027680" cy="228600"/>
          </a:xfrm>
          <a:prstGeom prst="rect">
            <a:avLst/>
          </a:prstGeom>
          <a:noFill/>
        </p:spPr>
        <p:txBody>
          <a:bodyPr wrap="square" lIns="0" rIns="0" tIns="0" bIns="0">
            <a:spAutoFit/>
          </a:bodyPr>
          <a:lstStyle/>
          <a:p>
            <a:pPr algn="l"/>
            <a:r>
              <a:rPr sz="950" b="1">
                <a:solidFill>
                  <a:srgbClr val="C9A227"/>
                </a:solidFill>
                <a:latin typeface="Arial"/>
              </a:rPr>
              <a:t>Ma trận 13 × 5, IED 8mm</a:t>
            </a:r>
          </a:p>
        </p:txBody>
      </p:sp>
      <p:sp>
        <p:nvSpPr>
          <p:cNvPr id="26" name="TextBox 25"/>
          <p:cNvSpPr txBox="1"/>
          <p:nvPr/>
        </p:nvSpPr>
        <p:spPr>
          <a:xfrm>
            <a:off x="822960" y="5623560"/>
            <a:ext cx="3027680" cy="685800"/>
          </a:xfrm>
          <a:prstGeom prst="rect">
            <a:avLst/>
          </a:prstGeom>
          <a:noFill/>
        </p:spPr>
        <p:txBody>
          <a:bodyPr wrap="square" lIns="0" rIns="0" tIns="0" bIns="0">
            <a:spAutoFit/>
          </a:bodyPr>
          <a:lstStyle/>
          <a:p>
            <a:pPr algn="l">
              <a:lnSpc>
                <a:spcPct val="120000"/>
              </a:lnSpc>
            </a:pPr>
            <a:r>
              <a:rPr sz="1050" b="0">
                <a:solidFill>
                  <a:srgbClr val="5B7280"/>
                </a:solidFill>
                <a:latin typeface="Arial"/>
              </a:rPr>
              <a:t>Mỗi điểm là 1 kênh đo độc lập trên cơ, tự tô màu Không mỏi / Mỏi riêng theo từng vùng.</a:t>
            </a:r>
          </a:p>
        </p:txBody>
      </p:sp>
      <p:sp>
        <p:nvSpPr>
          <p:cNvPr id="27" name="Rounded Rectangle 26"/>
          <p:cNvSpPr/>
          <p:nvPr/>
        </p:nvSpPr>
        <p:spPr>
          <a:xfrm>
            <a:off x="4307840" y="4526280"/>
            <a:ext cx="3576320" cy="2057400"/>
          </a:xfrm>
          <a:prstGeom prst="roundRect">
            <a:avLst>
              <a:gd name="adj" fmla="val 3000"/>
            </a:avLst>
          </a:prstGeom>
          <a:solidFill>
            <a:srgbClr val="FFFFFF"/>
          </a:solidFill>
          <a:ln w="12700">
            <a:solidFill>
              <a:srgbClr val="D5E8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07840" y="4526280"/>
            <a:ext cx="3576320" cy="320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82160" y="4892040"/>
            <a:ext cx="3027680" cy="320040"/>
          </a:xfrm>
          <a:prstGeom prst="rect">
            <a:avLst/>
          </a:prstGeom>
          <a:noFill/>
        </p:spPr>
        <p:txBody>
          <a:bodyPr wrap="square" lIns="0" rIns="0" tIns="0" bIns="0">
            <a:spAutoFit/>
          </a:bodyPr>
          <a:lstStyle/>
          <a:p>
            <a:pPr algn="l">
              <a:lnSpc>
                <a:spcPct val="105000"/>
              </a:lnSpc>
            </a:pPr>
            <a:r>
              <a:rPr sz="1350" b="1">
                <a:solidFill>
                  <a:srgbClr val="12303F"/>
                </a:solidFill>
                <a:latin typeface="Arial"/>
              </a:rPr>
              <a:t>Trạng thái Mỏi / Không mỏi</a:t>
            </a:r>
          </a:p>
        </p:txBody>
      </p:sp>
      <p:sp>
        <p:nvSpPr>
          <p:cNvPr id="30" name="TextBox 29"/>
          <p:cNvSpPr txBox="1"/>
          <p:nvPr/>
        </p:nvSpPr>
        <p:spPr>
          <a:xfrm>
            <a:off x="4582160" y="5303520"/>
            <a:ext cx="3027680" cy="228600"/>
          </a:xfrm>
          <a:prstGeom prst="rect">
            <a:avLst/>
          </a:prstGeom>
          <a:noFill/>
        </p:spPr>
        <p:txBody>
          <a:bodyPr wrap="square" lIns="0" rIns="0" tIns="0" bIns="0">
            <a:spAutoFit/>
          </a:bodyPr>
          <a:lstStyle/>
          <a:p>
            <a:pPr algn="l"/>
            <a:r>
              <a:rPr sz="950" b="1">
                <a:solidFill>
                  <a:srgbClr val="C9A227"/>
                </a:solidFill>
                <a:latin typeface="Arial"/>
              </a:rPr>
              <a:t>Nhãn phân loại nhị phân</a:t>
            </a:r>
          </a:p>
        </p:txBody>
      </p:sp>
      <p:sp>
        <p:nvSpPr>
          <p:cNvPr id="31" name="TextBox 30"/>
          <p:cNvSpPr txBox="1"/>
          <p:nvPr/>
        </p:nvSpPr>
        <p:spPr>
          <a:xfrm>
            <a:off x="4582160" y="5623560"/>
            <a:ext cx="3027680" cy="685800"/>
          </a:xfrm>
          <a:prstGeom prst="rect">
            <a:avLst/>
          </a:prstGeom>
          <a:noFill/>
        </p:spPr>
        <p:txBody>
          <a:bodyPr wrap="square" lIns="0" rIns="0" tIns="0" bIns="0">
            <a:spAutoFit/>
          </a:bodyPr>
          <a:lstStyle/>
          <a:p>
            <a:pPr algn="l">
              <a:lnSpc>
                <a:spcPct val="120000"/>
              </a:lnSpc>
            </a:pPr>
            <a:r>
              <a:rPr sz="1050" b="0">
                <a:solidFill>
                  <a:srgbClr val="5B7280"/>
                </a:solidFill>
                <a:latin typeface="Arial"/>
              </a:rPr>
              <a:t>Kết quả của model học máy, tổng hợp từ 14 đặc trưng tín hiệu — không chỉ đọc riêng RMS hay MDF.</a:t>
            </a:r>
          </a:p>
        </p:txBody>
      </p:sp>
      <p:sp>
        <p:nvSpPr>
          <p:cNvPr id="32" name="Rounded Rectangle 31"/>
          <p:cNvSpPr/>
          <p:nvPr/>
        </p:nvSpPr>
        <p:spPr>
          <a:xfrm>
            <a:off x="8067040" y="4526280"/>
            <a:ext cx="3576320" cy="2057400"/>
          </a:xfrm>
          <a:prstGeom prst="roundRect">
            <a:avLst>
              <a:gd name="adj" fmla="val 3000"/>
            </a:avLst>
          </a:prstGeom>
          <a:solidFill>
            <a:srgbClr val="FFFFFF"/>
          </a:solidFill>
          <a:ln w="12700">
            <a:solidFill>
              <a:srgbClr val="D5E8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67040" y="4526280"/>
            <a:ext cx="3576320" cy="320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41360" y="4892040"/>
            <a:ext cx="3027680" cy="320040"/>
          </a:xfrm>
          <a:prstGeom prst="rect">
            <a:avLst/>
          </a:prstGeom>
          <a:noFill/>
        </p:spPr>
        <p:txBody>
          <a:bodyPr wrap="square" lIns="0" rIns="0" tIns="0" bIns="0">
            <a:spAutoFit/>
          </a:bodyPr>
          <a:lstStyle/>
          <a:p>
            <a:pPr algn="l">
              <a:lnSpc>
                <a:spcPct val="105000"/>
              </a:lnSpc>
            </a:pPr>
            <a:r>
              <a:rPr sz="1350" b="1">
                <a:solidFill>
                  <a:srgbClr val="12303F"/>
                </a:solidFill>
                <a:latin typeface="Arial"/>
              </a:rPr>
              <a:t>F1-score</a:t>
            </a:r>
          </a:p>
        </p:txBody>
      </p:sp>
      <p:sp>
        <p:nvSpPr>
          <p:cNvPr id="35" name="TextBox 34"/>
          <p:cNvSpPr txBox="1"/>
          <p:nvPr/>
        </p:nvSpPr>
        <p:spPr>
          <a:xfrm>
            <a:off x="8341360" y="5303520"/>
            <a:ext cx="3027680" cy="228600"/>
          </a:xfrm>
          <a:prstGeom prst="rect">
            <a:avLst/>
          </a:prstGeom>
          <a:noFill/>
        </p:spPr>
        <p:txBody>
          <a:bodyPr wrap="square" lIns="0" rIns="0" tIns="0" bIns="0">
            <a:spAutoFit/>
          </a:bodyPr>
          <a:lstStyle/>
          <a:p>
            <a:pPr algn="l"/>
            <a:r>
              <a:rPr sz="950" b="1">
                <a:solidFill>
                  <a:srgbClr val="C9A227"/>
                </a:solidFill>
                <a:latin typeface="Arial"/>
              </a:rPr>
              <a:t>Độ chính xác trên người chưa từng thấy</a:t>
            </a:r>
          </a:p>
        </p:txBody>
      </p:sp>
      <p:sp>
        <p:nvSpPr>
          <p:cNvPr id="36" name="TextBox 35"/>
          <p:cNvSpPr txBox="1"/>
          <p:nvPr/>
        </p:nvSpPr>
        <p:spPr>
          <a:xfrm>
            <a:off x="8341360" y="5623560"/>
            <a:ext cx="3027680" cy="685800"/>
          </a:xfrm>
          <a:prstGeom prst="rect">
            <a:avLst/>
          </a:prstGeom>
          <a:noFill/>
        </p:spPr>
        <p:txBody>
          <a:bodyPr wrap="square" lIns="0" rIns="0" tIns="0" bIns="0">
            <a:spAutoFit/>
          </a:bodyPr>
          <a:lstStyle/>
          <a:p>
            <a:pPr algn="l">
              <a:lnSpc>
                <a:spcPct val="120000"/>
              </a:lnSpc>
            </a:pPr>
            <a:r>
              <a:rPr sz="1050" b="0">
                <a:solidFill>
                  <a:srgbClr val="5B7280"/>
                </a:solidFill>
                <a:latin typeface="Arial"/>
              </a:rPr>
              <a:t>Đo trên 1 bệnh nhân giữ riêng, không dùng để huấn luyện — phản ánh khả năng dùng được cho người mới.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2</cp:revision>
  <dcterms:created xsi:type="dcterms:W3CDTF">2026-07-14T04:12:30Z</dcterms:created>
  <dcterms:modified xsi:type="dcterms:W3CDTF">2026-07-14T04:24:47Z</dcterms:modified>
</cp:coreProperties>
</file>
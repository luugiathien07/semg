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66" r:id="rId17"/>
    <p:sldId id="267" r:id="rId18"/>
    <p:sldId id="257" r:id="rId3"/>
    <p:sldId id="258" r:id="rId4"/>
    <p:sldId id="259" r:id="rId5"/>
    <p:sldId id="261" r:id="rId7"/>
    <p:sldId id="260" r:id="rId6"/>
    <p:sldId id="268" r:id="rId19"/>
    <p:sldId id="262" r:id="rId8"/>
    <p:sldId id="263" r:id="rId9"/>
    <p:sldId id="269" r:id="rId20"/>
    <p:sldId id="270" r:id="rId21"/>
    <p:sldId id="264" r:id="rId10"/>
    <p:sldId id="265" r:id="rId11"/>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A208059C-5FF6-4342-9AD9-D1A86F19BF5F}"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noRot="1" noChangeAspect="1"/>
          </p:cNvSpPr>
          <p:nvPr>
            <p:ph type="sldImg"/>
          </p:nvPr>
        </p:nvSpPr>
        <p:spPr>
          <a:xfrm>
            <a:off x="685800" y="1143000"/>
            <a:ext cx="5486040" cy="3085920"/>
          </a:xfrm>
          <a:prstGeom prst="rect">
            <a:avLst/>
          </a:prstGeom>
          <a:ln w="0">
            <a:noFill/>
          </a:ln>
        </p:spPr>
      </p:sp>
      <p:sp>
        <p:nvSpPr>
          <p:cNvPr id="2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Mở đầu: giới thiệu đây là Chương 2 trong danh mục 7 hệ thống AI y tế đề xuất cho Vinmec, tập trung vào sEMG đánh giá mỏi cơ tại Trung tâm CTCH &amp; YHTT.</a:t>
            </a:r>
          </a:p>
        </p:txBody>
      </p:sp>
      <p:sp>
        <p:nvSpPr>
          <p:cNvPr id="231"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7B26E6B-D1B5-4CAE-A944-718370A781A2}"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 name="PlaceHolder 1"/>
          <p:cNvSpPr>
            <a:spLocks noGrp="1" noRot="1" noChangeAspect="1"/>
          </p:cNvSpPr>
          <p:nvPr>
            <p:ph type="sldImg"/>
          </p:nvPr>
        </p:nvSpPr>
        <p:spPr>
          <a:xfrm>
            <a:off x="685800" y="1143000"/>
            <a:ext cx="5486040" cy="3085920"/>
          </a:xfrm>
          <a:prstGeom prst="rect">
            <a:avLst/>
          </a:prstGeom>
          <a:ln w="0">
            <a:noFill/>
          </a:ln>
        </p:spPr>
      </p:sp>
      <p:sp>
        <p:nvSpPr>
          <p:cNvPr id="2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Nhấn mạnh ranh giới phạm vi ngay từ đầu để chặn câu hỏi phản biện: đây là công cụ theo dõi chức năng, không thay thế đo dẫn truyền thần kinh (NCS/ENG).</a:t>
            </a:r>
          </a:p>
        </p:txBody>
      </p:sp>
      <p:sp>
        <p:nvSpPr>
          <p:cNvPr id="234"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17B73E3-9447-460E-A93D-CADD6DE7EB2C}"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
          <p:cNvSpPr>
            <a:spLocks noGrp="1" noRot="1" noChangeAspect="1"/>
          </p:cNvSpPr>
          <p:nvPr>
            <p:ph type="sldImg"/>
          </p:nvPr>
        </p:nvSpPr>
        <p:spPr>
          <a:xfrm>
            <a:off x="685800" y="1143000"/>
            <a:ext cx="5486040" cy="3085920"/>
          </a:xfrm>
          <a:prstGeom prst="rect">
            <a:avLst/>
          </a:prstGeom>
          <a:ln w="0">
            <a:noFill/>
          </a:ln>
        </p:spPr>
      </p:sp>
      <p:sp>
        <p:nvSpPr>
          <p:cNvPr id="2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Motion Lab đã có chứng nhận châu Á và bảo trợ ĐT bóng đá quốc gia — nhấn mạnh đây là đơn vị uy tín, sẵn sàng làm bệ phóng.</a:t>
            </a:r>
          </a:p>
        </p:txBody>
      </p:sp>
      <p:sp>
        <p:nvSpPr>
          <p:cNvPr id="237"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1EB3CC6-E4DE-4534-AED5-719B4E70D284}"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noRot="1" noChangeAspect="1"/>
          </p:cNvSpPr>
          <p:nvPr>
            <p:ph type="sldImg"/>
          </p:nvPr>
        </p:nvSpPr>
        <p:spPr>
          <a:xfrm>
            <a:off x="685800" y="1143000"/>
            <a:ext cx="5486040" cy="3085920"/>
          </a:xfrm>
          <a:prstGeom prst="rect">
            <a:avLst/>
          </a:prstGeom>
          <a:ln w="0">
            <a:noFill/>
          </a:ln>
        </p:spPr>
      </p:sp>
      <p:sp>
        <p:nvSpPr>
          <p:cNvPr id="2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Slide quan trọng để chặn câu hỏi 'Vinmec đã có Compass 600/David Health rồi, sao cần làm nữa?' — nhấn thông điệp: MFCV bổ sung chiều sinh lý màng cơ, không trùng lặp, và làm rõ David Health hiện không phải sản phẩm cạnh tranh trực tiếp (dùng cho máy tập cố định, không phải dải cảm biến đeo liên tục).</a:t>
            </a:r>
          </a:p>
        </p:txBody>
      </p:sp>
      <p:sp>
        <p:nvSpPr>
          <p:cNvPr id="240"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29E1C50-2AC3-4445-B69D-AC02FB5CFB12}"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PlaceHolder 1"/>
          <p:cNvSpPr>
            <a:spLocks noGrp="1" noRot="1" noChangeAspect="1"/>
          </p:cNvSpPr>
          <p:nvPr>
            <p:ph type="sldImg"/>
          </p:nvPr>
        </p:nvSpPr>
        <p:spPr>
          <a:xfrm>
            <a:off x="685800" y="1143000"/>
            <a:ext cx="5486040" cy="3085920"/>
          </a:xfrm>
          <a:prstGeom prst="rect">
            <a:avLst/>
          </a:prstGeom>
          <a:ln w="0">
            <a:noFill/>
          </a:ln>
        </p:spPr>
      </p:sp>
      <p:sp>
        <p:nvSpPr>
          <p:cNvPr id="2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F1=95,12% là hiệu năng thuật toán trên dữ liệu nghiên cứu đã công bố — nếu được hỏi, làm rõ đây chưa phải số liệu lâm sàng tại Vinmec.</a:t>
            </a:r>
          </a:p>
        </p:txBody>
      </p:sp>
      <p:sp>
        <p:nvSpPr>
          <p:cNvPr id="243"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A0BA93B3-478D-46FC-B66C-90986D77F98A}"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PlaceHolder 1"/>
          <p:cNvSpPr>
            <a:spLocks noGrp="1" noRot="1" noChangeAspect="1"/>
          </p:cNvSpPr>
          <p:nvPr>
            <p:ph type="sldImg"/>
          </p:nvPr>
        </p:nvSpPr>
        <p:spPr>
          <a:xfrm>
            <a:off x="685800" y="1143000"/>
            <a:ext cx="5486040" cy="3085920"/>
          </a:xfrm>
          <a:prstGeom prst="rect">
            <a:avLst/>
          </a:prstGeom>
          <a:ln w="0">
            <a:noFill/>
          </a:ln>
        </p:spPr>
      </p:sp>
      <p:sp>
        <p:nvSpPr>
          <p:cNvPr id="2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Đây là slide quan trọng nhất về chi phí: nhấn mạnh 2 kịch bản và đề xuất cụ thể — 1 buổi làm việc kỹ thuật với Motion Lab. myoRESEARCH là phần mềm xuất dữ liệu sẵn có, không cần đầu tư thêm.</a:t>
            </a:r>
          </a:p>
        </p:txBody>
      </p:sp>
      <p:sp>
        <p:nvSpPr>
          <p:cNvPr id="246"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2579B704-F4B9-4FB0-84D1-99280B04B270}"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noRot="1" noChangeAspect="1"/>
          </p:cNvSpPr>
          <p:nvPr>
            <p:ph type="sldImg"/>
          </p:nvPr>
        </p:nvSpPr>
        <p:spPr>
          <a:xfrm>
            <a:off x="685800" y="1143000"/>
            <a:ext cx="5486400" cy="3086100"/>
          </a:xfrm>
          <a:prstGeom prst="rect">
            <a:avLst/>
          </a:prstGeom>
          <a:ln w="0">
            <a:noFill/>
          </a:ln>
        </p:spPr>
      </p:sp>
      <p:sp>
        <p:nvSpPr>
          <p:cNvPr id="2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OH/eForm/EMR: nhấn thông điệp hạ tầng phần lớn có sẵn — đây là lợi thế so với các chương khác trong proposal.</a:t>
            </a:r>
          </a:p>
        </p:txBody>
      </p:sp>
      <p:sp>
        <p:nvSpPr>
          <p:cNvPr id="249"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7679BCA2-FB9C-4C36-AB84-A41C36097EEF}" type="slidenum">
              <a:rPr lang="en-US" sz="1200" b="0" strike="noStrike" spc="-1">
                <a:solidFill>
                  <a:schemeClr val="dk1"/>
                </a:solidFill>
                <a:latin typeface="+mn-lt"/>
                <a:ea typeface="+mn-ea"/>
              </a:rPr>
              <a:t>7</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noRot="1" noChangeAspect="1"/>
          </p:cNvSpPr>
          <p:nvPr>
            <p:ph type="sldImg"/>
          </p:nvPr>
        </p:nvSpPr>
        <p:spPr>
          <a:xfrm>
            <a:off x="685800" y="1143000"/>
            <a:ext cx="5486040" cy="3085920"/>
          </a:xfrm>
          <a:prstGeom prst="rect">
            <a:avLst/>
          </a:prstGeom>
          <a:ln w="0">
            <a:noFill/>
          </a:ln>
        </p:spPr>
      </p:sp>
      <p:sp>
        <p:nvSpPr>
          <p:cNvPr id="2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Đi nhanh qua 7 bước, nhấn bước 3 (cổng abstention) vì đây là nguyên tắc an toàn xuyên suốt toàn bộ proposal, không riêng sEMG.</a:t>
            </a:r>
          </a:p>
        </p:txBody>
      </p:sp>
      <p:sp>
        <p:nvSpPr>
          <p:cNvPr id="252"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2544C58-325D-4591-9416-5C9C3ED32FD2}"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noRot="1" noChangeAspect="1"/>
          </p:cNvSpPr>
          <p:nvPr>
            <p:ph type="sldImg"/>
          </p:nvPr>
        </p:nvSpPr>
        <p:spPr>
          <a:xfrm>
            <a:off x="685800" y="1143000"/>
            <a:ext cx="5486040" cy="3085920"/>
          </a:xfrm>
          <a:prstGeom prst="rect">
            <a:avLst/>
          </a:prstGeom>
          <a:ln w="0">
            <a:noFill/>
          </a:ln>
        </p:spPr>
      </p:sp>
      <p:sp>
        <p:nvSpPr>
          <p:cNvPr id="2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Kết bằng quyết định cần chốt — mời sếp cho ý kiến ngay về việc sắp xếp buổi làm việc với Motion Lab.</a:t>
            </a:r>
          </a:p>
        </p:txBody>
      </p:sp>
      <p:sp>
        <p:nvSpPr>
          <p:cNvPr id="255"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39CA72D-7CAB-4317-B8C5-5203F43DC913}"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PlaceHolder 1"/>
          <p:cNvSpPr>
            <a:spLocks noGrp="1" noRot="1" noChangeAspect="1"/>
          </p:cNvSpPr>
          <p:nvPr>
            <p:ph type="sldImg"/>
          </p:nvPr>
        </p:nvSpPr>
        <p:spPr>
          <a:xfrm>
            <a:off x="685800" y="1143000"/>
            <a:ext cx="5486040" cy="3085920"/>
          </a:xfrm>
          <a:prstGeom prst="rect">
            <a:avLst/>
          </a:prstGeom>
          <a:ln w="0">
            <a:noFill/>
          </a:ln>
        </p:spPr>
      </p:sp>
      <p:sp>
        <p:nvSpPr>
          <p:cNvPr id="2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0">
              <a:lnSpc>
                <a:spcPct val="100000"/>
              </a:lnSpc>
              <a:buNone/>
            </a:pPr>
            <a:r>
              <a:rPr lang="en-US" sz="2000" b="0" strike="noStrike" spc="-1">
                <a:solidFill>
                  <a:srgbClr val="000000"/>
                </a:solidFill>
                <a:latin typeface="Arial"/>
              </a:rPr>
              <a:t>Slide dự phòng — không cần trình bày chi tiết, chỉ mở khi có câu hỏi về nguồn/căn cứ khoa học.</a:t>
            </a:r>
          </a:p>
        </p:txBody>
      </p:sp>
      <p:sp>
        <p:nvSpPr>
          <p:cNvPr id="258"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A47914E-7D59-486E-990E-D29895D02C4E}"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10.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19.png"/><Relationship Id="rId6"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A4A"/>
        </a:solidFill>
        <a:effectLst/>
      </p:bgPr>
    </p:bg>
    <p:spTree>
      <p:nvGrpSpPr>
        <p:cNvPr id="1" name=""/>
        <p:cNvGrpSpPr/>
        <p:nvPr/>
      </p:nvGrpSpPr>
      <p:grpSpPr>
        <a:xfrm>
          <a:off x="0" y="0"/>
          <a:ext cx="0" cy="0"/>
          <a:chOff x="0" y="0"/>
          <a:chExt cx="0" cy="0"/>
        </a:xfrm>
      </p:grpSpPr>
      <p:sp>
        <p:nvSpPr>
          <p:cNvPr id="8" name="Shape 0"/>
          <p:cNvSpPr/>
          <p:nvPr/>
        </p:nvSpPr>
        <p:spPr>
          <a:xfrm>
            <a:off x="8778240" y="1005840"/>
            <a:ext cx="3108600" cy="3108600"/>
          </a:xfrm>
          <a:prstGeom prst="ellipse">
            <a:avLst/>
          </a:prstGeom>
          <a:solidFill>
            <a:srgbClr val="028090">
              <a:alpha val="4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 name="Shape 1"/>
          <p:cNvSpPr/>
          <p:nvPr/>
        </p:nvSpPr>
        <p:spPr>
          <a:xfrm>
            <a:off x="9464040" y="1691640"/>
            <a:ext cx="1737000" cy="173700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0" name="Image 0" descr="preencoded.png"/>
          <p:cNvPicPr/>
          <p:nvPr/>
        </p:nvPicPr>
        <p:blipFill>
          <a:blip r:embed="rId3"/>
          <a:stretch/>
        </p:blipFill>
        <p:spPr>
          <a:xfrm>
            <a:off x="9915840" y="2143440"/>
            <a:ext cx="833400" cy="833400"/>
          </a:xfrm>
          <a:prstGeom prst="rect">
            <a:avLst/>
          </a:prstGeom>
          <a:ln w="0">
            <a:noFill/>
          </a:ln>
        </p:spPr>
      </p:pic>
      <p:sp>
        <p:nvSpPr>
          <p:cNvPr id="11" name="Text 2"/>
          <p:cNvSpPr/>
          <p:nvPr/>
        </p:nvSpPr>
        <p:spPr>
          <a:xfrm>
            <a:off x="457200" y="196596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299">
                <a:solidFill>
                  <a:srgbClr val="9BE7DC"/>
                </a:solidFill>
                <a:latin typeface="Arial"/>
                <a:ea typeface="Arial"/>
              </a:rPr>
              <a:t>ĐỀ XUẤT AI Y TẾ · VINSMARTFUTURE</a:t>
            </a:r>
            <a:endParaRPr lang="en-US" sz="1300" b="0" strike="noStrike" spc="-1">
              <a:solidFill>
                <a:srgbClr val="FFFFFF"/>
              </a:solidFill>
              <a:latin typeface="Arial"/>
            </a:endParaRPr>
          </a:p>
        </p:txBody>
      </p:sp>
      <p:sp>
        <p:nvSpPr>
          <p:cNvPr id="12" name="Text 3"/>
          <p:cNvSpPr/>
          <p:nvPr/>
        </p:nvSpPr>
        <p:spPr>
          <a:xfrm>
            <a:off x="457200" y="2331720"/>
            <a:ext cx="8229240" cy="155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8000"/>
              </a:lnSpc>
              <a:tabLst>
                <a:tab pos="0" algn="l"/>
              </a:tabLst>
            </a:pPr>
            <a:r>
              <a:rPr lang="en-US" sz="4000" b="1" strike="noStrike" spc="-1">
                <a:solidFill>
                  <a:srgbClr val="FFFFFF"/>
                </a:solidFill>
                <a:latin typeface="Arial"/>
                <a:ea typeface="Arial"/>
              </a:rPr>
              <a:t>sEMG: Đánh giá Mỏi cơ</a:t>
            </a:r>
            <a:endParaRPr lang="en-US" sz="4000" b="0" strike="noStrike" spc="-1">
              <a:solidFill>
                <a:srgbClr val="FFFFFF"/>
              </a:solidFill>
              <a:latin typeface="Arial"/>
            </a:endParaRPr>
          </a:p>
          <a:p>
            <a:pPr defTabSz="914400">
              <a:lnSpc>
                <a:spcPct val="108000"/>
              </a:lnSpc>
              <a:tabLst>
                <a:tab pos="0" algn="l"/>
              </a:tabLst>
            </a:pPr>
            <a:r>
              <a:rPr lang="en-US" sz="4000" b="1" strike="noStrike" spc="-1">
                <a:solidFill>
                  <a:srgbClr val="FFFFFF"/>
                </a:solidFill>
                <a:latin typeface="Arial"/>
                <a:ea typeface="Arial"/>
              </a:rPr>
              <a:t>&amp; Chức năng cơ bằng AI</a:t>
            </a:r>
            <a:endParaRPr lang="en-US" sz="4000" b="0" strike="noStrike" spc="-1">
              <a:solidFill>
                <a:srgbClr val="FFFFFF"/>
              </a:solidFill>
              <a:latin typeface="Arial"/>
            </a:endParaRPr>
          </a:p>
        </p:txBody>
      </p:sp>
      <p:sp>
        <p:nvSpPr>
          <p:cNvPr id="13" name="Text 4"/>
          <p:cNvSpPr/>
          <p:nvPr/>
        </p:nvSpPr>
        <p:spPr>
          <a:xfrm>
            <a:off x="457200" y="3977640"/>
            <a:ext cx="8229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strike="noStrike" spc="-1">
                <a:solidFill>
                  <a:srgbClr val="00A896"/>
                </a:solidFill>
                <a:latin typeface="Arial"/>
                <a:ea typeface="Arial"/>
              </a:rPr>
              <a:t>Hỗ trợ quyết định tăng/giữ tải trong phục hồi · Trung tâm CTCH &amp; YHTT — Vinmec</a:t>
            </a:r>
            <a:endParaRPr lang="en-US" sz="1600" b="0" strike="noStrike" spc="-1">
              <a:solidFill>
                <a:srgbClr val="FFFFFF"/>
              </a:solidFill>
              <a:latin typeface="Arial"/>
            </a:endParaRPr>
          </a:p>
        </p:txBody>
      </p:sp>
      <p:sp>
        <p:nvSpPr>
          <p:cNvPr id="14" name="Text 5"/>
          <p:cNvSpPr/>
          <p:nvPr/>
        </p:nvSpPr>
        <p:spPr>
          <a:xfrm>
            <a:off x="457200" y="612648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64748B"/>
                </a:solidFill>
                <a:latin typeface="Arial"/>
                <a:ea typeface="Arial"/>
              </a:rPr>
              <a:t>Trình bày: Lưu Gia Thiên  ·  VinSmartFuture (VSF) — Khối Y tế</a:t>
            </a:r>
            <a:endParaRPr lang="en-US" sz="1200" b="0" strike="noStrike" spc="-1">
              <a:solidFill>
                <a:srgbClr val="FFFFFF"/>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6" name="Image 0" descr="preencoded.png"/>
          <p:cNvPicPr/>
          <p:nvPr/>
        </p:nvPicPr>
        <p:blipFill>
          <a:blip r:embed="rId3"/>
          <a:stretch/>
        </p:blipFill>
        <p:spPr>
          <a:xfrm>
            <a:off x="604440" y="558720"/>
            <a:ext cx="271800" cy="271800"/>
          </a:xfrm>
          <a:prstGeom prst="rect">
            <a:avLst/>
          </a:prstGeom>
          <a:ln w="0">
            <a:noFill/>
          </a:ln>
        </p:spPr>
      </p:pic>
      <p:sp>
        <p:nvSpPr>
          <p:cNvPr id="17"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PHẠM VI &amp; GIỚI HẠN</a:t>
            </a:r>
            <a:endParaRPr lang="en-US" sz="1200" b="0" strike="noStrike" spc="-1">
              <a:solidFill>
                <a:srgbClr val="000000"/>
              </a:solidFill>
              <a:latin typeface="Arial"/>
            </a:endParaRPr>
          </a:p>
        </p:txBody>
      </p:sp>
      <p:sp>
        <p:nvSpPr>
          <p:cNvPr id="18"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Công cụ theo dõi chức năng cơ — không phải công cụ chẩn đoán</a:t>
            </a:r>
            <a:endParaRPr lang="en-US" sz="2400" b="0" strike="noStrike" spc="-1">
              <a:solidFill>
                <a:srgbClr val="000000"/>
              </a:solidFill>
              <a:latin typeface="Arial"/>
            </a:endParaRPr>
          </a:p>
        </p:txBody>
      </p:sp>
      <p:sp>
        <p:nvSpPr>
          <p:cNvPr id="19" name="Text 3"/>
          <p:cNvSpPr/>
          <p:nvPr/>
        </p:nvSpPr>
        <p:spPr>
          <a:xfrm>
            <a:off x="457200" y="1600200"/>
            <a:ext cx="6126120" cy="3291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30000"/>
              </a:lnSpc>
              <a:tabLst>
                <a:tab pos="0" algn="l"/>
              </a:tabLst>
            </a:pPr>
            <a:r>
              <a:rPr lang="en-US" sz="1500" b="1" strike="noStrike" spc="-1">
                <a:solidFill>
                  <a:srgbClr val="028090"/>
                </a:solidFill>
                <a:latin typeface="Arial"/>
                <a:ea typeface="Arial"/>
              </a:rPr>
              <a:t>MFCV</a:t>
            </a:r>
            <a:r>
              <a:rPr lang="en-US" sz="1500" b="0" strike="noStrike" spc="-1">
                <a:solidFill>
                  <a:srgbClr val="1E293B"/>
                </a:solidFill>
                <a:latin typeface="Arial"/>
                <a:ea typeface="Arial"/>
              </a:rPr>
              <a:t> (Muscle Fiber Conduction Velocity — vận tốc dẫn truyền sợi cơ) phản ánh trạng thái sinh lý màng sợi cơ và giảm dần theo tiến triển mỏi cơ.</a:t>
            </a:r>
            <a:endParaRPr lang="en-US" sz="1500" b="0" strike="noStrike" spc="-1">
              <a:solidFill>
                <a:srgbClr val="000000"/>
              </a:solidFill>
              <a:latin typeface="Arial"/>
            </a:endParaRPr>
          </a:p>
          <a:p>
            <a:pPr defTabSz="914400">
              <a:lnSpc>
                <a:spcPct val="130000"/>
              </a:lnSpc>
              <a:tabLst>
                <a:tab pos="0" algn="l"/>
              </a:tabLst>
            </a:pPr>
            <a:endParaRPr lang="en-US" sz="1500" b="0" strike="noStrike" spc="-1">
              <a:solidFill>
                <a:srgbClr val="000000"/>
              </a:solidFill>
              <a:latin typeface="Arial"/>
            </a:endParaRPr>
          </a:p>
          <a:p>
            <a:pPr defTabSz="914400">
              <a:lnSpc>
                <a:spcPct val="130000"/>
              </a:lnSpc>
              <a:tabLst>
                <a:tab pos="0" algn="l"/>
              </a:tabLst>
            </a:pPr>
            <a:r>
              <a:rPr lang="en-US" sz="1500" b="0" strike="noStrike" spc="-1">
                <a:solidFill>
                  <a:srgbClr val="1E293B"/>
                </a:solidFill>
                <a:latin typeface="Arial"/>
                <a:ea typeface="Arial"/>
              </a:rPr>
              <a:t>Đây là chỉ dấu khách quan để theo dõi mỏi và đánh giá chức năng cơ trong quá trình phục hồi và tập luyện — kết hợp cùng các chỉ số phổ tín hiệu sEMG (median frequency, RMS amplitude).</a:t>
            </a:r>
            <a:endParaRPr lang="en-US" sz="1500" b="0" strike="noStrike" spc="-1">
              <a:solidFill>
                <a:srgbClr val="000000"/>
              </a:solidFill>
              <a:latin typeface="Arial"/>
            </a:endParaRPr>
          </a:p>
        </p:txBody>
      </p:sp>
      <p:sp>
        <p:nvSpPr>
          <p:cNvPr id="20" name="Shape 4"/>
          <p:cNvSpPr/>
          <p:nvPr/>
        </p:nvSpPr>
        <p:spPr>
          <a:xfrm>
            <a:off x="7040880" y="1600200"/>
            <a:ext cx="4663080" cy="4023000"/>
          </a:xfrm>
          <a:prstGeom prst="roundRect">
            <a:avLst>
              <a:gd name="adj" fmla="val 2727"/>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 name="Text 5"/>
          <p:cNvSpPr/>
          <p:nvPr/>
        </p:nvSpPr>
        <p:spPr>
          <a:xfrm>
            <a:off x="7360920" y="1874520"/>
            <a:ext cx="4023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64748B"/>
                </a:solidFill>
                <a:latin typeface="Arial"/>
                <a:ea typeface="Arial"/>
              </a:rPr>
              <a:t>RANH GIỚI PHẠM VI</a:t>
            </a:r>
            <a:endParaRPr lang="en-US" sz="1200" b="0" strike="noStrike" spc="-1">
              <a:solidFill>
                <a:srgbClr val="000000"/>
              </a:solidFill>
              <a:latin typeface="Arial"/>
            </a:endParaRPr>
          </a:p>
        </p:txBody>
      </p:sp>
      <p:pic>
        <p:nvPicPr>
          <p:cNvPr id="22" name="Image 1" descr="preencoded.png"/>
          <p:cNvPicPr/>
          <p:nvPr/>
        </p:nvPicPr>
        <p:blipFill>
          <a:blip r:embed="rId4"/>
          <a:stretch/>
        </p:blipFill>
        <p:spPr>
          <a:xfrm>
            <a:off x="7360920" y="2377440"/>
            <a:ext cx="456840" cy="456840"/>
          </a:xfrm>
          <a:prstGeom prst="rect">
            <a:avLst/>
          </a:prstGeom>
          <a:ln w="0">
            <a:noFill/>
          </a:ln>
        </p:spPr>
      </p:pic>
      <p:sp>
        <p:nvSpPr>
          <p:cNvPr id="23" name="Text 6"/>
          <p:cNvSpPr/>
          <p:nvPr/>
        </p:nvSpPr>
        <p:spPr>
          <a:xfrm>
            <a:off x="8046720" y="2313360"/>
            <a:ext cx="33372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350" b="0" strike="noStrike" spc="-1">
                <a:solidFill>
                  <a:srgbClr val="1E293B"/>
                </a:solidFill>
                <a:latin typeface="Arial"/>
                <a:ea typeface="Arial"/>
              </a:rPr>
              <a:t>Không chẩn đoán bệnh lý thần kinh ngoại biên </a:t>
            </a:r>
            <a:endParaRPr lang="en-US" sz="1350" b="0" strike="noStrike" spc="-1">
              <a:solidFill>
                <a:srgbClr val="000000"/>
              </a:solidFill>
              <a:latin typeface="Arial"/>
            </a:endParaRPr>
          </a:p>
        </p:txBody>
      </p:sp>
      <p:pic>
        <p:nvPicPr>
          <p:cNvPr id="24" name="Image 2" descr="preencoded.png"/>
          <p:cNvPicPr/>
          <p:nvPr/>
        </p:nvPicPr>
        <p:blipFill>
          <a:blip r:embed="rId5"/>
          <a:stretch/>
        </p:blipFill>
        <p:spPr>
          <a:xfrm>
            <a:off x="7360920" y="3703320"/>
            <a:ext cx="456840" cy="456840"/>
          </a:xfrm>
          <a:prstGeom prst="rect">
            <a:avLst/>
          </a:prstGeom>
          <a:ln w="0">
            <a:noFill/>
          </a:ln>
        </p:spPr>
      </p:pic>
      <p:sp>
        <p:nvSpPr>
          <p:cNvPr id="25" name="Text 7"/>
          <p:cNvSpPr/>
          <p:nvPr/>
        </p:nvSpPr>
        <p:spPr>
          <a:xfrm>
            <a:off x="8046720" y="3575160"/>
            <a:ext cx="33372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15000"/>
              </a:lnSpc>
              <a:tabLst>
                <a:tab pos="0" algn="l"/>
              </a:tabLst>
            </a:pPr>
            <a:r>
              <a:rPr lang="en-US" sz="1350" b="0" strike="noStrike" spc="-1">
                <a:solidFill>
                  <a:srgbClr val="1E293B"/>
                </a:solidFill>
                <a:latin typeface="Arial"/>
                <a:ea typeface="Arial"/>
              </a:rPr>
              <a:t>Kết quả là đầu vào hỗ trợ chuyên môn — quyết định lâm sàng cuối cùng luôn thuộc bác sĩ/kỹ thuật viên (human-in-the-loop)</a:t>
            </a:r>
            <a:endParaRPr lang="en-US" sz="1350" b="0" strike="noStrike" spc="-1">
              <a:solidFill>
                <a:srgbClr val="000000"/>
              </a:solidFill>
              <a:latin typeface="Arial"/>
            </a:endParaRPr>
          </a:p>
        </p:txBody>
      </p:sp>
      <p:sp>
        <p:nvSpPr>
          <p:cNvPr id="26" name="Text 8"/>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27" name="Text 9"/>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4</a:t>
            </a:r>
            <a:endParaRPr lang="en-US" sz="9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9" name="Image 0" descr="preencoded.png"/>
          <p:cNvPicPr/>
          <p:nvPr/>
        </p:nvPicPr>
        <p:blipFill>
          <a:blip r:embed="rId3"/>
          <a:stretch/>
        </p:blipFill>
        <p:spPr>
          <a:xfrm>
            <a:off x="604440" y="558720"/>
            <a:ext cx="271800" cy="271800"/>
          </a:xfrm>
          <a:prstGeom prst="rect">
            <a:avLst/>
          </a:prstGeom>
          <a:ln w="0">
            <a:noFill/>
          </a:ln>
        </p:spPr>
      </p:pic>
      <p:sp>
        <p:nvSpPr>
          <p:cNvPr id="30"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KHOA ĐỐI TÁC &amp; ĐỐI TƯỢNG ÁP DỤNG</a:t>
            </a:r>
            <a:endParaRPr lang="en-US" sz="1200" b="0" strike="noStrike" spc="-1">
              <a:solidFill>
                <a:srgbClr val="000000"/>
              </a:solidFill>
              <a:latin typeface="Arial"/>
            </a:endParaRPr>
          </a:p>
        </p:txBody>
      </p:sp>
      <p:sp>
        <p:nvSpPr>
          <p:cNvPr id="31"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Nền tảng lâm sàng sẵn có tại Trung tâm CTCH &amp; YHTT</a:t>
            </a:r>
            <a:endParaRPr lang="en-US" sz="2400" b="0" strike="noStrike" spc="-1">
              <a:solidFill>
                <a:srgbClr val="000000"/>
              </a:solidFill>
              <a:latin typeface="Arial"/>
            </a:endParaRPr>
          </a:p>
        </p:txBody>
      </p:sp>
      <p:sp>
        <p:nvSpPr>
          <p:cNvPr id="32" name="Shape 3"/>
          <p:cNvSpPr/>
          <p:nvPr/>
        </p:nvSpPr>
        <p:spPr>
          <a:xfrm>
            <a:off x="457200" y="1691640"/>
            <a:ext cx="5455440" cy="2148480"/>
          </a:xfrm>
          <a:prstGeom prst="roundRect">
            <a:avLst>
              <a:gd name="adj" fmla="val 5106"/>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3" name="Shape 4"/>
          <p:cNvSpPr/>
          <p:nvPr/>
        </p:nvSpPr>
        <p:spPr>
          <a:xfrm>
            <a:off x="731520" y="1965960"/>
            <a:ext cx="502560" cy="50256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34" name="Image 1" descr="preencoded.png"/>
          <p:cNvPicPr/>
          <p:nvPr/>
        </p:nvPicPr>
        <p:blipFill>
          <a:blip r:embed="rId4"/>
          <a:stretch/>
        </p:blipFill>
        <p:spPr>
          <a:xfrm>
            <a:off x="862200" y="2096640"/>
            <a:ext cx="241200" cy="241200"/>
          </a:xfrm>
          <a:prstGeom prst="rect">
            <a:avLst/>
          </a:prstGeom>
          <a:ln w="0">
            <a:noFill/>
          </a:ln>
        </p:spPr>
      </p:pic>
      <p:sp>
        <p:nvSpPr>
          <p:cNvPr id="35" name="Text 5"/>
          <p:cNvSpPr/>
          <p:nvPr/>
        </p:nvSpPr>
        <p:spPr>
          <a:xfrm>
            <a:off x="1371600" y="1984320"/>
            <a:ext cx="4266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97">
                <a:solidFill>
                  <a:srgbClr val="64748B"/>
                </a:solidFill>
                <a:latin typeface="Arial"/>
                <a:ea typeface="Arial"/>
              </a:rPr>
              <a:t>Đơn vị chủ đạo</a:t>
            </a:r>
            <a:endParaRPr lang="en-US" sz="1300" b="0" strike="noStrike" spc="-1">
              <a:solidFill>
                <a:srgbClr val="000000"/>
              </a:solidFill>
              <a:latin typeface="Arial"/>
            </a:endParaRPr>
          </a:p>
        </p:txBody>
      </p:sp>
      <p:sp>
        <p:nvSpPr>
          <p:cNvPr id="36" name="Text 6"/>
          <p:cNvSpPr/>
          <p:nvPr/>
        </p:nvSpPr>
        <p:spPr>
          <a:xfrm>
            <a:off x="731520" y="2560320"/>
            <a:ext cx="4906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0000"/>
              </a:lnSpc>
              <a:tabLst>
                <a:tab pos="0" algn="l"/>
              </a:tabLst>
            </a:pPr>
            <a:r>
              <a:rPr lang="en-US" sz="1550" b="1" strike="noStrike" spc="-1">
                <a:solidFill>
                  <a:srgbClr val="1E293B"/>
                </a:solidFill>
                <a:latin typeface="Arial"/>
                <a:ea typeface="Arial"/>
              </a:rPr>
              <a:t>Trung tâm Chấn thương chỉnh hình &amp; Y học thể thao</a:t>
            </a:r>
            <a:endParaRPr lang="en-US" sz="1550" b="0" strike="noStrike" spc="-1">
              <a:solidFill>
                <a:srgbClr val="000000"/>
              </a:solidFill>
              <a:latin typeface="Arial"/>
            </a:endParaRPr>
          </a:p>
        </p:txBody>
      </p:sp>
      <p:sp>
        <p:nvSpPr>
          <p:cNvPr id="37" name="Text 7"/>
          <p:cNvSpPr/>
          <p:nvPr/>
        </p:nvSpPr>
        <p:spPr>
          <a:xfrm>
            <a:off x="731520" y="3063240"/>
            <a:ext cx="49068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150" b="0" strike="noStrike" spc="-1">
                <a:solidFill>
                  <a:srgbClr val="64748B"/>
                </a:solidFill>
                <a:latin typeface="Arial"/>
                <a:ea typeface="Arial"/>
              </a:rPr>
              <a:t>Chứng nhận Trung tâm Y học thể thao xuất sắc châu Á (4/2024) · Đơn vị bảo trợ y tế Đội tuyển bóng đá Quốc gia · Vận hành Motion Analysis Lab</a:t>
            </a:r>
            <a:endParaRPr lang="en-US" sz="1150" b="0" strike="noStrike" spc="-1">
              <a:solidFill>
                <a:srgbClr val="000000"/>
              </a:solidFill>
              <a:latin typeface="Arial"/>
            </a:endParaRPr>
          </a:p>
        </p:txBody>
      </p:sp>
      <p:sp>
        <p:nvSpPr>
          <p:cNvPr id="38" name="Shape 8"/>
          <p:cNvSpPr/>
          <p:nvPr/>
        </p:nvSpPr>
        <p:spPr>
          <a:xfrm>
            <a:off x="6278760" y="1691640"/>
            <a:ext cx="5455440" cy="2148480"/>
          </a:xfrm>
          <a:prstGeom prst="roundRect">
            <a:avLst>
              <a:gd name="adj" fmla="val 5106"/>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9" name="Shape 9"/>
          <p:cNvSpPr/>
          <p:nvPr/>
        </p:nvSpPr>
        <p:spPr>
          <a:xfrm>
            <a:off x="6553080" y="1965960"/>
            <a:ext cx="502560" cy="50256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40" name="Image 2" descr="preencoded.png"/>
          <p:cNvPicPr/>
          <p:nvPr/>
        </p:nvPicPr>
        <p:blipFill>
          <a:blip r:embed="rId5"/>
          <a:stretch/>
        </p:blipFill>
        <p:spPr>
          <a:xfrm>
            <a:off x="6683760" y="2096640"/>
            <a:ext cx="241200" cy="241200"/>
          </a:xfrm>
          <a:prstGeom prst="rect">
            <a:avLst/>
          </a:prstGeom>
          <a:ln w="0">
            <a:noFill/>
          </a:ln>
        </p:spPr>
      </p:pic>
      <p:sp>
        <p:nvSpPr>
          <p:cNvPr id="41" name="Text 10"/>
          <p:cNvSpPr/>
          <p:nvPr/>
        </p:nvSpPr>
        <p:spPr>
          <a:xfrm>
            <a:off x="7193160" y="1984320"/>
            <a:ext cx="4266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97">
                <a:solidFill>
                  <a:srgbClr val="64748B"/>
                </a:solidFill>
                <a:latin typeface="Arial"/>
                <a:ea typeface="Arial"/>
              </a:rPr>
              <a:t>Đơn vị triển khai lâm sàng</a:t>
            </a:r>
            <a:endParaRPr lang="en-US" sz="1300" b="0" strike="noStrike" spc="-1">
              <a:solidFill>
                <a:srgbClr val="000000"/>
              </a:solidFill>
              <a:latin typeface="Arial"/>
            </a:endParaRPr>
          </a:p>
        </p:txBody>
      </p:sp>
      <p:sp>
        <p:nvSpPr>
          <p:cNvPr id="42" name="Text 11"/>
          <p:cNvSpPr/>
          <p:nvPr/>
        </p:nvSpPr>
        <p:spPr>
          <a:xfrm>
            <a:off x="6553080" y="2560320"/>
            <a:ext cx="4906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50" b="1" strike="noStrike" spc="-1">
                <a:solidFill>
                  <a:srgbClr val="1E293B"/>
                </a:solidFill>
                <a:latin typeface="Arial"/>
                <a:ea typeface="Arial"/>
              </a:rPr>
              <a:t>Khoa Phục hồi chức năng</a:t>
            </a:r>
            <a:endParaRPr lang="en-US" sz="1550" b="0" strike="noStrike" spc="-1">
              <a:solidFill>
                <a:srgbClr val="000000"/>
              </a:solidFill>
              <a:latin typeface="Arial"/>
            </a:endParaRPr>
          </a:p>
        </p:txBody>
      </p:sp>
      <p:sp>
        <p:nvSpPr>
          <p:cNvPr id="43" name="Text 12"/>
          <p:cNvSpPr/>
          <p:nvPr/>
        </p:nvSpPr>
        <p:spPr>
          <a:xfrm>
            <a:off x="6553080" y="3063240"/>
            <a:ext cx="49068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20000"/>
              </a:lnSpc>
              <a:tabLst>
                <a:tab pos="0" algn="l"/>
              </a:tabLst>
            </a:pPr>
            <a:r>
              <a:rPr lang="en-US" sz="1150" b="0" strike="noStrike" spc="-1">
                <a:solidFill>
                  <a:srgbClr val="64748B"/>
                </a:solidFill>
                <a:latin typeface="Arial"/>
                <a:ea typeface="Arial"/>
              </a:rPr>
              <a:t>Điều trị sau phẫu thuật và không phẫu thuật liên quan bệnh lý cơ — xương — khớp và chấn thương lao động/thể thao</a:t>
            </a:r>
            <a:endParaRPr lang="en-US" sz="1150" b="0" strike="noStrike" spc="-1">
              <a:solidFill>
                <a:srgbClr val="000000"/>
              </a:solidFill>
              <a:latin typeface="Arial"/>
            </a:endParaRPr>
          </a:p>
        </p:txBody>
      </p:sp>
      <p:sp>
        <p:nvSpPr>
          <p:cNvPr id="44" name="Text 13"/>
          <p:cNvSpPr/>
          <p:nvPr/>
        </p:nvSpPr>
        <p:spPr>
          <a:xfrm>
            <a:off x="457200" y="4114800"/>
            <a:ext cx="7314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64748B"/>
                </a:solidFill>
                <a:latin typeface="Arial"/>
                <a:ea typeface="Arial"/>
              </a:rPr>
              <a:t>NHÓM ĐỐI TƯỢNG ÁP DỤNG ƯU TIÊN</a:t>
            </a:r>
            <a:endParaRPr lang="en-US" sz="1200" b="0" strike="noStrike" spc="-1">
              <a:solidFill>
                <a:srgbClr val="000000"/>
              </a:solidFill>
              <a:latin typeface="Arial"/>
            </a:endParaRPr>
          </a:p>
        </p:txBody>
      </p:sp>
      <p:sp>
        <p:nvSpPr>
          <p:cNvPr id="45" name="Shape 14"/>
          <p:cNvSpPr/>
          <p:nvPr/>
        </p:nvSpPr>
        <p:spPr>
          <a:xfrm>
            <a:off x="457200" y="4462200"/>
            <a:ext cx="3575880" cy="776880"/>
          </a:xfrm>
          <a:prstGeom prst="roundRect">
            <a:avLst>
              <a:gd name="adj" fmla="val 49412"/>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6" name="Text 15"/>
          <p:cNvSpPr/>
          <p:nvPr/>
        </p:nvSpPr>
        <p:spPr>
          <a:xfrm>
            <a:off x="685800" y="4462200"/>
            <a:ext cx="31186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tabLst>
                <a:tab pos="0" algn="l"/>
              </a:tabLst>
            </a:pPr>
            <a:r>
              <a:rPr lang="en-US" sz="1150" b="0" strike="noStrike" spc="-1">
                <a:solidFill>
                  <a:srgbClr val="FFFFFF"/>
                </a:solidFill>
                <a:latin typeface="Arial"/>
                <a:ea typeface="Arial"/>
              </a:rPr>
              <a:t>Vận động viên phục hồi chấn thương thể thao</a:t>
            </a:r>
            <a:endParaRPr lang="en-US" sz="1150" b="0" strike="noStrike" spc="-1">
              <a:solidFill>
                <a:srgbClr val="000000"/>
              </a:solidFill>
              <a:latin typeface="Arial"/>
            </a:endParaRPr>
          </a:p>
        </p:txBody>
      </p:sp>
      <p:sp>
        <p:nvSpPr>
          <p:cNvPr id="47" name="Shape 16"/>
          <p:cNvSpPr/>
          <p:nvPr/>
        </p:nvSpPr>
        <p:spPr>
          <a:xfrm>
            <a:off x="4307760" y="4462200"/>
            <a:ext cx="3575880" cy="776880"/>
          </a:xfrm>
          <a:prstGeom prst="roundRect">
            <a:avLst>
              <a:gd name="adj" fmla="val 49412"/>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48" name="Text 17"/>
          <p:cNvSpPr/>
          <p:nvPr/>
        </p:nvSpPr>
        <p:spPr>
          <a:xfrm>
            <a:off x="4536360" y="4462200"/>
            <a:ext cx="31186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tabLst>
                <a:tab pos="0" algn="l"/>
              </a:tabLst>
            </a:pPr>
            <a:r>
              <a:rPr lang="en-US" sz="1150" b="0" strike="noStrike" spc="-1">
                <a:solidFill>
                  <a:srgbClr val="FFFFFF"/>
                </a:solidFill>
                <a:latin typeface="Arial"/>
                <a:ea typeface="Arial"/>
              </a:rPr>
              <a:t>Sau phẫu thuật chỉnh hình (thay khớp, tái tạo dây chằng)</a:t>
            </a:r>
            <a:endParaRPr lang="en-US" sz="1150" b="0" strike="noStrike" spc="-1">
              <a:solidFill>
                <a:srgbClr val="000000"/>
              </a:solidFill>
              <a:latin typeface="Arial"/>
            </a:endParaRPr>
          </a:p>
        </p:txBody>
      </p:sp>
      <p:sp>
        <p:nvSpPr>
          <p:cNvPr id="49" name="Shape 18"/>
          <p:cNvSpPr/>
          <p:nvPr/>
        </p:nvSpPr>
        <p:spPr>
          <a:xfrm>
            <a:off x="8158320" y="4462200"/>
            <a:ext cx="3575880" cy="776880"/>
          </a:xfrm>
          <a:prstGeom prst="roundRect">
            <a:avLst>
              <a:gd name="adj" fmla="val 49412"/>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50" name="Text 19"/>
          <p:cNvSpPr/>
          <p:nvPr/>
        </p:nvSpPr>
        <p:spPr>
          <a:xfrm>
            <a:off x="8386920" y="4462200"/>
            <a:ext cx="31186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10000"/>
              </a:lnSpc>
              <a:tabLst>
                <a:tab pos="0" algn="l"/>
              </a:tabLst>
            </a:pPr>
            <a:r>
              <a:rPr lang="en-US" sz="1150" b="0" strike="noStrike" spc="-1">
                <a:solidFill>
                  <a:srgbClr val="FFFFFF"/>
                </a:solidFill>
                <a:latin typeface="Arial"/>
                <a:ea typeface="Arial"/>
              </a:rPr>
              <a:t>Tập luyện có giám sát, cần theo dõi sức bền định kỳ</a:t>
            </a:r>
            <a:endParaRPr lang="en-US" sz="1150" b="0" strike="noStrike" spc="-1">
              <a:solidFill>
                <a:srgbClr val="000000"/>
              </a:solidFill>
              <a:latin typeface="Arial"/>
            </a:endParaRPr>
          </a:p>
        </p:txBody>
      </p:sp>
      <p:sp>
        <p:nvSpPr>
          <p:cNvPr id="51" name="Text 20"/>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52" name="Text 21"/>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5</a:t>
            </a:r>
            <a:endParaRPr lang="en-US" sz="900" b="0" strike="noStrike" spc="-1">
              <a:solidFill>
                <a:srgbClr val="000000"/>
              </a:solidFill>
              <a:latin typeface="Arial"/>
            </a:endParaRPr>
          </a:p>
        </p:txBody>
      </p:sp>
      <p:sp>
        <p:nvSpPr>
          <p:cNvPr id="53" name="TextBox 52"/>
          <p:cNvSpPr txBox="1"/>
          <p:nvPr/>
        </p:nvSpPr>
        <p:spPr>
          <a:xfrm>
            <a:off x="457200" y="5532120"/>
            <a:ext cx="11274552" cy="365760"/>
          </a:xfrm>
          <a:prstGeom prst="rect">
            <a:avLst/>
          </a:prstGeom>
          <a:noFill/>
        </p:spPr>
        <p:txBody>
          <a:bodyPr wrap="square" lIns="0" rIns="0" tIns="0" bIns="0">
            <a:spAutoFit/>
          </a:bodyPr>
          <a:lstStyle/>
          <a:p>
            <a:r>
              <a:rPr sz="1100" b="0">
                <a:solidFill>
                  <a:srgbClr val="64748B"/>
                </a:solidFill>
                <a:latin typeface="Arial"/>
              </a:rPr>
              <a:t>Người dùng hằng ngày: KTV Phục hồi chức năng vận hành đo; Bác sĩ chỉ định &amp; đọc/ký kết quả.</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54" name="Image 0" descr="preencoded.png"/>
          <p:cNvPicPr/>
          <p:nvPr/>
        </p:nvPicPr>
        <p:blipFill>
          <a:blip r:embed="rId3"/>
          <a:stretch/>
        </p:blipFill>
        <p:spPr>
          <a:xfrm>
            <a:off x="604440" y="558720"/>
            <a:ext cx="271800" cy="271800"/>
          </a:xfrm>
          <a:prstGeom prst="rect">
            <a:avLst/>
          </a:prstGeom>
          <a:ln w="0">
            <a:noFill/>
          </a:ln>
        </p:spPr>
      </p:pic>
      <p:sp>
        <p:nvSpPr>
          <p:cNvPr id="55"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BỐI CẢNH &amp; KHÁC BIỆT</a:t>
            </a:r>
            <a:endParaRPr lang="en-US" sz="1200" b="0" strike="noStrike" spc="-1">
              <a:solidFill>
                <a:srgbClr val="000000"/>
              </a:solidFill>
              <a:latin typeface="Arial"/>
            </a:endParaRPr>
          </a:p>
        </p:txBody>
      </p:sp>
      <p:sp>
        <p:nvSpPr>
          <p:cNvPr id="56"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Motion Lab đã có công cụ đo sức cơ — MFCV bổ sung, không trùng lặp</a:t>
            </a:r>
            <a:endParaRPr lang="en-US" sz="2400" b="0" strike="noStrike" spc="-1">
              <a:solidFill>
                <a:srgbClr val="000000"/>
              </a:solidFill>
              <a:latin typeface="Arial"/>
            </a:endParaRPr>
          </a:p>
        </p:txBody>
      </p:sp>
      <p:sp>
        <p:nvSpPr>
          <p:cNvPr id="82" name="Text 23"/>
          <p:cNvSpPr/>
          <p:nvPr/>
        </p:nvSpPr>
        <p:spPr>
          <a:xfrm>
            <a:off x="457200" y="5230440"/>
            <a:ext cx="112770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050" b="1" i="1" strike="noStrike" spc="-1">
                <a:solidFill>
                  <a:srgbClr val="64748B"/>
                </a:solidFill>
                <a:latin typeface="Arial"/>
                <a:ea typeface="Arial"/>
              </a:rPr>
              <a:t>Về David Health: </a:t>
            </a:r>
            <a:r>
              <a:rPr lang="en-US" sz="1050" b="0" i="1" strike="noStrike" spc="-1">
                <a:solidFill>
                  <a:srgbClr val="64748B"/>
                </a:solidFill>
                <a:latin typeface="Arial"/>
                <a:ea typeface="Arial"/>
              </a:rPr>
              <a:t>hệ thống hiện dùng EMG chủ yếu để kiểm định trên máy tập cố định, không phải dải cảm biến sEMG đeo liên tục trong buổi tập. Đề xuất này không phụ thuộc thiết bị David Health và phục vụ nhóm bài toán khác.</a:t>
            </a:r>
            <a:endParaRPr lang="en-US" sz="1050" b="0" strike="noStrike" spc="-1">
              <a:solidFill>
                <a:srgbClr val="000000"/>
              </a:solidFill>
              <a:latin typeface="Arial"/>
            </a:endParaRPr>
          </a:p>
        </p:txBody>
      </p:sp>
      <p:sp>
        <p:nvSpPr>
          <p:cNvPr id="83" name="Text 24"/>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84" name="Text 25"/>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6</a:t>
            </a:r>
            <a:endParaRPr lang="en-US" sz="900" b="0" strike="noStrike" spc="-1">
              <a:solidFill>
                <a:srgbClr val="000000"/>
              </a:solidFill>
              <a:latin typeface="Arial"/>
            </a:endParaRPr>
          </a:p>
        </p:txBody>
      </p:sp>
      <p:graphicFrame>
        <p:nvGraphicFramePr>
          <p:cNvPr id="85" name="Table 84"/>
          <p:cNvGraphicFramePr>
            <a:graphicFrameLocks noGrp="1"/>
          </p:cNvGraphicFramePr>
          <p:nvPr/>
        </p:nvGraphicFramePr>
        <p:xfrm>
          <a:off x="457200" y="1645920"/>
          <a:ext cx="11274552" cy="2834640"/>
        </p:xfrm>
        <a:graphic>
          <a:graphicData uri="http://schemas.openxmlformats.org/drawingml/2006/table">
            <a:tbl>
              <a:tblPr>
                <a:tableStyleId>{5C22544A-7EE6-4342-B048-85BDC9FD1C3A}</a:tableStyleId>
              </a:tblPr>
              <a:tblGrid>
                <a:gridCol w="3017520"/>
                <a:gridCol w="4114800"/>
                <a:gridCol w="4142232"/>
              </a:tblGrid>
              <a:tr h="566928">
                <a:tc>
                  <a:txBody>
                    <a:bodyPr/>
                    <a:lstStyle/>
                    <a:p>
                      <a:r>
                        <a:rPr sz="1150" b="1">
                          <a:solidFill>
                            <a:srgbClr val="FFFFFF"/>
                          </a:solidFill>
                          <a:latin typeface="Arial"/>
                        </a:rPr>
                        <a:t>CÔNG CỤ HIỆN CÓ</a:t>
                      </a:r>
                    </a:p>
                  </a:txBody>
                  <a:tcPr anchor="ctr" marL="128016" marR="128016" marT="45720" marB="45720">
                    <a:solidFill>
                      <a:srgbClr val="028090"/>
                    </a:solidFill>
                  </a:tcPr>
                </a:tc>
                <a:tc>
                  <a:txBody>
                    <a:bodyPr/>
                    <a:lstStyle/>
                    <a:p>
                      <a:r>
                        <a:rPr sz="1150" b="1">
                          <a:solidFill>
                            <a:srgbClr val="FFFFFF"/>
                          </a:solidFill>
                          <a:latin typeface="Arial"/>
                        </a:rPr>
                        <a:t>ĐO GÌ</a:t>
                      </a:r>
                    </a:p>
                  </a:txBody>
                  <a:tcPr anchor="ctr" marL="128016" marR="128016" marT="45720" marB="45720">
                    <a:solidFill>
                      <a:srgbClr val="028090"/>
                    </a:solidFill>
                  </a:tcPr>
                </a:tc>
                <a:tc>
                  <a:txBody>
                    <a:bodyPr/>
                    <a:lstStyle/>
                    <a:p>
                      <a:r>
                        <a:rPr sz="1150" b="1">
                          <a:solidFill>
                            <a:srgbClr val="FFFFFF"/>
                          </a:solidFill>
                          <a:latin typeface="Arial"/>
                        </a:rPr>
                        <a:t>MFCV BỔ SUNG</a:t>
                      </a:r>
                    </a:p>
                  </a:txBody>
                  <a:tcPr anchor="ctr" marL="128016" marR="128016" marT="45720" marB="45720">
                    <a:solidFill>
                      <a:srgbClr val="028090"/>
                    </a:solidFill>
                  </a:tcPr>
                </a:tc>
              </a:tr>
              <a:tr h="566928">
                <a:tc>
                  <a:txBody>
                    <a:bodyPr/>
                    <a:lstStyle/>
                    <a:p>
                      <a:r>
                        <a:rPr sz="1150" b="1">
                          <a:solidFill>
                            <a:srgbClr val="1E293B"/>
                          </a:solidFill>
                          <a:latin typeface="Arial"/>
                        </a:rPr>
                        <a:t>Compass 600 / David Health</a:t>
                      </a:r>
                    </a:p>
                  </a:txBody>
                  <a:tcPr anchor="ctr" marL="128016" marR="128016" marT="45720" marB="45720">
                    <a:solidFill>
                      <a:srgbClr val="FFFFFF"/>
                    </a:solidFill>
                  </a:tcPr>
                </a:tc>
                <a:tc>
                  <a:txBody>
                    <a:bodyPr/>
                    <a:lstStyle/>
                    <a:p>
                      <a:r>
                        <a:rPr sz="1150" b="0">
                          <a:solidFill>
                            <a:srgbClr val="1E293B"/>
                          </a:solidFill>
                          <a:latin typeface="Arial"/>
                        </a:rPr>
                        <a:t>Sức mạnh, sức bền cơ — trực tiếp, dễ diễn giải</a:t>
                      </a:r>
                    </a:p>
                  </a:txBody>
                  <a:tcPr anchor="ctr" marL="128016" marR="128016" marT="45720" marB="45720">
                    <a:solidFill>
                      <a:srgbClr val="FFFFFF"/>
                    </a:solidFill>
                  </a:tcPr>
                </a:tc>
                <a:tc>
                  <a:txBody>
                    <a:bodyPr/>
                    <a:lstStyle/>
                    <a:p>
                      <a:r>
                        <a:rPr sz="1150" b="0">
                          <a:solidFill>
                            <a:srgbClr val="1E293B"/>
                          </a:solidFill>
                          <a:latin typeface="Arial"/>
                        </a:rPr>
                        <a:t>—</a:t>
                      </a:r>
                    </a:p>
                  </a:txBody>
                  <a:tcPr anchor="ctr" marL="128016" marR="128016" marT="45720" marB="45720">
                    <a:solidFill>
                      <a:srgbClr val="FFFFFF"/>
                    </a:solidFill>
                  </a:tcPr>
                </a:tc>
              </a:tr>
              <a:tr h="566928">
                <a:tc>
                  <a:txBody>
                    <a:bodyPr/>
                    <a:lstStyle/>
                    <a:p>
                      <a:r>
                        <a:rPr sz="1150" b="1">
                          <a:solidFill>
                            <a:srgbClr val="1E293B"/>
                          </a:solidFill>
                          <a:latin typeface="Arial"/>
                        </a:rPr>
                        <a:t>VICON Valkyrie</a:t>
                      </a:r>
                    </a:p>
                  </a:txBody>
                  <a:tcPr anchor="ctr" marL="128016" marR="128016" marT="45720" marB="45720">
                    <a:solidFill>
                      <a:srgbClr val="F2F7F8"/>
                    </a:solidFill>
                  </a:tcPr>
                </a:tc>
                <a:tc>
                  <a:txBody>
                    <a:bodyPr/>
                    <a:lstStyle/>
                    <a:p>
                      <a:r>
                        <a:rPr sz="1150" b="0">
                          <a:solidFill>
                            <a:srgbClr val="1E293B"/>
                          </a:solidFill>
                          <a:latin typeface="Arial"/>
                        </a:rPr>
                        <a:t>Động học / động lực học vận động</a:t>
                      </a:r>
                    </a:p>
                  </a:txBody>
                  <a:tcPr anchor="ctr" marL="128016" marR="128016" marT="45720" marB="45720">
                    <a:solidFill>
                      <a:srgbClr val="F2F7F8"/>
                    </a:solidFill>
                  </a:tcPr>
                </a:tc>
                <a:tc>
                  <a:txBody>
                    <a:bodyPr/>
                    <a:lstStyle/>
                    <a:p>
                      <a:r>
                        <a:rPr sz="1150" b="0">
                          <a:solidFill>
                            <a:srgbClr val="1E293B"/>
                          </a:solidFill>
                          <a:latin typeface="Arial"/>
                        </a:rPr>
                        <a:t>—</a:t>
                      </a:r>
                    </a:p>
                  </a:txBody>
                  <a:tcPr anchor="ctr" marL="128016" marR="128016" marT="45720" marB="45720">
                    <a:solidFill>
                      <a:srgbClr val="F2F7F8"/>
                    </a:solidFill>
                  </a:tcPr>
                </a:tc>
              </a:tr>
              <a:tr h="566928">
                <a:tc>
                  <a:txBody>
                    <a:bodyPr/>
                    <a:lstStyle/>
                    <a:p>
                      <a:r>
                        <a:rPr sz="1150" b="1">
                          <a:solidFill>
                            <a:srgbClr val="1E293B"/>
                          </a:solidFill>
                          <a:latin typeface="Arial"/>
                        </a:rPr>
                        <a:t>Noraxon + myoRESEARCH</a:t>
                      </a:r>
                    </a:p>
                  </a:txBody>
                  <a:tcPr anchor="ctr" marL="128016" marR="128016" marT="45720" marB="45720">
                    <a:solidFill>
                      <a:srgbClr val="FFFFFF"/>
                    </a:solidFill>
                  </a:tcPr>
                </a:tc>
                <a:tc>
                  <a:txBody>
                    <a:bodyPr/>
                    <a:lstStyle/>
                    <a:p>
                      <a:r>
                        <a:rPr sz="1150" b="0">
                          <a:solidFill>
                            <a:srgbClr val="1E293B"/>
                          </a:solidFill>
                          <a:latin typeface="Arial"/>
                        </a:rPr>
                        <a:t>Biên độ / kích hoạt cơ theo vị trí</a:t>
                      </a:r>
                    </a:p>
                  </a:txBody>
                  <a:tcPr anchor="ctr" marL="128016" marR="128016" marT="45720" marB="45720">
                    <a:solidFill>
                      <a:srgbClr val="FFFFFF"/>
                    </a:solidFill>
                  </a:tcPr>
                </a:tc>
                <a:tc>
                  <a:txBody>
                    <a:bodyPr/>
                    <a:lstStyle/>
                    <a:p>
                      <a:r>
                        <a:rPr sz="1150" b="0">
                          <a:solidFill>
                            <a:srgbClr val="1E293B"/>
                          </a:solidFill>
                          <a:latin typeface="Arial"/>
                        </a:rPr>
                        <a:t>Chạy trên cùng dữ liệu này</a:t>
                      </a:r>
                    </a:p>
                  </a:txBody>
                  <a:tcPr anchor="ctr" marL="128016" marR="128016" marT="45720" marB="45720">
                    <a:solidFill>
                      <a:srgbClr val="FFFFFF"/>
                    </a:solidFill>
                  </a:tcPr>
                </a:tc>
              </a:tr>
              <a:tr h="566928">
                <a:tc>
                  <a:txBody>
                    <a:bodyPr/>
                    <a:lstStyle/>
                    <a:p>
                      <a:r>
                        <a:rPr sz="1150" b="1">
                          <a:solidFill>
                            <a:srgbClr val="1E293B"/>
                          </a:solidFill>
                          <a:latin typeface="Arial"/>
                        </a:rPr>
                        <a:t>MFCV (lớp AI)</a:t>
                      </a:r>
                    </a:p>
                  </a:txBody>
                  <a:tcPr anchor="ctr" marL="128016" marR="128016" marT="45720" marB="45720">
                    <a:solidFill>
                      <a:srgbClr val="F2F7F8"/>
                    </a:solidFill>
                  </a:tcPr>
                </a:tc>
                <a:tc>
                  <a:txBody>
                    <a:bodyPr/>
                    <a:lstStyle/>
                    <a:p>
                      <a:r>
                        <a:rPr sz="1150" b="0">
                          <a:solidFill>
                            <a:srgbClr val="1E293B"/>
                          </a:solidFill>
                          <a:latin typeface="Arial"/>
                        </a:rPr>
                        <a:t>Chỉ dấu sinh lý màng sợi cơ</a:t>
                      </a:r>
                    </a:p>
                  </a:txBody>
                  <a:tcPr anchor="ctr" marL="128016" marR="128016" marT="45720" marB="45720">
                    <a:solidFill>
                      <a:srgbClr val="F2F7F8"/>
                    </a:solidFill>
                  </a:tcPr>
                </a:tc>
                <a:tc>
                  <a:txBody>
                    <a:bodyPr/>
                    <a:lstStyle/>
                    <a:p>
                      <a:r>
                        <a:rPr sz="1150" b="0">
                          <a:solidFill>
                            <a:srgbClr val="1E293B"/>
                          </a:solidFill>
                          <a:latin typeface="Arial"/>
                        </a:rPr>
                        <a:t>Phát hiện mỏi sớm hơn thời điểm sức cơ giảm rõ</a:t>
                      </a:r>
                    </a:p>
                  </a:txBody>
                  <a:tcPr anchor="ctr" marL="128016" marR="128016" marT="45720" marB="45720">
                    <a:solidFill>
                      <a:srgbClr val="F2F7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86" name="Image 0" descr="preencoded.png"/>
          <p:cNvPicPr/>
          <p:nvPr/>
        </p:nvPicPr>
        <p:blipFill>
          <a:blip r:embed="rId3"/>
          <a:stretch/>
        </p:blipFill>
        <p:spPr>
          <a:xfrm>
            <a:off x="604440" y="558720"/>
            <a:ext cx="271800" cy="271800"/>
          </a:xfrm>
          <a:prstGeom prst="rect">
            <a:avLst/>
          </a:prstGeom>
          <a:ln w="0">
            <a:noFill/>
          </a:ln>
        </p:spPr>
      </p:pic>
      <p:sp>
        <p:nvSpPr>
          <p:cNvPr id="87"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LỢI ÍCH HỆ THỐNG</a:t>
            </a:r>
            <a:endParaRPr lang="en-US" sz="1200" b="0" strike="noStrike" spc="-1">
              <a:solidFill>
                <a:srgbClr val="000000"/>
              </a:solidFill>
              <a:latin typeface="Arial"/>
            </a:endParaRPr>
          </a:p>
        </p:txBody>
      </p:sp>
      <p:sp>
        <p:nvSpPr>
          <p:cNvPr id="88" name="Text 2"/>
          <p:cNvSpPr/>
          <p:nvPr/>
        </p:nvSpPr>
        <p:spPr>
          <a:xfrm>
            <a:off x="1207080" y="631080"/>
            <a:ext cx="704052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Tách rõ: bằng chứng y khoa và giả thuyết cần thí điểm</a:t>
            </a:r>
            <a:endParaRPr lang="en-US" sz="2400" b="0" strike="noStrike" spc="-1">
              <a:solidFill>
                <a:srgbClr val="000000"/>
              </a:solidFill>
              <a:latin typeface="Arial"/>
            </a:endParaRPr>
          </a:p>
        </p:txBody>
      </p:sp>
      <p:sp>
        <p:nvSpPr>
          <p:cNvPr id="89" name="Shape 3"/>
          <p:cNvSpPr/>
          <p:nvPr/>
        </p:nvSpPr>
        <p:spPr>
          <a:xfrm>
            <a:off x="8991360" y="411480"/>
            <a:ext cx="2742840" cy="868320"/>
          </a:xfrm>
          <a:prstGeom prst="roundRect">
            <a:avLst>
              <a:gd name="adj" fmla="val 10526"/>
            </a:avLst>
          </a:prstGeom>
          <a:solidFill>
            <a:srgbClr val="0B2A4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0" name="Text 4"/>
          <p:cNvSpPr/>
          <p:nvPr/>
        </p:nvSpPr>
        <p:spPr>
          <a:xfrm>
            <a:off x="8991360" y="484560"/>
            <a:ext cx="2742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strike="noStrike" spc="-1">
                <a:solidFill>
                  <a:srgbClr val="9BE7DC"/>
                </a:solidFill>
                <a:latin typeface="Arial"/>
                <a:ea typeface="Arial"/>
              </a:rPr>
              <a:t>F1 = 95,12%</a:t>
            </a:r>
            <a:endParaRPr lang="en-US" sz="2400" b="0" strike="noStrike" spc="-1">
              <a:solidFill>
                <a:srgbClr val="000000"/>
              </a:solidFill>
              <a:latin typeface="Arial"/>
            </a:endParaRPr>
          </a:p>
        </p:txBody>
      </p:sp>
      <p:sp>
        <p:nvSpPr>
          <p:cNvPr id="91" name="Text 5"/>
          <p:cNvSpPr/>
          <p:nvPr/>
        </p:nvSpPr>
        <p:spPr>
          <a:xfrm>
            <a:off x="8991360" y="941760"/>
            <a:ext cx="27428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strike="noStrike" spc="-1">
                <a:solidFill>
                  <a:srgbClr val="FFFFFF"/>
                </a:solidFill>
                <a:latin typeface="Arial"/>
                <a:ea typeface="Arial"/>
              </a:rPr>
              <a:t>Mô hình KNN · dữ liệu Springer 2025</a:t>
            </a:r>
            <a:endParaRPr lang="en-US" sz="1000" b="0" strike="noStrike" spc="-1">
              <a:solidFill>
                <a:srgbClr val="000000"/>
              </a:solidFill>
              <a:latin typeface="Arial"/>
            </a:endParaRPr>
          </a:p>
        </p:txBody>
      </p:sp>
      <p:sp>
        <p:nvSpPr>
          <p:cNvPr id="92" name="Shape 6"/>
          <p:cNvSpPr/>
          <p:nvPr/>
        </p:nvSpPr>
        <p:spPr>
          <a:xfrm>
            <a:off x="457200" y="1828800"/>
            <a:ext cx="5455440" cy="3977280"/>
          </a:xfrm>
          <a:prstGeom prst="roundRect">
            <a:avLst>
              <a:gd name="adj" fmla="val 2759"/>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93" name="Shape 7"/>
          <p:cNvSpPr/>
          <p:nvPr/>
        </p:nvSpPr>
        <p:spPr>
          <a:xfrm>
            <a:off x="731520" y="2103120"/>
            <a:ext cx="502560" cy="50256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94" name="Image 1" descr="preencoded.png"/>
          <p:cNvPicPr/>
          <p:nvPr/>
        </p:nvPicPr>
        <p:blipFill>
          <a:blip r:embed="rId4"/>
          <a:stretch/>
        </p:blipFill>
        <p:spPr>
          <a:xfrm>
            <a:off x="862200" y="2233800"/>
            <a:ext cx="241200" cy="241200"/>
          </a:xfrm>
          <a:prstGeom prst="rect">
            <a:avLst/>
          </a:prstGeom>
          <a:ln w="0">
            <a:noFill/>
          </a:ln>
        </p:spPr>
      </p:pic>
      <p:sp>
        <p:nvSpPr>
          <p:cNvPr id="95" name="Text 8"/>
          <p:cNvSpPr/>
          <p:nvPr/>
        </p:nvSpPr>
        <p:spPr>
          <a:xfrm>
            <a:off x="1371600" y="2194560"/>
            <a:ext cx="4266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sz="1600" b="1">
                <a:solidFill>
                  <a:srgbClr val="028090"/>
                </a:solidFill>
                <a:latin typeface="Arial"/>
              </a:rPr>
              <a:t>Đã có bằng chứng y khoa</a:t>
            </a:r>
            <a:endParaRPr lang="en-US" sz="1600" b="0" strike="noStrike" spc="-1">
              <a:solidFill>
                <a:srgbClr val="000000"/>
              </a:solidFill>
              <a:latin typeface="Arial"/>
            </a:endParaRPr>
          </a:p>
        </p:txBody>
      </p:sp>
      <p:sp>
        <p:nvSpPr>
          <p:cNvPr id="96" name="Shape 9"/>
          <p:cNvSpPr/>
          <p:nvPr/>
        </p:nvSpPr>
        <p:spPr>
          <a:xfrm>
            <a:off x="777240" y="293508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97" name="Text 10"/>
          <p:cNvSpPr/>
          <p:nvPr/>
        </p:nvSpPr>
        <p:spPr>
          <a:xfrm>
            <a:off x="1051560" y="280728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sz="1250" b="1">
                <a:solidFill>
                  <a:srgbClr val="1E293B"/>
                </a:solidFill>
                <a:latin typeface="Arial"/>
              </a:rPr>
              <a:t>MFCV giảm theo mỏi — </a:t>
            </a:r>
            <a:r>
              <a:rPr sz="1250" b="0">
                <a:solidFill>
                  <a:srgbClr val="64748B"/>
                </a:solidFill>
                <a:latin typeface="Arial"/>
              </a:rPr>
              <a:t>cơ chế sinh lý đã được y văn xác lập.</a:t>
            </a:r>
            <a:endParaRPr lang="en-US" sz="1250" b="0" strike="noStrike" spc="-1">
              <a:solidFill>
                <a:srgbClr val="000000"/>
              </a:solidFill>
              <a:latin typeface="Arial"/>
            </a:endParaRPr>
          </a:p>
        </p:txBody>
      </p:sp>
      <p:sp>
        <p:nvSpPr>
          <p:cNvPr id="98" name="Shape 11"/>
          <p:cNvSpPr/>
          <p:nvPr/>
        </p:nvSpPr>
        <p:spPr>
          <a:xfrm>
            <a:off x="777240" y="392292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99" name="Text 12"/>
          <p:cNvSpPr/>
          <p:nvPr/>
        </p:nvSpPr>
        <p:spPr>
          <a:xfrm>
            <a:off x="1051560" y="379476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sz="1250" b="1">
                <a:solidFill>
                  <a:srgbClr val="1E293B"/>
                </a:solidFill>
                <a:latin typeface="Arial"/>
              </a:rPr>
              <a:t>Chỉ số phổ sEMG — </a:t>
            </a:r>
            <a:r>
              <a:rPr sz="1250" b="0">
                <a:solidFill>
                  <a:srgbClr val="64748B"/>
                </a:solidFill>
                <a:latin typeface="Arial"/>
              </a:rPr>
              <a:t>median frequency, RMS là chỉ báo mỏi kinh điển.</a:t>
            </a:r>
            <a:endParaRPr lang="en-US" sz="1250" b="0" strike="noStrike" spc="-1">
              <a:solidFill>
                <a:srgbClr val="000000"/>
              </a:solidFill>
              <a:latin typeface="Arial"/>
            </a:endParaRPr>
          </a:p>
        </p:txBody>
      </p:sp>
      <p:sp>
        <p:nvSpPr>
          <p:cNvPr id="100" name="Shape 13"/>
          <p:cNvSpPr/>
          <p:nvPr/>
        </p:nvSpPr>
        <p:spPr>
          <a:xfrm>
            <a:off x="777240" y="491040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101" name="Text 14"/>
          <p:cNvSpPr/>
          <p:nvPr/>
        </p:nvSpPr>
        <p:spPr>
          <a:xfrm>
            <a:off x="1051560" y="478224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sz="1250" b="1">
                <a:solidFill>
                  <a:srgbClr val="1E293B"/>
                </a:solidFill>
                <a:latin typeface="Arial"/>
              </a:rPr>
              <a:t>Thuật toán đã kiểm chứng — </a:t>
            </a:r>
            <a:r>
              <a:rPr sz="1250" b="0">
                <a:solidFill>
                  <a:srgbClr val="64748B"/>
                </a:solidFill>
                <a:latin typeface="Arial"/>
              </a:rPr>
              <a:t>F1 = 95,12% trên dữ liệu Springer 2025 (điều kiện phòng thí nghiệm).</a:t>
            </a:r>
            <a:endParaRPr lang="en-US" sz="1250" b="0" strike="noStrike" spc="-1">
              <a:solidFill>
                <a:srgbClr val="000000"/>
              </a:solidFill>
              <a:latin typeface="Arial"/>
            </a:endParaRPr>
          </a:p>
        </p:txBody>
      </p:sp>
      <p:sp>
        <p:nvSpPr>
          <p:cNvPr id="102" name="Shape 15"/>
          <p:cNvSpPr/>
          <p:nvPr/>
        </p:nvSpPr>
        <p:spPr>
          <a:xfrm>
            <a:off x="6278760" y="1828800"/>
            <a:ext cx="5455440" cy="3977280"/>
          </a:xfrm>
          <a:prstGeom prst="roundRect">
            <a:avLst>
              <a:gd name="adj" fmla="val 2759"/>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03" name="Shape 16"/>
          <p:cNvSpPr/>
          <p:nvPr/>
        </p:nvSpPr>
        <p:spPr>
          <a:xfrm>
            <a:off x="6553080" y="2103120"/>
            <a:ext cx="502560" cy="50256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04" name="Image 2" descr="preencoded.png"/>
          <p:cNvPicPr/>
          <p:nvPr/>
        </p:nvPicPr>
        <p:blipFill>
          <a:blip r:embed="rId5"/>
          <a:stretch/>
        </p:blipFill>
        <p:spPr>
          <a:xfrm>
            <a:off x="6683760" y="2233800"/>
            <a:ext cx="241200" cy="241200"/>
          </a:xfrm>
          <a:prstGeom prst="rect">
            <a:avLst/>
          </a:prstGeom>
          <a:ln w="0">
            <a:noFill/>
          </a:ln>
        </p:spPr>
      </p:pic>
      <p:sp>
        <p:nvSpPr>
          <p:cNvPr id="105" name="Text 17"/>
          <p:cNvSpPr/>
          <p:nvPr/>
        </p:nvSpPr>
        <p:spPr>
          <a:xfrm>
            <a:off x="7193160" y="2194560"/>
            <a:ext cx="4266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sz="1600" b="1">
                <a:solidFill>
                  <a:srgbClr val="64748B"/>
                </a:solidFill>
                <a:latin typeface="Arial"/>
              </a:rPr>
              <a:t>Giả thuyết cần thí điểm</a:t>
            </a:r>
            <a:endParaRPr lang="en-US" sz="1600" b="0" strike="noStrike" spc="-1">
              <a:solidFill>
                <a:srgbClr val="000000"/>
              </a:solidFill>
              <a:latin typeface="Arial"/>
            </a:endParaRPr>
          </a:p>
        </p:txBody>
      </p:sp>
      <p:sp>
        <p:nvSpPr>
          <p:cNvPr id="106" name="Shape 18"/>
          <p:cNvSpPr/>
          <p:nvPr/>
        </p:nvSpPr>
        <p:spPr>
          <a:xfrm>
            <a:off x="6598800" y="293508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107" name="Text 19"/>
          <p:cNvSpPr/>
          <p:nvPr/>
        </p:nvSpPr>
        <p:spPr>
          <a:xfrm>
            <a:off x="6873120" y="280728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sz="1250" b="1">
                <a:solidFill>
                  <a:srgbClr val="1E293B"/>
                </a:solidFill>
                <a:latin typeface="Arial"/>
              </a:rPr>
              <a:t>Đổi thành quyết định lâm sàng — </a:t>
            </a:r>
            <a:r>
              <a:rPr sz="1250" b="0">
                <a:solidFill>
                  <a:srgbClr val="64748B"/>
                </a:solidFill>
                <a:latin typeface="Arial"/>
              </a:rPr>
              <a:t>giữ/tăng tải theo mức mỏi thực tế, cần thí điểm xác nhận.</a:t>
            </a:r>
            <a:endParaRPr lang="en-US" sz="1250" b="0" strike="noStrike" spc="-1">
              <a:solidFill>
                <a:srgbClr val="000000"/>
              </a:solidFill>
              <a:latin typeface="Arial"/>
            </a:endParaRPr>
          </a:p>
        </p:txBody>
      </p:sp>
      <p:sp>
        <p:nvSpPr>
          <p:cNvPr id="108" name="Shape 20"/>
          <p:cNvSpPr/>
          <p:nvPr/>
        </p:nvSpPr>
        <p:spPr>
          <a:xfrm>
            <a:off x="6598800" y="392292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109" name="Text 21"/>
          <p:cNvSpPr/>
          <p:nvPr/>
        </p:nvSpPr>
        <p:spPr>
          <a:xfrm>
            <a:off x="6873120" y="379476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sz="1250" b="1">
                <a:solidFill>
                  <a:srgbClr val="1E293B"/>
                </a:solidFill>
                <a:latin typeface="Arial"/>
              </a:rPr>
              <a:t>Phát hiện mỏi sớm hơn — </a:t>
            </a:r>
            <a:r>
              <a:rPr sz="1250" b="0">
                <a:solidFill>
                  <a:srgbClr val="64748B"/>
                </a:solidFill>
                <a:latin typeface="Arial"/>
              </a:rPr>
              <a:t>trước thời điểm sức cơ giảm rõ, trên BN Vinmec.</a:t>
            </a:r>
            <a:endParaRPr lang="en-US" sz="1250" b="0" strike="noStrike" spc="-1">
              <a:solidFill>
                <a:srgbClr val="000000"/>
              </a:solidFill>
              <a:latin typeface="Arial"/>
            </a:endParaRPr>
          </a:p>
        </p:txBody>
      </p:sp>
      <p:sp>
        <p:nvSpPr>
          <p:cNvPr id="110" name="Shape 22"/>
          <p:cNvSpPr/>
          <p:nvPr/>
        </p:nvSpPr>
        <p:spPr>
          <a:xfrm>
            <a:off x="6598800" y="4910400"/>
            <a:ext cx="109440" cy="1094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strike="noStrike" spc="-1">
              <a:solidFill>
                <a:srgbClr val="FFFFFF"/>
              </a:solidFill>
              <a:latin typeface="Arial"/>
            </a:endParaRPr>
          </a:p>
        </p:txBody>
      </p:sp>
      <p:sp>
        <p:nvSpPr>
          <p:cNvPr id="111" name="Text 23"/>
          <p:cNvSpPr/>
          <p:nvPr/>
        </p:nvSpPr>
        <p:spPr>
          <a:xfrm>
            <a:off x="6873120" y="4782240"/>
            <a:ext cx="4541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sz="1250" b="1">
                <a:solidFill>
                  <a:srgbClr val="1E293B"/>
                </a:solidFill>
                <a:latin typeface="Arial"/>
              </a:rPr>
              <a:t>Cá thể hóa &amp; phòng ngừa tái chấn thương — </a:t>
            </a:r>
            <a:r>
              <a:rPr sz="1250" b="0">
                <a:solidFill>
                  <a:srgbClr val="64748B"/>
                </a:solidFill>
                <a:latin typeface="Arial"/>
              </a:rPr>
              <a:t>mục tiêu đo lường trong thí điểm.</a:t>
            </a:r>
            <a:endParaRPr lang="en-US" sz="1250" b="0" strike="noStrike" spc="-1">
              <a:solidFill>
                <a:srgbClr val="000000"/>
              </a:solidFill>
              <a:latin typeface="Arial"/>
            </a:endParaRPr>
          </a:p>
        </p:txBody>
      </p:sp>
      <p:sp>
        <p:nvSpPr>
          <p:cNvPr id="112" name="Text 24"/>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113" name="Text 25"/>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8</a:t>
            </a:r>
            <a:endParaRPr lang="en-US" sz="900" b="0" strike="noStrike" spc="-1">
              <a:solidFill>
                <a:srgbClr val="000000"/>
              </a:solidFill>
              <a:latin typeface="Arial"/>
            </a:endParaRPr>
          </a:p>
        </p:txBody>
      </p:sp>
      <p:sp>
        <p:nvSpPr>
          <p:cNvPr id="114" name="TextBox 113"/>
          <p:cNvSpPr txBox="1"/>
          <p:nvPr/>
        </p:nvSpPr>
        <p:spPr>
          <a:xfrm>
            <a:off x="8988552" y="1325880"/>
            <a:ext cx="2743200" cy="566928"/>
          </a:xfrm>
          <a:prstGeom prst="rect">
            <a:avLst/>
          </a:prstGeom>
          <a:noFill/>
        </p:spPr>
        <p:txBody>
          <a:bodyPr wrap="square" lIns="0" rIns="0" tIns="0" bIns="0">
            <a:spAutoFit/>
          </a:bodyPr>
          <a:lstStyle/>
          <a:p>
            <a:r>
              <a:rPr sz="900" b="0">
                <a:solidFill>
                  <a:srgbClr val="64748B"/>
                </a:solidFill>
                <a:latin typeface="Arial"/>
              </a:rPr>
              <a:t>Chưa validate trên BN Vinmec — đây là mục tiêu thí điểm.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15" name="Image 0" descr="preencoded.png"/>
          <p:cNvPicPr/>
          <p:nvPr/>
        </p:nvPicPr>
        <p:blipFill>
          <a:blip r:embed="rId3"/>
          <a:stretch/>
        </p:blipFill>
        <p:spPr>
          <a:xfrm>
            <a:off x="604440" y="558720"/>
            <a:ext cx="271800" cy="271800"/>
          </a:xfrm>
          <a:prstGeom prst="rect">
            <a:avLst/>
          </a:prstGeom>
          <a:ln w="0">
            <a:noFill/>
          </a:ln>
        </p:spPr>
      </p:pic>
      <p:sp>
        <p:nvSpPr>
          <p:cNvPr id="116"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CHIẾN LƯỢC TÍCH HỢP PHẦN CỨNG</a:t>
            </a:r>
            <a:endParaRPr lang="en-US" sz="1200" b="0" strike="noStrike" spc="-1">
              <a:solidFill>
                <a:srgbClr val="000000"/>
              </a:solidFill>
              <a:latin typeface="Arial"/>
            </a:endParaRPr>
          </a:p>
        </p:txBody>
      </p:sp>
      <p:sp>
        <p:nvSpPr>
          <p:cNvPr id="117"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Tận dụng hạ tầng Motion Lab sẵn có tại Vinmec</a:t>
            </a:r>
            <a:endParaRPr lang="en-US" sz="2400" b="0" strike="noStrike" spc="-1">
              <a:solidFill>
                <a:srgbClr val="000000"/>
              </a:solidFill>
              <a:latin typeface="Arial"/>
            </a:endParaRPr>
          </a:p>
        </p:txBody>
      </p:sp>
      <p:sp>
        <p:nvSpPr>
          <p:cNvPr id="118" name="Text 3"/>
          <p:cNvSpPr/>
          <p:nvPr/>
        </p:nvSpPr>
        <p:spPr>
          <a:xfrm>
            <a:off x="457200" y="1508760"/>
            <a:ext cx="1127700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5000"/>
              </a:lnSpc>
              <a:tabLst>
                <a:tab pos="0" algn="l"/>
              </a:tabLst>
            </a:pPr>
            <a:r>
              <a:rPr lang="en-US" sz="1450" b="1" strike="noStrike" spc="-1">
                <a:solidFill>
                  <a:srgbClr val="028090"/>
                </a:solidFill>
                <a:latin typeface="Arial"/>
                <a:ea typeface="Arial"/>
              </a:rPr>
              <a:t>Motion Lab </a:t>
            </a:r>
            <a:r>
              <a:rPr lang="en-US" sz="1450" b="0" strike="noStrike" spc="-1">
                <a:solidFill>
                  <a:srgbClr val="1E293B"/>
                </a:solidFill>
                <a:latin typeface="Arial"/>
                <a:ea typeface="Arial"/>
              </a:rPr>
              <a:t>đã có hệ Noraxon Ultium (16 kênh EMG) cùng phần mềm myoRESEARCH, đồng bộ với camera 3D VICON Valkyrie. Hệ thống được định vị là </a:t>
            </a:r>
            <a:r>
              <a:rPr lang="en-US" sz="1450" b="1" strike="noStrike" spc="-1">
                <a:solidFill>
                  <a:srgbClr val="1E293B"/>
                </a:solidFill>
                <a:latin typeface="Arial"/>
                <a:ea typeface="Arial"/>
              </a:rPr>
              <a:t>lớp phân tích AI bổ sung</a:t>
            </a:r>
            <a:r>
              <a:rPr lang="en-US" sz="1450" b="0" strike="noStrike" spc="-1">
                <a:solidFill>
                  <a:srgbClr val="1E293B"/>
                </a:solidFill>
                <a:latin typeface="Arial"/>
                <a:ea typeface="Arial"/>
              </a:rPr>
              <a:t> cho dòng dữ liệu sEMG xuất từ myoRESEARCH — không phải hệ thu tín hiệu mới.</a:t>
            </a:r>
            <a:endParaRPr lang="en-US" sz="1450" b="0" strike="noStrike" spc="-1">
              <a:solidFill>
                <a:srgbClr val="000000"/>
              </a:solidFill>
              <a:latin typeface="Arial"/>
            </a:endParaRPr>
          </a:p>
        </p:txBody>
      </p:sp>
      <p:sp>
        <p:nvSpPr>
          <p:cNvPr id="119" name="Shape 4"/>
          <p:cNvSpPr/>
          <p:nvPr/>
        </p:nvSpPr>
        <p:spPr>
          <a:xfrm>
            <a:off x="457200" y="2468880"/>
            <a:ext cx="5455440" cy="2331360"/>
          </a:xfrm>
          <a:prstGeom prst="roundRect">
            <a:avLst>
              <a:gd name="adj" fmla="val 4706"/>
            </a:avLst>
          </a:prstGeom>
          <a:solidFill>
            <a:srgbClr val="EAF7F4"/>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0" name="Shape 5"/>
          <p:cNvSpPr/>
          <p:nvPr/>
        </p:nvSpPr>
        <p:spPr>
          <a:xfrm>
            <a:off x="731520" y="2743200"/>
            <a:ext cx="502560" cy="50256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21" name="Image 1" descr="preencoded.png"/>
          <p:cNvPicPr/>
          <p:nvPr/>
        </p:nvPicPr>
        <p:blipFill>
          <a:blip r:embed="rId4"/>
          <a:stretch/>
        </p:blipFill>
        <p:spPr>
          <a:xfrm>
            <a:off x="862200" y="2873880"/>
            <a:ext cx="241200" cy="241200"/>
          </a:xfrm>
          <a:prstGeom prst="rect">
            <a:avLst/>
          </a:prstGeom>
          <a:ln w="0">
            <a:noFill/>
          </a:ln>
        </p:spPr>
      </p:pic>
      <p:sp>
        <p:nvSpPr>
          <p:cNvPr id="122" name="Text 6"/>
          <p:cNvSpPr/>
          <p:nvPr/>
        </p:nvSpPr>
        <p:spPr>
          <a:xfrm>
            <a:off x="1371600" y="2816280"/>
            <a:ext cx="4266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E293B"/>
                </a:solidFill>
                <a:latin typeface="Arial"/>
                <a:ea typeface="Arial"/>
              </a:rPr>
              <a:t>Tần số lấy mẫu đã đáp ứng</a:t>
            </a:r>
            <a:endParaRPr lang="en-US" sz="1500" b="0" strike="noStrike" spc="-1">
              <a:solidFill>
                <a:srgbClr val="000000"/>
              </a:solidFill>
              <a:latin typeface="Arial"/>
            </a:endParaRPr>
          </a:p>
        </p:txBody>
      </p:sp>
      <p:sp>
        <p:nvSpPr>
          <p:cNvPr id="123" name="Text 7"/>
          <p:cNvSpPr/>
          <p:nvPr/>
        </p:nvSpPr>
        <p:spPr>
          <a:xfrm>
            <a:off x="731520" y="3429000"/>
            <a:ext cx="490680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5000"/>
              </a:lnSpc>
              <a:tabLst>
                <a:tab pos="0" algn="l"/>
              </a:tabLst>
            </a:pPr>
            <a:r>
              <a:rPr lang="en-US" sz="1250" b="0" strike="noStrike" spc="-1">
                <a:solidFill>
                  <a:srgbClr val="1E293B"/>
                </a:solidFill>
                <a:latin typeface="Arial"/>
                <a:ea typeface="Arial"/>
              </a:rPr>
              <a:t>Noraxon Ultium lấy mẫu 2000–4000 Hz — vượt yêu cầu ≥ 1000 Hz cho ước lượng MFCV. Phần thu tín hiệu &amp; tần số hoàn toàn đáp ứng; lớp AI chạy trực tiếp trên dữ liệu myoRESEARCH.</a:t>
            </a:r>
            <a:endParaRPr lang="en-US" sz="1250" b="0" strike="noStrike" spc="-1">
              <a:solidFill>
                <a:srgbClr val="000000"/>
              </a:solidFill>
              <a:latin typeface="Arial"/>
            </a:endParaRPr>
          </a:p>
        </p:txBody>
      </p:sp>
      <p:sp>
        <p:nvSpPr>
          <p:cNvPr id="124" name="Shape 8"/>
          <p:cNvSpPr/>
          <p:nvPr/>
        </p:nvSpPr>
        <p:spPr>
          <a:xfrm>
            <a:off x="6278760" y="2468880"/>
            <a:ext cx="5455440" cy="2331360"/>
          </a:xfrm>
          <a:prstGeom prst="roundRect">
            <a:avLst>
              <a:gd name="adj" fmla="val 4706"/>
            </a:avLst>
          </a:prstGeom>
          <a:solidFill>
            <a:srgbClr val="FDF2E3"/>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25" name="Shape 9"/>
          <p:cNvSpPr/>
          <p:nvPr/>
        </p:nvSpPr>
        <p:spPr>
          <a:xfrm>
            <a:off x="6553080" y="2743200"/>
            <a:ext cx="502560" cy="502560"/>
          </a:xfrm>
          <a:prstGeom prst="ellipse">
            <a:avLst/>
          </a:prstGeom>
          <a:solidFill>
            <a:srgbClr val="E08A1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26" name="Image 2" descr="preencoded.png"/>
          <p:cNvPicPr/>
          <p:nvPr/>
        </p:nvPicPr>
        <p:blipFill>
          <a:blip r:embed="rId5"/>
          <a:stretch/>
        </p:blipFill>
        <p:spPr>
          <a:xfrm>
            <a:off x="6683760" y="2873880"/>
            <a:ext cx="241200" cy="241200"/>
          </a:xfrm>
          <a:prstGeom prst="rect">
            <a:avLst/>
          </a:prstGeom>
          <a:ln w="0">
            <a:noFill/>
          </a:ln>
        </p:spPr>
      </p:pic>
      <p:sp>
        <p:nvSpPr>
          <p:cNvPr id="127" name="Text 10"/>
          <p:cNvSpPr/>
          <p:nvPr/>
        </p:nvSpPr>
        <p:spPr>
          <a:xfrm>
            <a:off x="7193160" y="2816280"/>
            <a:ext cx="4266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E293B"/>
                </a:solidFill>
                <a:latin typeface="Arial"/>
                <a:ea typeface="Arial"/>
              </a:rPr>
              <a:t>Cần xác nhận — dãy điện cực (Plan B)</a:t>
            </a:r>
            <a:endParaRPr lang="en-US" sz="1500" b="0" strike="noStrike" spc="-1">
              <a:solidFill>
                <a:srgbClr val="000000"/>
              </a:solidFill>
              <a:latin typeface="Arial"/>
            </a:endParaRPr>
          </a:p>
        </p:txBody>
      </p:sp>
      <p:sp>
        <p:nvSpPr>
          <p:cNvPr id="128" name="Text 11"/>
          <p:cNvSpPr/>
          <p:nvPr/>
        </p:nvSpPr>
        <p:spPr>
          <a:xfrm>
            <a:off x="6553080" y="3429000"/>
            <a:ext cx="4906800" cy="1234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5000"/>
              </a:lnSpc>
              <a:tabLst>
                <a:tab pos="0" algn="l"/>
              </a:tabLst>
            </a:pPr>
            <a:r>
              <a:rPr lang="en-US" sz="1250" b="0" strike="noStrike" spc="-1">
                <a:solidFill>
                  <a:srgbClr val="1E293B"/>
                </a:solidFill>
                <a:latin typeface="Arial"/>
                <a:ea typeface="Arial"/>
              </a:rPr>
              <a:t>MFCV cần dãy điện cực tuyến tính (nhiều điện cực dọc sợi cơ); cảm biến bipolar tiêu chuẩn chưa đo trực tiếp. Nếu Motion Lab chưa có array: bổ sung module điện cực dãy — đầu tư quy mô giới hạn.</a:t>
            </a:r>
            <a:endParaRPr lang="en-US" sz="1250" b="0" strike="noStrike" spc="-1">
              <a:solidFill>
                <a:srgbClr val="000000"/>
              </a:solidFill>
              <a:latin typeface="Arial"/>
            </a:endParaRPr>
          </a:p>
        </p:txBody>
      </p:sp>
      <p:sp>
        <p:nvSpPr>
          <p:cNvPr id="129" name="Shape 12"/>
          <p:cNvSpPr/>
          <p:nvPr/>
        </p:nvSpPr>
        <p:spPr>
          <a:xfrm>
            <a:off x="457200" y="5074920"/>
            <a:ext cx="11277000" cy="685440"/>
          </a:xfrm>
          <a:prstGeom prst="roundRect">
            <a:avLst>
              <a:gd name="adj" fmla="val 13333"/>
            </a:avLst>
          </a:prstGeom>
          <a:solidFill>
            <a:srgbClr val="0B2A4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30" name="Shape 13"/>
          <p:cNvSpPr/>
          <p:nvPr/>
        </p:nvSpPr>
        <p:spPr>
          <a:xfrm>
            <a:off x="640080" y="518472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31" name="Image 3" descr="preencoded.png"/>
          <p:cNvPicPr/>
          <p:nvPr/>
        </p:nvPicPr>
        <p:blipFill>
          <a:blip r:embed="rId6"/>
          <a:stretch/>
        </p:blipFill>
        <p:spPr>
          <a:xfrm>
            <a:off x="758880" y="5303520"/>
            <a:ext cx="219240" cy="219240"/>
          </a:xfrm>
          <a:prstGeom prst="rect">
            <a:avLst/>
          </a:prstGeom>
          <a:ln w="0">
            <a:noFill/>
          </a:ln>
        </p:spPr>
      </p:pic>
      <p:sp>
        <p:nvSpPr>
          <p:cNvPr id="132" name="Text 14"/>
          <p:cNvSpPr/>
          <p:nvPr/>
        </p:nvSpPr>
        <p:spPr>
          <a:xfrm>
            <a:off x="1234440" y="5074920"/>
            <a:ext cx="102711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5000"/>
              </a:lnSpc>
              <a:tabLst>
                <a:tab pos="0" algn="l"/>
              </a:tabLst>
            </a:pPr>
            <a:r>
              <a:rPr lang="en-US" sz="1300" b="0" strike="noStrike" spc="-1">
                <a:solidFill>
                  <a:srgbClr val="FFFFFF"/>
                </a:solidFill>
                <a:latin typeface="Arial"/>
                <a:ea typeface="Arial"/>
              </a:rPr>
              <a:t>Đề xuất: 01 buổi làm việc kỹ thuật với Motion Lab để xác nhận khả năng dãy điện cực tuyến tính cho MFCV (tần số lấy mẫu 2000–4000 Hz đã sẵn) trước khi chốt kế hoạch.</a:t>
            </a:r>
            <a:endParaRPr lang="en-US" sz="1300" b="0" strike="noStrike" spc="-1">
              <a:solidFill>
                <a:srgbClr val="000000"/>
              </a:solidFill>
              <a:latin typeface="Arial"/>
            </a:endParaRPr>
          </a:p>
        </p:txBody>
      </p:sp>
      <p:sp>
        <p:nvSpPr>
          <p:cNvPr id="133" name="Text 15"/>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134" name="Text 16"/>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7</a:t>
            </a:r>
            <a:endParaRPr lang="en-US" sz="9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36" name="Image 0" descr="preencoded.png"/>
          <p:cNvPicPr/>
          <p:nvPr/>
        </p:nvPicPr>
        <p:blipFill>
          <a:blip r:embed="rId3"/>
          <a:stretch/>
        </p:blipFill>
        <p:spPr>
          <a:xfrm>
            <a:off x="604440" y="558720"/>
            <a:ext cx="271800" cy="271800"/>
          </a:xfrm>
          <a:prstGeom prst="rect">
            <a:avLst/>
          </a:prstGeom>
          <a:ln w="0">
            <a:noFill/>
          </a:ln>
        </p:spPr>
      </p:pic>
      <p:sp>
        <p:nvSpPr>
          <p:cNvPr id="137"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KHẢ NĂNG ÁP DỤNG HẠ TẦNG VẬN HÀNH</a:t>
            </a:r>
            <a:endParaRPr lang="en-US" sz="1200" b="0" strike="noStrike" spc="-1">
              <a:solidFill>
                <a:srgbClr val="000000"/>
              </a:solidFill>
              <a:latin typeface="Arial"/>
            </a:endParaRPr>
          </a:p>
        </p:txBody>
      </p:sp>
      <p:sp>
        <p:nvSpPr>
          <p:cNvPr id="138"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OH · eForm · EMR/HIS — phần lớn có sẵn hoặc dùng chung</a:t>
            </a:r>
            <a:endParaRPr lang="en-US" sz="2400" b="0" strike="noStrike" spc="-1">
              <a:solidFill>
                <a:srgbClr val="000000"/>
              </a:solidFill>
              <a:latin typeface="Arial"/>
            </a:endParaRPr>
          </a:p>
        </p:txBody>
      </p:sp>
      <p:graphicFrame>
        <p:nvGraphicFramePr>
          <p:cNvPr id="139" name="Table 0"/>
          <p:cNvGraphicFramePr/>
          <p:nvPr/>
        </p:nvGraphicFramePr>
        <p:xfrm>
          <a:off x="457200" y="1600200"/>
          <a:ext cx="11247120" cy="3611880"/>
        </p:xfrm>
        <a:graphic>
          <a:graphicData uri="http://schemas.openxmlformats.org/drawingml/2006/table">
            <a:tbl>
              <a:tblPr/>
              <a:tblGrid>
                <a:gridCol w="27432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457200">
                <a:tc>
                  <a:txBody>
                    <a:bodyPr/>
                    <a:lstStyle/>
                    <a:p>
                      <a:pPr defTabSz="914400">
                        <a:lnSpc>
                          <a:spcPct val="100000"/>
                        </a:lnSpc>
                        <a:tabLst>
                          <a:tab pos="0" algn="l"/>
                        </a:tabLst>
                      </a:pPr>
                      <a:r>
                        <a:rPr lang="en-US" sz="1200" b="1" strike="noStrike" spc="-1">
                          <a:solidFill>
                            <a:srgbClr val="FFFFFF"/>
                          </a:solidFill>
                          <a:latin typeface="Arial"/>
                          <a:ea typeface="Arial"/>
                        </a:rPr>
                        <a:t>HẠ TẦNG</a:t>
                      </a:r>
                      <a:endParaRPr lang="en-US" sz="1200" b="0" strike="noStrike" spc="-1">
                        <a:solidFill>
                          <a:srgbClr val="FFFFFF"/>
                        </a:solidFill>
                        <a:latin typeface="Arial"/>
                      </a:endParaRPr>
                    </a:p>
                  </a:txBody>
                  <a:tcPr marL="152280" marR="152280" anchor="ct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028090"/>
                    </a:solidFill>
                  </a:tcPr>
                </a:tc>
                <a:tc>
                  <a:txBody>
                    <a:bodyPr/>
                    <a:lstStyle/>
                    <a:p>
                      <a:pPr defTabSz="914400">
                        <a:lnSpc>
                          <a:spcPct val="100000"/>
                        </a:lnSpc>
                        <a:tabLst>
                          <a:tab pos="0" algn="l"/>
                        </a:tabLst>
                      </a:pPr>
                      <a:r>
                        <a:rPr lang="en-US" sz="1200" b="1" strike="noStrike" spc="-1">
                          <a:solidFill>
                            <a:srgbClr val="FFFFFF"/>
                          </a:solidFill>
                          <a:latin typeface="Arial"/>
                          <a:ea typeface="Arial"/>
                        </a:rPr>
                        <a:t>HIỆN TRẠNG</a:t>
                      </a:r>
                      <a:endParaRPr lang="en-US" sz="1200" b="0" strike="noStrike" spc="-1">
                        <a:solidFill>
                          <a:srgbClr val="FFFFFF"/>
                        </a:solidFill>
                        <a:latin typeface="Arial"/>
                      </a:endParaRPr>
                    </a:p>
                  </a:txBody>
                  <a:tcPr marL="152280" marR="152280" anchor="ct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028090"/>
                    </a:solidFill>
                  </a:tcPr>
                </a:tc>
                <a:tc>
                  <a:txBody>
                    <a:bodyPr/>
                    <a:lstStyle/>
                    <a:p>
                      <a:pPr defTabSz="914400">
                        <a:lnSpc>
                          <a:spcPct val="100000"/>
                        </a:lnSpc>
                        <a:tabLst>
                          <a:tab pos="0" algn="l"/>
                        </a:tabLst>
                      </a:pPr>
                      <a:r>
                        <a:rPr lang="en-US" sz="1200" b="1" strike="noStrike" spc="-1">
                          <a:solidFill>
                            <a:srgbClr val="FFFFFF"/>
                          </a:solidFill>
                          <a:latin typeface="Arial"/>
                          <a:ea typeface="Arial"/>
                        </a:rPr>
                        <a:t>KẾ HOẠCH TÍCH HỢP</a:t>
                      </a:r>
                      <a:endParaRPr lang="en-US" sz="1200" b="0" strike="noStrike" spc="-1">
                        <a:solidFill>
                          <a:srgbClr val="FFFFFF"/>
                        </a:solidFill>
                        <a:latin typeface="Arial"/>
                      </a:endParaRPr>
                    </a:p>
                  </a:txBody>
                  <a:tcPr marL="152280" marR="152280" anchor="ctr">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028090"/>
                    </a:solidFill>
                  </a:tcPr>
                </a:tc>
                <a:extLst>
                  <a:ext uri="{0D108BD9-81ED-4DB2-BD59-A6C34878D82A}">
                    <a16:rowId xmlns:a16="http://schemas.microsoft.com/office/drawing/2014/main" val="10000"/>
                  </a:ext>
                </a:extLst>
              </a:tr>
              <a:tr h="1051560">
                <a:tc>
                  <a:txBody>
                    <a:bodyPr/>
                    <a:lstStyle/>
                    <a:p>
                      <a:pPr defTabSz="914400">
                        <a:lnSpc>
                          <a:spcPct val="100000"/>
                        </a:lnSpc>
                        <a:tabLst>
                          <a:tab pos="0" algn="l"/>
                        </a:tabLst>
                      </a:pPr>
                      <a:r>
                        <a:rPr lang="en-US" sz="1300" b="1" strike="noStrike" spc="-1">
                          <a:solidFill>
                            <a:srgbClr val="1E293B"/>
                          </a:solidFill>
                          <a:latin typeface="Arial"/>
                          <a:ea typeface="Arial"/>
                        </a:rPr>
                        <a:t>Hệ thống order / chỉ định (OH)</a:t>
                      </a:r>
                      <a:endParaRPr lang="en-US" sz="130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tc>
                  <a:txBody>
                    <a:bodyPr/>
                    <a:lstStyle/>
                    <a:p>
                      <a:pPr defTabSz="914400">
                        <a:lnSpc>
                          <a:spcPct val="100000"/>
                        </a:lnSpc>
                        <a:tabLst>
                          <a:tab pos="0" algn="l"/>
                        </a:tabLst>
                      </a:pPr>
                      <a:r>
                        <a:rPr lang="en-US" sz="1250" b="0" strike="noStrike" spc="-1">
                          <a:solidFill>
                            <a:srgbClr val="64748B"/>
                          </a:solidFill>
                          <a:latin typeface="Arial"/>
                          <a:ea typeface="Arial"/>
                        </a:rPr>
                        <a:t>Chưa có mã chỉ định riêng cho đánh giá mỏi cơ sEMG</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tc>
                  <a:txBody>
                    <a:bodyPr/>
                    <a:lstStyle/>
                    <a:p>
                      <a:pPr defTabSz="914400">
                        <a:lnSpc>
                          <a:spcPct val="100000"/>
                        </a:lnSpc>
                        <a:tabLst>
                          <a:tab pos="0" algn="l"/>
                        </a:tabLst>
                      </a:pPr>
                      <a:r>
                        <a:rPr lang="en-US" sz="1250" b="0" strike="noStrike" spc="-1">
                          <a:solidFill>
                            <a:srgbClr val="1E293B"/>
                          </a:solidFill>
                          <a:latin typeface="Arial"/>
                          <a:ea typeface="Arial"/>
                        </a:rPr>
                        <a:t>Khởi tạo mã chỉ định mới, đưa vào luồng khám/chỉ định chuẩn</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extLst>
                  <a:ext uri="{0D108BD9-81ED-4DB2-BD59-A6C34878D82A}">
                    <a16:rowId xmlns:a16="http://schemas.microsoft.com/office/drawing/2014/main" val="10001"/>
                  </a:ext>
                </a:extLst>
              </a:tr>
              <a:tr h="1051560">
                <a:tc>
                  <a:txBody>
                    <a:bodyPr/>
                    <a:lstStyle/>
                    <a:p>
                      <a:pPr defTabSz="914400">
                        <a:lnSpc>
                          <a:spcPct val="100000"/>
                        </a:lnSpc>
                        <a:tabLst>
                          <a:tab pos="0" algn="l"/>
                        </a:tabLst>
                      </a:pPr>
                      <a:r>
                        <a:rPr lang="en-US" sz="1300" b="1" strike="noStrike" spc="-1">
                          <a:solidFill>
                            <a:srgbClr val="1E293B"/>
                          </a:solidFill>
                          <a:latin typeface="Arial"/>
                          <a:ea typeface="Arial"/>
                        </a:rPr>
                        <a:t>eForm</a:t>
                      </a:r>
                      <a:endParaRPr lang="en-US" sz="130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2F7F8"/>
                    </a:solidFill>
                  </a:tcPr>
                </a:tc>
                <a:tc>
                  <a:txBody>
                    <a:bodyPr/>
                    <a:lstStyle/>
                    <a:p>
                      <a:pPr defTabSz="914400">
                        <a:lnSpc>
                          <a:spcPct val="100000"/>
                        </a:lnSpc>
                        <a:tabLst>
                          <a:tab pos="0" algn="l"/>
                        </a:tabLst>
                      </a:pPr>
                      <a:r>
                        <a:rPr lang="en-US" sz="1250" b="0" strike="noStrike" spc="-1">
                          <a:solidFill>
                            <a:srgbClr val="64748B"/>
                          </a:solidFill>
                          <a:latin typeface="Arial"/>
                          <a:ea typeface="Arial"/>
                        </a:rPr>
                        <a:t>Vinmec đã có khung eForm cho các quy trình khác (Film Online…)</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2F7F8"/>
                    </a:solidFill>
                  </a:tcPr>
                </a:tc>
                <a:tc>
                  <a:txBody>
                    <a:bodyPr/>
                    <a:lstStyle/>
                    <a:p>
                      <a:pPr defTabSz="914400">
                        <a:lnSpc>
                          <a:spcPct val="100000"/>
                        </a:lnSpc>
                        <a:tabLst>
                          <a:tab pos="0" algn="l"/>
                        </a:tabLst>
                      </a:pPr>
                      <a:r>
                        <a:rPr lang="en-US" sz="1250" b="0" strike="noStrike" spc="-1">
                          <a:solidFill>
                            <a:srgbClr val="1E293B"/>
                          </a:solidFill>
                          <a:latin typeface="Arial"/>
                          <a:ea typeface="Arial"/>
                        </a:rPr>
                        <a:t>Tận dụng khung sẵn có để ghi nhận thông tin buổi đo — không cần xây form mới</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2F7F8"/>
                    </a:solidFill>
                  </a:tcPr>
                </a:tc>
                <a:extLst>
                  <a:ext uri="{0D108BD9-81ED-4DB2-BD59-A6C34878D82A}">
                    <a16:rowId xmlns:a16="http://schemas.microsoft.com/office/drawing/2014/main" val="10002"/>
                  </a:ext>
                </a:extLst>
              </a:tr>
              <a:tr h="1051560">
                <a:tc>
                  <a:txBody>
                    <a:bodyPr/>
                    <a:lstStyle/>
                    <a:p>
                      <a:pPr defTabSz="914400">
                        <a:lnSpc>
                          <a:spcPct val="100000"/>
                        </a:lnSpc>
                        <a:tabLst>
                          <a:tab pos="0" algn="l"/>
                        </a:tabLst>
                      </a:pPr>
                      <a:r>
                        <a:rPr lang="en-US" sz="1300" b="1" strike="noStrike" spc="-1">
                          <a:solidFill>
                            <a:srgbClr val="1E293B"/>
                          </a:solidFill>
                          <a:latin typeface="Arial"/>
                          <a:ea typeface="Arial"/>
                        </a:rPr>
                        <a:t>EMR / HIS</a:t>
                      </a:r>
                      <a:endParaRPr lang="en-US" sz="130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tc>
                  <a:txBody>
                    <a:bodyPr/>
                    <a:lstStyle/>
                    <a:p>
                      <a:pPr defTabSz="914400">
                        <a:lnSpc>
                          <a:spcPct val="100000"/>
                        </a:lnSpc>
                        <a:tabLst>
                          <a:tab pos="0" algn="l"/>
                        </a:tabLst>
                      </a:pPr>
                      <a:r>
                        <a:rPr lang="en-US" sz="1250" b="0" strike="noStrike" spc="-1">
                          <a:solidFill>
                            <a:srgbClr val="64748B"/>
                          </a:solidFill>
                          <a:latin typeface="Arial"/>
                          <a:ea typeface="Arial"/>
                        </a:rPr>
                        <a:t>Tích hợp qua FHIR/HL7, dùng chung kiến trúc với các chương khác</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tc>
                  <a:txBody>
                    <a:bodyPr/>
                    <a:lstStyle/>
                    <a:p>
                      <a:pPr defTabSz="914400">
                        <a:lnSpc>
                          <a:spcPct val="100000"/>
                        </a:lnSpc>
                        <a:tabLst>
                          <a:tab pos="0" algn="l"/>
                        </a:tabLst>
                      </a:pPr>
                      <a:r>
                        <a:rPr lang="en-US" sz="1250" b="0" strike="noStrike" spc="-1">
                          <a:solidFill>
                            <a:srgbClr val="1E293B"/>
                          </a:solidFill>
                          <a:latin typeface="Arial"/>
                          <a:ea typeface="Arial"/>
                        </a:rPr>
                        <a:t>Kết quả đồng bộ hồ sơ bệnh án; cảnh báo qua kênh lâm sàng nội bộ trước</a:t>
                      </a:r>
                      <a:endParaRPr lang="en-US" sz="1250" b="0" strike="noStrike" spc="-1">
                        <a:solidFill>
                          <a:srgbClr val="000000"/>
                        </a:solidFill>
                        <a:latin typeface="Arial"/>
                      </a:endParaRPr>
                    </a:p>
                  </a:txBody>
                  <a:tcPr marL="152280" marR="152280">
                    <a:lnL w="6480">
                      <a:solidFill>
                        <a:srgbClr val="E2E8F0"/>
                      </a:solidFill>
                      <a:prstDash val="solid"/>
                    </a:lnL>
                    <a:lnR w="6480">
                      <a:solidFill>
                        <a:srgbClr val="E2E8F0"/>
                      </a:solidFill>
                      <a:prstDash val="solid"/>
                    </a:lnR>
                    <a:lnT w="6480">
                      <a:solidFill>
                        <a:srgbClr val="E2E8F0"/>
                      </a:solidFill>
                      <a:prstDash val="solid"/>
                    </a:lnT>
                    <a:lnB w="6480">
                      <a:solidFill>
                        <a:srgbClr val="E2E8F0"/>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40" name="Shape 3"/>
          <p:cNvSpPr/>
          <p:nvPr/>
        </p:nvSpPr>
        <p:spPr>
          <a:xfrm>
            <a:off x="457200" y="5257800"/>
            <a:ext cx="11277000" cy="776880"/>
          </a:xfrm>
          <a:prstGeom prst="roundRect">
            <a:avLst>
              <a:gd name="adj" fmla="val 11765"/>
            </a:avLst>
          </a:prstGeom>
          <a:solidFill>
            <a:srgbClr val="EAF7F4"/>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41" name="Shape 4"/>
          <p:cNvSpPr/>
          <p:nvPr/>
        </p:nvSpPr>
        <p:spPr>
          <a:xfrm>
            <a:off x="658440" y="5394960"/>
            <a:ext cx="502560" cy="50256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42" name="Image 1" descr="preencoded.png"/>
          <p:cNvPicPr/>
          <p:nvPr/>
        </p:nvPicPr>
        <p:blipFill>
          <a:blip r:embed="rId4"/>
          <a:stretch/>
        </p:blipFill>
        <p:spPr>
          <a:xfrm>
            <a:off x="789120" y="5525640"/>
            <a:ext cx="241200" cy="241200"/>
          </a:xfrm>
          <a:prstGeom prst="rect">
            <a:avLst/>
          </a:prstGeom>
          <a:ln w="0">
            <a:noFill/>
          </a:ln>
        </p:spPr>
      </p:pic>
      <p:sp>
        <p:nvSpPr>
          <p:cNvPr id="143" name="Text 5"/>
          <p:cNvSpPr/>
          <p:nvPr/>
        </p:nvSpPr>
        <p:spPr>
          <a:xfrm>
            <a:off x="1325880" y="5257800"/>
            <a:ext cx="1017972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15000"/>
              </a:lnSpc>
              <a:tabLst>
                <a:tab pos="0" algn="l"/>
              </a:tabLst>
            </a:pPr>
            <a:r>
              <a:rPr lang="en-US" sz="1300" b="1" strike="noStrike" spc="-1">
                <a:solidFill>
                  <a:srgbClr val="1E293B"/>
                </a:solidFill>
                <a:latin typeface="Arial"/>
                <a:ea typeface="Arial"/>
              </a:rPr>
              <a:t>Phần lớn hạ tầng có sẵn hoặc dùng chung với các chương khác — lợi thế triển khai rõ rệt so với các hệ thống cần xây mới hoàn toàn.</a:t>
            </a:r>
            <a:endParaRPr lang="en-US" sz="1300" b="0" strike="noStrike" spc="-1">
              <a:solidFill>
                <a:srgbClr val="000000"/>
              </a:solidFill>
              <a:latin typeface="Arial"/>
            </a:endParaRPr>
          </a:p>
        </p:txBody>
      </p:sp>
      <p:sp>
        <p:nvSpPr>
          <p:cNvPr id="144" name="Text 6"/>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145" name="Text 7"/>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10</a:t>
            </a:r>
            <a:endParaRPr lang="en-US" sz="9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47" name="Image 0" descr="preencoded.png"/>
          <p:cNvPicPr/>
          <p:nvPr/>
        </p:nvPicPr>
        <p:blipFill>
          <a:blip r:embed="rId3"/>
          <a:stretch/>
        </p:blipFill>
        <p:spPr>
          <a:xfrm>
            <a:off x="604440" y="558720"/>
            <a:ext cx="271800" cy="271800"/>
          </a:xfrm>
          <a:prstGeom prst="rect">
            <a:avLst/>
          </a:prstGeom>
          <a:ln w="0">
            <a:noFill/>
          </a:ln>
        </p:spPr>
      </p:pic>
      <p:sp>
        <p:nvSpPr>
          <p:cNvPr id="148"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QUY TRÌNH VẬN HÀNH LÂM SÀNG</a:t>
            </a:r>
            <a:endParaRPr lang="en-US" sz="1200" b="0" strike="noStrike" spc="-1">
              <a:solidFill>
                <a:srgbClr val="000000"/>
              </a:solidFill>
              <a:latin typeface="Arial"/>
            </a:endParaRPr>
          </a:p>
        </p:txBody>
      </p:sp>
      <p:sp>
        <p:nvSpPr>
          <p:cNvPr id="149"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7 bước — end-to-end, human-in-the-loop xuyên suốt</a:t>
            </a:r>
            <a:endParaRPr lang="en-US" sz="2400" b="0" strike="noStrike" spc="-1">
              <a:solidFill>
                <a:srgbClr val="000000"/>
              </a:solidFill>
              <a:latin typeface="Arial"/>
            </a:endParaRPr>
          </a:p>
        </p:txBody>
      </p:sp>
      <p:sp>
        <p:nvSpPr>
          <p:cNvPr id="150" name="Shape 3"/>
          <p:cNvSpPr/>
          <p:nvPr/>
        </p:nvSpPr>
        <p:spPr>
          <a:xfrm>
            <a:off x="45720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1" name="Shape 4"/>
          <p:cNvSpPr/>
          <p:nvPr/>
        </p:nvSpPr>
        <p:spPr>
          <a:xfrm>
            <a:off x="96372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2" name="Text 5"/>
          <p:cNvSpPr/>
          <p:nvPr/>
        </p:nvSpPr>
        <p:spPr>
          <a:xfrm>
            <a:off x="96372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1</a:t>
            </a:r>
            <a:endParaRPr lang="en-US" sz="1800" b="0" strike="noStrike" spc="-1">
              <a:solidFill>
                <a:srgbClr val="000000"/>
              </a:solidFill>
              <a:latin typeface="Arial"/>
            </a:endParaRPr>
          </a:p>
        </p:txBody>
      </p:sp>
      <p:sp>
        <p:nvSpPr>
          <p:cNvPr id="153" name="Text 6"/>
          <p:cNvSpPr/>
          <p:nvPr/>
        </p:nvSpPr>
        <p:spPr>
          <a:xfrm>
            <a:off x="56700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Chỉ định &amp; chuẩn bị</a:t>
            </a:r>
            <a:endParaRPr lang="en-US" sz="1200" b="0" strike="noStrike" spc="-1">
              <a:solidFill>
                <a:srgbClr val="000000"/>
              </a:solidFill>
              <a:latin typeface="Arial"/>
            </a:endParaRPr>
          </a:p>
        </p:txBody>
      </p:sp>
      <p:sp>
        <p:nvSpPr>
          <p:cNvPr id="154" name="Text 7"/>
          <p:cNvSpPr/>
          <p:nvPr/>
        </p:nvSpPr>
        <p:spPr>
          <a:xfrm>
            <a:off x="56700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OH + eForm</a:t>
            </a:r>
            <a:endParaRPr lang="en-US" sz="1000" b="0" strike="noStrike" spc="-1">
              <a:solidFill>
                <a:srgbClr val="000000"/>
              </a:solidFill>
              <a:latin typeface="Arial"/>
            </a:endParaRPr>
          </a:p>
        </p:txBody>
      </p:sp>
      <p:sp>
        <p:nvSpPr>
          <p:cNvPr id="155" name="Text 8"/>
          <p:cNvSpPr/>
          <p:nvPr/>
        </p:nvSpPr>
        <p:spPr>
          <a:xfrm>
            <a:off x="190872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56" name="Shape 9"/>
          <p:cNvSpPr/>
          <p:nvPr/>
        </p:nvSpPr>
        <p:spPr>
          <a:xfrm>
            <a:off x="209160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57" name="Shape 10"/>
          <p:cNvSpPr/>
          <p:nvPr/>
        </p:nvSpPr>
        <p:spPr>
          <a:xfrm>
            <a:off x="259812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58" name="Text 11"/>
          <p:cNvSpPr/>
          <p:nvPr/>
        </p:nvSpPr>
        <p:spPr>
          <a:xfrm>
            <a:off x="259812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2</a:t>
            </a:r>
            <a:endParaRPr lang="en-US" sz="1800" b="0" strike="noStrike" spc="-1">
              <a:solidFill>
                <a:srgbClr val="000000"/>
              </a:solidFill>
              <a:latin typeface="Arial"/>
            </a:endParaRPr>
          </a:p>
        </p:txBody>
      </p:sp>
      <p:sp>
        <p:nvSpPr>
          <p:cNvPr id="159" name="Text 12"/>
          <p:cNvSpPr/>
          <p:nvPr/>
        </p:nvSpPr>
        <p:spPr>
          <a:xfrm>
            <a:off x="220140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Thu nhận tín hiệu</a:t>
            </a:r>
            <a:endParaRPr lang="en-US" sz="1200" b="0" strike="noStrike" spc="-1">
              <a:solidFill>
                <a:srgbClr val="000000"/>
              </a:solidFill>
              <a:latin typeface="Arial"/>
            </a:endParaRPr>
          </a:p>
        </p:txBody>
      </p:sp>
      <p:sp>
        <p:nvSpPr>
          <p:cNvPr id="160" name="Text 13"/>
          <p:cNvSpPr/>
          <p:nvPr/>
        </p:nvSpPr>
        <p:spPr>
          <a:xfrm>
            <a:off x="220140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Noraxon sẵn có</a:t>
            </a:r>
            <a:endParaRPr lang="en-US" sz="1000" b="0" strike="noStrike" spc="-1">
              <a:solidFill>
                <a:srgbClr val="000000"/>
              </a:solidFill>
              <a:latin typeface="Arial"/>
            </a:endParaRPr>
          </a:p>
        </p:txBody>
      </p:sp>
      <p:sp>
        <p:nvSpPr>
          <p:cNvPr id="161" name="Text 14"/>
          <p:cNvSpPr/>
          <p:nvPr/>
        </p:nvSpPr>
        <p:spPr>
          <a:xfrm>
            <a:off x="354348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62" name="Shape 15"/>
          <p:cNvSpPr/>
          <p:nvPr/>
        </p:nvSpPr>
        <p:spPr>
          <a:xfrm>
            <a:off x="3726360" y="1920240"/>
            <a:ext cx="1469520" cy="2605680"/>
          </a:xfrm>
          <a:prstGeom prst="roundRect">
            <a:avLst>
              <a:gd name="adj" fmla="val 6221"/>
            </a:avLst>
          </a:prstGeom>
          <a:solidFill>
            <a:srgbClr val="D9F0EB"/>
          </a:solidFill>
          <a:ln w="15875">
            <a:solidFill>
              <a:srgbClr val="028090"/>
            </a:solid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3" name="Shape 16"/>
          <p:cNvSpPr/>
          <p:nvPr/>
        </p:nvSpPr>
        <p:spPr>
          <a:xfrm>
            <a:off x="423252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64" name="Text 17"/>
          <p:cNvSpPr/>
          <p:nvPr/>
        </p:nvSpPr>
        <p:spPr>
          <a:xfrm>
            <a:off x="423252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3</a:t>
            </a:r>
            <a:endParaRPr lang="en-US" sz="1800" b="0" strike="noStrike" spc="-1">
              <a:solidFill>
                <a:srgbClr val="000000"/>
              </a:solidFill>
              <a:latin typeface="Arial"/>
            </a:endParaRPr>
          </a:p>
        </p:txBody>
      </p:sp>
      <p:sp>
        <p:nvSpPr>
          <p:cNvPr id="165" name="Text 18"/>
          <p:cNvSpPr/>
          <p:nvPr/>
        </p:nvSpPr>
        <p:spPr>
          <a:xfrm>
            <a:off x="383616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Kiểm tra chất lượng</a:t>
            </a:r>
            <a:endParaRPr lang="en-US" sz="1200" b="0" strike="noStrike" spc="-1">
              <a:solidFill>
                <a:srgbClr val="000000"/>
              </a:solidFill>
              <a:latin typeface="Arial"/>
            </a:endParaRPr>
          </a:p>
        </p:txBody>
      </p:sp>
      <p:sp>
        <p:nvSpPr>
          <p:cNvPr id="166" name="Text 19"/>
          <p:cNvSpPr/>
          <p:nvPr/>
        </p:nvSpPr>
        <p:spPr>
          <a:xfrm>
            <a:off x="383616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Cổng abstention</a:t>
            </a:r>
            <a:endParaRPr lang="en-US" sz="1000" b="0" strike="noStrike" spc="-1">
              <a:solidFill>
                <a:srgbClr val="000000"/>
              </a:solidFill>
              <a:latin typeface="Arial"/>
            </a:endParaRPr>
          </a:p>
        </p:txBody>
      </p:sp>
      <p:sp>
        <p:nvSpPr>
          <p:cNvPr id="167" name="Text 20"/>
          <p:cNvSpPr/>
          <p:nvPr/>
        </p:nvSpPr>
        <p:spPr>
          <a:xfrm>
            <a:off x="517788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68" name="Shape 21"/>
          <p:cNvSpPr/>
          <p:nvPr/>
        </p:nvSpPr>
        <p:spPr>
          <a:xfrm>
            <a:off x="536076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69" name="Shape 22"/>
          <p:cNvSpPr/>
          <p:nvPr/>
        </p:nvSpPr>
        <p:spPr>
          <a:xfrm>
            <a:off x="586728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70" name="Text 23"/>
          <p:cNvSpPr/>
          <p:nvPr/>
        </p:nvSpPr>
        <p:spPr>
          <a:xfrm>
            <a:off x="586728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4</a:t>
            </a:r>
            <a:endParaRPr lang="en-US" sz="1800" b="0" strike="noStrike" spc="-1">
              <a:solidFill>
                <a:srgbClr val="000000"/>
              </a:solidFill>
              <a:latin typeface="Arial"/>
            </a:endParaRPr>
          </a:p>
        </p:txBody>
      </p:sp>
      <p:sp>
        <p:nvSpPr>
          <p:cNvPr id="171" name="Text 24"/>
          <p:cNvSpPr/>
          <p:nvPr/>
        </p:nvSpPr>
        <p:spPr>
          <a:xfrm>
            <a:off x="547056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Trích xuất đặc trưng</a:t>
            </a:r>
            <a:endParaRPr lang="en-US" sz="1200" b="0" strike="noStrike" spc="-1">
              <a:solidFill>
                <a:srgbClr val="000000"/>
              </a:solidFill>
              <a:latin typeface="Arial"/>
            </a:endParaRPr>
          </a:p>
        </p:txBody>
      </p:sp>
      <p:sp>
        <p:nvSpPr>
          <p:cNvPr id="172" name="Text 25"/>
          <p:cNvSpPr/>
          <p:nvPr/>
        </p:nvSpPr>
        <p:spPr>
          <a:xfrm>
            <a:off x="547056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Xử lý on-prem</a:t>
            </a:r>
            <a:endParaRPr lang="en-US" sz="1000" b="0" strike="noStrike" spc="-1">
              <a:solidFill>
                <a:srgbClr val="000000"/>
              </a:solidFill>
              <a:latin typeface="Arial"/>
            </a:endParaRPr>
          </a:p>
        </p:txBody>
      </p:sp>
      <p:sp>
        <p:nvSpPr>
          <p:cNvPr id="173" name="Text 26"/>
          <p:cNvSpPr/>
          <p:nvPr/>
        </p:nvSpPr>
        <p:spPr>
          <a:xfrm>
            <a:off x="681264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74" name="Shape 27"/>
          <p:cNvSpPr/>
          <p:nvPr/>
        </p:nvSpPr>
        <p:spPr>
          <a:xfrm>
            <a:off x="6995520" y="1920240"/>
            <a:ext cx="1469520" cy="2605680"/>
          </a:xfrm>
          <a:prstGeom prst="roundRect">
            <a:avLst>
              <a:gd name="adj" fmla="val 6221"/>
            </a:avLst>
          </a:prstGeom>
          <a:solidFill>
            <a:srgbClr val="EAF7F4"/>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75" name="Shape 28"/>
          <p:cNvSpPr/>
          <p:nvPr/>
        </p:nvSpPr>
        <p:spPr>
          <a:xfrm>
            <a:off x="7501680" y="2176200"/>
            <a:ext cx="456840" cy="45684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76" name="Text 29"/>
          <p:cNvSpPr/>
          <p:nvPr/>
        </p:nvSpPr>
        <p:spPr>
          <a:xfrm>
            <a:off x="750168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5</a:t>
            </a:r>
            <a:endParaRPr lang="en-US" sz="1800" b="0" strike="noStrike" spc="-1">
              <a:solidFill>
                <a:srgbClr val="000000"/>
              </a:solidFill>
              <a:latin typeface="Arial"/>
            </a:endParaRPr>
          </a:p>
        </p:txBody>
      </p:sp>
      <p:sp>
        <p:nvSpPr>
          <p:cNvPr id="177" name="Text 30"/>
          <p:cNvSpPr/>
          <p:nvPr/>
        </p:nvSpPr>
        <p:spPr>
          <a:xfrm>
            <a:off x="710532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Phân tích AI</a:t>
            </a:r>
            <a:endParaRPr lang="en-US" sz="1200" b="0" strike="noStrike" spc="-1">
              <a:solidFill>
                <a:srgbClr val="000000"/>
              </a:solidFill>
              <a:latin typeface="Arial"/>
            </a:endParaRPr>
          </a:p>
        </p:txBody>
      </p:sp>
      <p:sp>
        <p:nvSpPr>
          <p:cNvPr id="178" name="Text 31"/>
          <p:cNvSpPr/>
          <p:nvPr/>
        </p:nvSpPr>
        <p:spPr>
          <a:xfrm>
            <a:off x="710532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KNN, sensitivity-first</a:t>
            </a:r>
            <a:endParaRPr lang="en-US" sz="1000" b="0" strike="noStrike" spc="-1">
              <a:solidFill>
                <a:srgbClr val="000000"/>
              </a:solidFill>
              <a:latin typeface="Arial"/>
            </a:endParaRPr>
          </a:p>
        </p:txBody>
      </p:sp>
      <p:sp>
        <p:nvSpPr>
          <p:cNvPr id="179" name="Text 32"/>
          <p:cNvSpPr/>
          <p:nvPr/>
        </p:nvSpPr>
        <p:spPr>
          <a:xfrm>
            <a:off x="844704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80" name="Shape 33"/>
          <p:cNvSpPr/>
          <p:nvPr/>
        </p:nvSpPr>
        <p:spPr>
          <a:xfrm>
            <a:off x="862992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1" name="Shape 34"/>
          <p:cNvSpPr/>
          <p:nvPr/>
        </p:nvSpPr>
        <p:spPr>
          <a:xfrm>
            <a:off x="913644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2" name="Text 35"/>
          <p:cNvSpPr/>
          <p:nvPr/>
        </p:nvSpPr>
        <p:spPr>
          <a:xfrm>
            <a:off x="913644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6</a:t>
            </a:r>
            <a:endParaRPr lang="en-US" sz="1800" b="0" strike="noStrike" spc="-1">
              <a:solidFill>
                <a:srgbClr val="000000"/>
              </a:solidFill>
              <a:latin typeface="Arial"/>
            </a:endParaRPr>
          </a:p>
        </p:txBody>
      </p:sp>
      <p:sp>
        <p:nvSpPr>
          <p:cNvPr id="183" name="Text 36"/>
          <p:cNvSpPr/>
          <p:nvPr/>
        </p:nvSpPr>
        <p:spPr>
          <a:xfrm>
            <a:off x="873972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Đầu ra &amp; diễn giải</a:t>
            </a:r>
            <a:endParaRPr lang="en-US" sz="1200" b="0" strike="noStrike" spc="-1">
              <a:solidFill>
                <a:srgbClr val="000000"/>
              </a:solidFill>
              <a:latin typeface="Arial"/>
            </a:endParaRPr>
          </a:p>
        </p:txBody>
      </p:sp>
      <p:sp>
        <p:nvSpPr>
          <p:cNvPr id="184" name="Text 37"/>
          <p:cNvSpPr/>
          <p:nvPr/>
        </p:nvSpPr>
        <p:spPr>
          <a:xfrm>
            <a:off x="873972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Human-in-the-loop</a:t>
            </a:r>
            <a:endParaRPr lang="en-US" sz="1000" b="0" strike="noStrike" spc="-1">
              <a:solidFill>
                <a:srgbClr val="000000"/>
              </a:solidFill>
              <a:latin typeface="Arial"/>
            </a:endParaRPr>
          </a:p>
        </p:txBody>
      </p:sp>
      <p:sp>
        <p:nvSpPr>
          <p:cNvPr id="185" name="Text 38"/>
          <p:cNvSpPr/>
          <p:nvPr/>
        </p:nvSpPr>
        <p:spPr>
          <a:xfrm>
            <a:off x="10081800" y="3058560"/>
            <a:ext cx="20088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4748B"/>
                </a:solidFill>
                <a:latin typeface="Arial"/>
                <a:ea typeface="Arial"/>
              </a:rPr>
              <a:t>&gt;</a:t>
            </a:r>
            <a:endParaRPr lang="en-US" sz="1400" b="0" strike="noStrike" spc="-1">
              <a:solidFill>
                <a:srgbClr val="000000"/>
              </a:solidFill>
              <a:latin typeface="Arial"/>
            </a:endParaRPr>
          </a:p>
        </p:txBody>
      </p:sp>
      <p:sp>
        <p:nvSpPr>
          <p:cNvPr id="186" name="Shape 39"/>
          <p:cNvSpPr/>
          <p:nvPr/>
        </p:nvSpPr>
        <p:spPr>
          <a:xfrm>
            <a:off x="10264680" y="1920240"/>
            <a:ext cx="1469520" cy="2605680"/>
          </a:xfrm>
          <a:prstGeom prst="roundRect">
            <a:avLst>
              <a:gd name="adj" fmla="val 6221"/>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187" name="Shape 40"/>
          <p:cNvSpPr/>
          <p:nvPr/>
        </p:nvSpPr>
        <p:spPr>
          <a:xfrm>
            <a:off x="10770840" y="21762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188" name="Text 41"/>
          <p:cNvSpPr/>
          <p:nvPr/>
        </p:nvSpPr>
        <p:spPr>
          <a:xfrm>
            <a:off x="10770840" y="21762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Arial"/>
                <a:ea typeface="Arial"/>
              </a:rPr>
              <a:t>7</a:t>
            </a:r>
            <a:endParaRPr lang="en-US" sz="1800" b="0" strike="noStrike" spc="-1">
              <a:solidFill>
                <a:srgbClr val="000000"/>
              </a:solidFill>
              <a:latin typeface="Arial"/>
            </a:endParaRPr>
          </a:p>
        </p:txBody>
      </p:sp>
      <p:sp>
        <p:nvSpPr>
          <p:cNvPr id="189" name="Text 42"/>
          <p:cNvSpPr/>
          <p:nvPr/>
        </p:nvSpPr>
        <p:spPr>
          <a:xfrm>
            <a:off x="10374120" y="2834640"/>
            <a:ext cx="125028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5000"/>
              </a:lnSpc>
              <a:tabLst>
                <a:tab pos="0" algn="l"/>
              </a:tabLst>
            </a:pPr>
            <a:r>
              <a:rPr lang="en-US" sz="1200" b="1" strike="noStrike" spc="-1">
                <a:solidFill>
                  <a:srgbClr val="1E293B"/>
                </a:solidFill>
                <a:latin typeface="Arial"/>
                <a:ea typeface="Arial"/>
              </a:rPr>
              <a:t>Lưu trữ &amp; theo dõi</a:t>
            </a:r>
            <a:endParaRPr lang="en-US" sz="1200" b="0" strike="noStrike" spc="-1">
              <a:solidFill>
                <a:srgbClr val="000000"/>
              </a:solidFill>
              <a:latin typeface="Arial"/>
            </a:endParaRPr>
          </a:p>
        </p:txBody>
      </p:sp>
      <p:sp>
        <p:nvSpPr>
          <p:cNvPr id="190" name="Text 43"/>
          <p:cNvSpPr/>
          <p:nvPr/>
        </p:nvSpPr>
        <p:spPr>
          <a:xfrm>
            <a:off x="10374120" y="3794760"/>
            <a:ext cx="12502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10000"/>
              </a:lnSpc>
              <a:tabLst>
                <a:tab pos="0" algn="l"/>
              </a:tabLst>
            </a:pPr>
            <a:r>
              <a:rPr lang="en-US" sz="1000" b="0" strike="noStrike" spc="-1">
                <a:solidFill>
                  <a:srgbClr val="64748B"/>
                </a:solidFill>
                <a:latin typeface="Arial"/>
                <a:ea typeface="Arial"/>
              </a:rPr>
              <a:t>Longitudinal</a:t>
            </a:r>
            <a:endParaRPr lang="en-US" sz="1000" b="0" strike="noStrike" spc="-1">
              <a:solidFill>
                <a:srgbClr val="000000"/>
              </a:solidFill>
              <a:latin typeface="Arial"/>
            </a:endParaRPr>
          </a:p>
        </p:txBody>
      </p:sp>
      <p:sp>
        <p:nvSpPr>
          <p:cNvPr id="192" name="Text 45"/>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193" name="Text 46"/>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11</a:t>
            </a:r>
            <a:endParaRPr lang="en-US" sz="900" b="0" strike="noStrike" spc="-1">
              <a:solidFill>
                <a:srgbClr val="000000"/>
              </a:solidFill>
              <a:latin typeface="Arial"/>
            </a:endParaRPr>
          </a:p>
        </p:txBody>
      </p:sp>
      <p:sp>
        <p:nvSpPr>
          <p:cNvPr id="194" name="Rounded Rectangle 193"/>
          <p:cNvSpPr/>
          <p:nvPr/>
        </p:nvSpPr>
        <p:spPr>
          <a:xfrm>
            <a:off x="457200" y="4828032"/>
            <a:ext cx="11274552" cy="676656"/>
          </a:xfrm>
          <a:prstGeom prst="round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731520" y="4882896"/>
            <a:ext cx="10725912" cy="566928"/>
          </a:xfrm>
          <a:prstGeom prst="rect">
            <a:avLst/>
          </a:prstGeom>
          <a:noFill/>
        </p:spPr>
        <p:txBody>
          <a:bodyPr wrap="square" lIns="0" rIns="0" tIns="0" bIns="0" anchor="ctr">
            <a:spAutoFit/>
          </a:bodyPr>
          <a:lstStyle/>
          <a:p>
            <a:r>
              <a:rPr sz="1200" b="1">
                <a:solidFill>
                  <a:srgbClr val="9BE7DC"/>
                </a:solidFill>
                <a:latin typeface="Arial"/>
              </a:rPr>
              <a:t>Cổng abstention (Bước 3): </a:t>
            </a:r>
            <a:r>
              <a:rPr sz="1200" b="0">
                <a:solidFill>
                  <a:srgbClr val="FFFFFF"/>
                </a:solidFill>
                <a:latin typeface="Arial"/>
              </a:rPr>
              <a:t>phân biệt “chưa phát hiện mỏi” với “dữ liệu chưa đủ điều kiện phân tích” — tránh kết luận sai. Lớp an toàn khác biệt của đề xuất.</a:t>
            </a:r>
          </a:p>
        </p:txBody>
      </p:sp>
      <p:sp>
        <p:nvSpPr>
          <p:cNvPr id="196" name="TextBox 195"/>
          <p:cNvSpPr txBox="1"/>
          <p:nvPr/>
        </p:nvSpPr>
        <p:spPr>
          <a:xfrm>
            <a:off x="457200" y="5650992"/>
            <a:ext cx="11274552" cy="384048"/>
          </a:xfrm>
          <a:prstGeom prst="rect">
            <a:avLst/>
          </a:prstGeom>
          <a:noFill/>
        </p:spPr>
        <p:txBody>
          <a:bodyPr wrap="square" lIns="0" rIns="0" tIns="0" bIns="0">
            <a:spAutoFit/>
          </a:bodyPr>
          <a:lstStyle/>
          <a:p>
            <a:r>
              <a:rPr sz="1100" b="0">
                <a:solidFill>
                  <a:srgbClr val="64748B"/>
                </a:solidFill>
                <a:latin typeface="Arial"/>
              </a:rPr>
              <a:t>Mỗi buổi đo thêm ~10–15 phút, lồng vào buổi PHCN sẵn có (ước lượng) · KTV vận hành đo, Bác sĩ đọc &amp; ký kết quả · 0 lượt hẹn Motion Lab phát sinh.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2A4A"/>
        </a:solidFill>
        <a:effectLst/>
      </p:bgPr>
    </p:bg>
    <p:spTree>
      <p:nvGrpSpPr>
        <p:cNvPr id="1" name=""/>
        <p:cNvGrpSpPr/>
        <p:nvPr/>
      </p:nvGrpSpPr>
      <p:grpSpPr>
        <a:xfrm>
          <a:off x="0" y="0"/>
          <a:ext cx="0" cy="0"/>
          <a:chOff x="0" y="0"/>
          <a:chExt cx="0" cy="0"/>
        </a:xfrm>
      </p:grpSpPr>
      <p:sp>
        <p:nvSpPr>
          <p:cNvPr id="194" name="Text 0"/>
          <p:cNvSpPr/>
          <p:nvPr/>
        </p:nvSpPr>
        <p:spPr>
          <a:xfrm>
            <a:off x="457200" y="50292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299">
                <a:solidFill>
                  <a:srgbClr val="9BE7DC"/>
                </a:solidFill>
                <a:latin typeface="Arial"/>
                <a:ea typeface="Arial"/>
              </a:rPr>
              <a:t>BƯỚC TIẾP THEO</a:t>
            </a:r>
            <a:endParaRPr lang="en-US" sz="1300" b="0" strike="noStrike" spc="-1">
              <a:solidFill>
                <a:srgbClr val="FFFFFF"/>
              </a:solidFill>
              <a:latin typeface="Arial"/>
            </a:endParaRPr>
          </a:p>
        </p:txBody>
      </p:sp>
      <p:sp>
        <p:nvSpPr>
          <p:cNvPr id="195" name="Text 1"/>
          <p:cNvSpPr/>
          <p:nvPr/>
        </p:nvSpPr>
        <p:spPr>
          <a:xfrm>
            <a:off x="457200" y="822960"/>
            <a:ext cx="914364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000" b="1" strike="noStrike" spc="-1">
                <a:solidFill>
                  <a:srgbClr val="FFFFFF"/>
                </a:solidFill>
                <a:latin typeface="Arial"/>
                <a:ea typeface="Arial"/>
              </a:rPr>
              <a:t>Sẵn sàng triển khai thí điểm</a:t>
            </a:r>
            <a:endParaRPr lang="en-US" sz="3000" b="0" strike="noStrike" spc="-1">
              <a:solidFill>
                <a:srgbClr val="FFFFFF"/>
              </a:solidFill>
              <a:latin typeface="Arial"/>
            </a:endParaRPr>
          </a:p>
        </p:txBody>
      </p:sp>
      <p:sp>
        <p:nvSpPr>
          <p:cNvPr id="196" name="Shape 2"/>
          <p:cNvSpPr/>
          <p:nvPr/>
        </p:nvSpPr>
        <p:spPr>
          <a:xfrm>
            <a:off x="457200" y="178308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197" name="Image 0" descr="preencoded.png"/>
          <p:cNvPicPr/>
          <p:nvPr/>
        </p:nvPicPr>
        <p:blipFill>
          <a:blip r:embed="rId3"/>
          <a:stretch/>
        </p:blipFill>
        <p:spPr>
          <a:xfrm>
            <a:off x="576000" y="1901880"/>
            <a:ext cx="219240" cy="219240"/>
          </a:xfrm>
          <a:prstGeom prst="rect">
            <a:avLst/>
          </a:prstGeom>
          <a:ln w="0">
            <a:noFill/>
          </a:ln>
        </p:spPr>
      </p:pic>
      <p:sp>
        <p:nvSpPr>
          <p:cNvPr id="198" name="Text 3"/>
          <p:cNvSpPr/>
          <p:nvPr/>
        </p:nvSpPr>
        <p:spPr>
          <a:xfrm>
            <a:off x="1115640" y="1755720"/>
            <a:ext cx="77720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450" b="1" strike="noStrike" spc="-1">
                <a:solidFill>
                  <a:srgbClr val="FFFFFF"/>
                </a:solidFill>
                <a:latin typeface="Arial"/>
                <a:ea typeface="Arial"/>
              </a:rPr>
              <a:t>Làm việc kỹ thuật cùng Motion Lab</a:t>
            </a:r>
            <a:endParaRPr lang="en-US" sz="1450" b="0" strike="noStrike" spc="-1">
              <a:solidFill>
                <a:srgbClr val="FFFFFF"/>
              </a:solidFill>
              <a:latin typeface="Arial"/>
            </a:endParaRPr>
          </a:p>
          <a:p>
            <a:pPr defTabSz="914400">
              <a:lnSpc>
                <a:spcPct val="120000"/>
              </a:lnSpc>
              <a:tabLst>
                <a:tab pos="0" algn="l"/>
              </a:tabLst>
            </a:pPr>
            <a:r>
              <a:rPr lang="en-US" sz="1200" b="0" strike="noStrike" spc="-1">
                <a:solidFill>
                  <a:srgbClr val="9BE7DC"/>
                </a:solidFill>
                <a:latin typeface="Arial"/>
                <a:ea typeface="Arial"/>
              </a:rPr>
              <a:t>xác nhận dãy điện cực cho MFCV (tần số lấy mẫu đã đủ)</a:t>
            </a:r>
            <a:endParaRPr lang="en-US" sz="1200" b="0" strike="noStrike" spc="-1">
              <a:solidFill>
                <a:srgbClr val="FFFFFF"/>
              </a:solidFill>
              <a:latin typeface="Arial"/>
            </a:endParaRPr>
          </a:p>
        </p:txBody>
      </p:sp>
      <p:sp>
        <p:nvSpPr>
          <p:cNvPr id="199" name="Shape 4"/>
          <p:cNvSpPr/>
          <p:nvPr/>
        </p:nvSpPr>
        <p:spPr>
          <a:xfrm>
            <a:off x="457200" y="262440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00" name="Image 1" descr="preencoded.png"/>
          <p:cNvPicPr/>
          <p:nvPr/>
        </p:nvPicPr>
        <p:blipFill>
          <a:blip r:embed="rId4"/>
          <a:stretch/>
        </p:blipFill>
        <p:spPr>
          <a:xfrm>
            <a:off x="576000" y="2743200"/>
            <a:ext cx="219240" cy="219240"/>
          </a:xfrm>
          <a:prstGeom prst="rect">
            <a:avLst/>
          </a:prstGeom>
          <a:ln w="0">
            <a:noFill/>
          </a:ln>
        </p:spPr>
      </p:pic>
      <p:sp>
        <p:nvSpPr>
          <p:cNvPr id="201" name="Text 5"/>
          <p:cNvSpPr/>
          <p:nvPr/>
        </p:nvSpPr>
        <p:spPr>
          <a:xfrm>
            <a:off x="1115640" y="2597040"/>
            <a:ext cx="77720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450" b="1" strike="noStrike" spc="-1">
                <a:solidFill>
                  <a:srgbClr val="FFFFFF"/>
                </a:solidFill>
                <a:latin typeface="Arial"/>
                <a:ea typeface="Arial"/>
              </a:rPr>
              <a:t>Thống nhất nhóm chỉ định ưu tiên</a:t>
            </a:r>
            <a:endParaRPr lang="en-US" sz="1450" b="0" strike="noStrike" spc="-1">
              <a:solidFill>
                <a:srgbClr val="FFFFFF"/>
              </a:solidFill>
              <a:latin typeface="Arial"/>
            </a:endParaRPr>
          </a:p>
          <a:p>
            <a:pPr defTabSz="914400">
              <a:lnSpc>
                <a:spcPct val="120000"/>
              </a:lnSpc>
              <a:tabLst>
                <a:tab pos="0" algn="l"/>
              </a:tabLst>
            </a:pPr>
            <a:r>
              <a:rPr lang="en-US" sz="1200" b="0" strike="noStrike" spc="-1">
                <a:solidFill>
                  <a:srgbClr val="9BE7DC"/>
                </a:solidFill>
                <a:latin typeface="Arial"/>
                <a:ea typeface="Arial"/>
              </a:rPr>
              <a:t>cùng đội ngũ CTCH/PHCN</a:t>
            </a:r>
            <a:endParaRPr lang="en-US" sz="1200" b="0" strike="noStrike" spc="-1">
              <a:solidFill>
                <a:srgbClr val="FFFFFF"/>
              </a:solidFill>
              <a:latin typeface="Arial"/>
            </a:endParaRPr>
          </a:p>
        </p:txBody>
      </p:sp>
      <p:sp>
        <p:nvSpPr>
          <p:cNvPr id="202" name="Shape 6"/>
          <p:cNvSpPr/>
          <p:nvPr/>
        </p:nvSpPr>
        <p:spPr>
          <a:xfrm>
            <a:off x="457200" y="346572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03" name="Image 2" descr="preencoded.png"/>
          <p:cNvPicPr/>
          <p:nvPr/>
        </p:nvPicPr>
        <p:blipFill>
          <a:blip r:embed="rId5"/>
          <a:stretch/>
        </p:blipFill>
        <p:spPr>
          <a:xfrm>
            <a:off x="576000" y="3584520"/>
            <a:ext cx="219240" cy="219240"/>
          </a:xfrm>
          <a:prstGeom prst="rect">
            <a:avLst/>
          </a:prstGeom>
          <a:ln w="0">
            <a:noFill/>
          </a:ln>
        </p:spPr>
      </p:pic>
      <p:sp>
        <p:nvSpPr>
          <p:cNvPr id="204" name="Text 7"/>
          <p:cNvSpPr/>
          <p:nvPr/>
        </p:nvSpPr>
        <p:spPr>
          <a:xfrm>
            <a:off x="1115640" y="3438000"/>
            <a:ext cx="77720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450" b="1" strike="noStrike" spc="-1">
                <a:solidFill>
                  <a:srgbClr val="FFFFFF"/>
                </a:solidFill>
                <a:latin typeface="Arial"/>
                <a:ea typeface="Arial"/>
              </a:rPr>
              <a:t>Khởi tạo mã chỉ định mới trong OH</a:t>
            </a:r>
            <a:endParaRPr lang="en-US" sz="1450" b="0" strike="noStrike" spc="-1">
              <a:solidFill>
                <a:srgbClr val="FFFFFF"/>
              </a:solidFill>
              <a:latin typeface="Arial"/>
            </a:endParaRPr>
          </a:p>
          <a:p>
            <a:pPr defTabSz="914400">
              <a:lnSpc>
                <a:spcPct val="120000"/>
              </a:lnSpc>
              <a:tabLst>
                <a:tab pos="0" algn="l"/>
              </a:tabLst>
            </a:pPr>
            <a:r>
              <a:rPr lang="en-US" sz="1200" b="0" strike="noStrike" spc="-1">
                <a:solidFill>
                  <a:srgbClr val="9BE7DC"/>
                </a:solidFill>
                <a:latin typeface="Arial"/>
                <a:ea typeface="Arial"/>
              </a:rPr>
              <a:t>đưa vào luồng khám/chỉ định chuẩn</a:t>
            </a:r>
            <a:endParaRPr lang="en-US" sz="1200" b="0" strike="noStrike" spc="-1">
              <a:solidFill>
                <a:srgbClr val="FFFFFF"/>
              </a:solidFill>
              <a:latin typeface="Arial"/>
            </a:endParaRPr>
          </a:p>
        </p:txBody>
      </p:sp>
      <p:sp>
        <p:nvSpPr>
          <p:cNvPr id="205" name="Shape 8"/>
          <p:cNvSpPr/>
          <p:nvPr/>
        </p:nvSpPr>
        <p:spPr>
          <a:xfrm>
            <a:off x="457200" y="430668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06" name="Image 3" descr="preencoded.png"/>
          <p:cNvPicPr/>
          <p:nvPr/>
        </p:nvPicPr>
        <p:blipFill>
          <a:blip r:embed="rId6"/>
          <a:stretch/>
        </p:blipFill>
        <p:spPr>
          <a:xfrm>
            <a:off x="576000" y="4425840"/>
            <a:ext cx="219240" cy="219240"/>
          </a:xfrm>
          <a:prstGeom prst="rect">
            <a:avLst/>
          </a:prstGeom>
          <a:ln w="0">
            <a:noFill/>
          </a:ln>
        </p:spPr>
      </p:pic>
      <p:sp>
        <p:nvSpPr>
          <p:cNvPr id="207" name="Text 9"/>
          <p:cNvSpPr/>
          <p:nvPr/>
        </p:nvSpPr>
        <p:spPr>
          <a:xfrm>
            <a:off x="1115640" y="4279320"/>
            <a:ext cx="777204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450" b="1" strike="noStrike" spc="-1">
                <a:solidFill>
                  <a:srgbClr val="FFFFFF"/>
                </a:solidFill>
                <a:latin typeface="Arial"/>
                <a:ea typeface="Arial"/>
              </a:rPr>
              <a:t>Triển khai thí điểm</a:t>
            </a:r>
            <a:endParaRPr lang="en-US" sz="1450" b="0" strike="noStrike" spc="-1">
              <a:solidFill>
                <a:srgbClr val="FFFFFF"/>
              </a:solidFill>
              <a:latin typeface="Arial"/>
            </a:endParaRPr>
          </a:p>
          <a:p>
            <a:pPr defTabSz="914400">
              <a:lnSpc>
                <a:spcPct val="120000"/>
              </a:lnSpc>
              <a:tabLst>
                <a:tab pos="0" algn="l"/>
              </a:tabLst>
            </a:pPr>
            <a:r>
              <a:rPr lang="en-US" sz="1200" b="0" strike="noStrike" spc="-1">
                <a:solidFill>
                  <a:srgbClr val="9BE7DC"/>
                </a:solidFill>
                <a:latin typeface="Arial"/>
                <a:ea typeface="Arial"/>
              </a:rPr>
              <a:t>thu thập số liệu lợi ích lâm sàng thực tế</a:t>
            </a:r>
            <a:endParaRPr lang="en-US" sz="1200" b="0" strike="noStrike" spc="-1">
              <a:solidFill>
                <a:srgbClr val="FFFFFF"/>
              </a:solidFill>
              <a:latin typeface="Arial"/>
            </a:endParaRPr>
          </a:p>
        </p:txBody>
      </p:sp>
      <p:sp>
        <p:nvSpPr>
          <p:cNvPr id="208" name="Shape 10"/>
          <p:cNvSpPr/>
          <p:nvPr/>
        </p:nvSpPr>
        <p:spPr>
          <a:xfrm>
            <a:off x="9052560" y="1783080"/>
            <a:ext cx="2681640" cy="3017160"/>
          </a:xfrm>
          <a:prstGeom prst="roundRect">
            <a:avLst>
              <a:gd name="adj" fmla="val 4091"/>
            </a:avLst>
          </a:prstGeom>
          <a:solidFill>
            <a:srgbClr val="E08A1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09" name="Text 11"/>
          <p:cNvSpPr/>
          <p:nvPr/>
        </p:nvSpPr>
        <p:spPr>
          <a:xfrm>
            <a:off x="9326880" y="2057400"/>
            <a:ext cx="21330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48">
                <a:solidFill>
                  <a:srgbClr val="FFFFFF"/>
                </a:solidFill>
                <a:latin typeface="Arial"/>
                <a:ea typeface="Arial"/>
              </a:rPr>
              <a:t>XÁC NHẬN ĐỂ KHỞI ĐỘNG</a:t>
            </a:r>
            <a:endParaRPr lang="en-US" sz="1100" b="0" strike="noStrike" spc="-1">
              <a:solidFill>
                <a:srgbClr val="FFFFFF"/>
              </a:solidFill>
              <a:latin typeface="Arial"/>
            </a:endParaRPr>
          </a:p>
        </p:txBody>
      </p:sp>
      <p:sp>
        <p:nvSpPr>
          <p:cNvPr id="210" name="Text 12"/>
          <p:cNvSpPr/>
          <p:nvPr/>
        </p:nvSpPr>
        <p:spPr>
          <a:xfrm>
            <a:off x="9326880" y="2468880"/>
            <a:ext cx="2133000" cy="137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20000"/>
              </a:lnSpc>
              <a:tabLst>
                <a:tab pos="0" algn="l"/>
              </a:tabLst>
            </a:pPr>
            <a:r>
              <a:rPr lang="en-US" sz="1650" b="1" strike="noStrike" spc="-1">
                <a:solidFill>
                  <a:srgbClr val="FFFFFF"/>
                </a:solidFill>
                <a:latin typeface="Arial"/>
                <a:ea typeface="Arial"/>
              </a:rPr>
              <a:t>Cấu hình Noraxon hiện tại có hỗ trợ ước lượng MFCV không?</a:t>
            </a:r>
            <a:endParaRPr lang="en-US" sz="1650" b="0" strike="noStrike" spc="-1">
              <a:solidFill>
                <a:srgbClr val="FFFFFF"/>
              </a:solidFill>
              <a:latin typeface="Arial"/>
            </a:endParaRPr>
          </a:p>
        </p:txBody>
      </p:sp>
      <p:sp>
        <p:nvSpPr>
          <p:cNvPr id="211" name="Text 13"/>
          <p:cNvSpPr/>
          <p:nvPr/>
        </p:nvSpPr>
        <p:spPr>
          <a:xfrm>
            <a:off x="9326880" y="4114800"/>
            <a:ext cx="21330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50" b="0" i="1" strike="noStrike" spc="-1">
                <a:solidFill>
                  <a:srgbClr val="FFFFFF"/>
                </a:solidFill>
                <a:latin typeface="Arial"/>
                <a:ea typeface="Arial"/>
              </a:rPr>
              <a:t>(cần dãy điện cực tuyến tính cho MFCV; sampling 2000–4000 Hz đã đáp ứng)</a:t>
            </a:r>
            <a:endParaRPr lang="en-US" sz="1150" b="0" strike="noStrike" spc="-1">
              <a:solidFill>
                <a:srgbClr val="FFFFFF"/>
              </a:solidFill>
              <a:latin typeface="Arial"/>
            </a:endParaRPr>
          </a:p>
        </p:txBody>
      </p:sp>
      <p:sp>
        <p:nvSpPr>
          <p:cNvPr id="212" name="Text 14"/>
          <p:cNvSpPr/>
          <p:nvPr/>
        </p:nvSpPr>
        <p:spPr>
          <a:xfrm>
            <a:off x="457200" y="6217920"/>
            <a:ext cx="73148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64748B"/>
                </a:solidFill>
                <a:latin typeface="Arial"/>
                <a:ea typeface="Arial"/>
              </a:rPr>
              <a:t>Cảm ơn — sẵn sàng trao đổi thêm.</a:t>
            </a:r>
            <a:endParaRPr lang="en-US" sz="1200" b="0" strike="noStrike" spc="-1">
              <a:solidFill>
                <a:srgbClr val="FFFFFF"/>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3" name="Shape 0"/>
          <p:cNvSpPr/>
          <p:nvPr/>
        </p:nvSpPr>
        <p:spPr>
          <a:xfrm>
            <a:off x="457200" y="411480"/>
            <a:ext cx="566640" cy="5666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14" name="Image 0" descr="preencoded.png"/>
          <p:cNvPicPr/>
          <p:nvPr/>
        </p:nvPicPr>
        <p:blipFill>
          <a:blip r:embed="rId3"/>
          <a:stretch/>
        </p:blipFill>
        <p:spPr>
          <a:xfrm>
            <a:off x="604440" y="558720"/>
            <a:ext cx="271800" cy="271800"/>
          </a:xfrm>
          <a:prstGeom prst="rect">
            <a:avLst/>
          </a:prstGeom>
          <a:ln w="0">
            <a:noFill/>
          </a:ln>
        </p:spPr>
      </p:pic>
      <p:sp>
        <p:nvSpPr>
          <p:cNvPr id="215" name="Text 1"/>
          <p:cNvSpPr/>
          <p:nvPr/>
        </p:nvSpPr>
        <p:spPr>
          <a:xfrm>
            <a:off x="1207080" y="393120"/>
            <a:ext cx="8229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99">
                <a:solidFill>
                  <a:srgbClr val="00A896"/>
                </a:solidFill>
                <a:latin typeface="Arial"/>
                <a:ea typeface="Arial"/>
              </a:rPr>
              <a:t>TÀI LIỆU THAM KHẢO</a:t>
            </a:r>
            <a:endParaRPr lang="en-US" sz="1200" b="0" strike="noStrike" spc="-1">
              <a:solidFill>
                <a:srgbClr val="000000"/>
              </a:solidFill>
              <a:latin typeface="Arial"/>
            </a:endParaRPr>
          </a:p>
        </p:txBody>
      </p:sp>
      <p:sp>
        <p:nvSpPr>
          <p:cNvPr id="216" name="Text 2"/>
          <p:cNvSpPr/>
          <p:nvPr/>
        </p:nvSpPr>
        <p:spPr>
          <a:xfrm>
            <a:off x="1207080" y="631080"/>
            <a:ext cx="96008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1E293B"/>
                </a:solidFill>
                <a:latin typeface="Arial"/>
                <a:ea typeface="Arial"/>
              </a:rPr>
              <a:t>Cơ sở khoa học &amp; nguồn hạ tầng</a:t>
            </a:r>
            <a:endParaRPr lang="en-US" sz="2400" b="0" strike="noStrike" spc="-1">
              <a:solidFill>
                <a:srgbClr val="000000"/>
              </a:solidFill>
              <a:latin typeface="Arial"/>
            </a:endParaRPr>
          </a:p>
        </p:txBody>
      </p:sp>
      <p:sp>
        <p:nvSpPr>
          <p:cNvPr id="217" name="Shape 3"/>
          <p:cNvSpPr/>
          <p:nvPr/>
        </p:nvSpPr>
        <p:spPr>
          <a:xfrm>
            <a:off x="457200" y="1600200"/>
            <a:ext cx="5455440" cy="4480200"/>
          </a:xfrm>
          <a:prstGeom prst="roundRect">
            <a:avLst>
              <a:gd name="adj" fmla="val 2449"/>
            </a:avLst>
          </a:prstGeom>
          <a:solidFill>
            <a:srgbClr val="F2F7F8"/>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18" name="Shape 4"/>
          <p:cNvSpPr/>
          <p:nvPr/>
        </p:nvSpPr>
        <p:spPr>
          <a:xfrm>
            <a:off x="731520" y="1856160"/>
            <a:ext cx="456840" cy="456840"/>
          </a:xfrm>
          <a:prstGeom prst="ellipse">
            <a:avLst/>
          </a:prstGeom>
          <a:solidFill>
            <a:srgbClr val="02809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19" name="Image 1" descr="preencoded.png"/>
          <p:cNvPicPr/>
          <p:nvPr/>
        </p:nvPicPr>
        <p:blipFill>
          <a:blip r:embed="rId4"/>
          <a:stretch/>
        </p:blipFill>
        <p:spPr>
          <a:xfrm>
            <a:off x="850320" y="1974960"/>
            <a:ext cx="219240" cy="219240"/>
          </a:xfrm>
          <a:prstGeom prst="rect">
            <a:avLst/>
          </a:prstGeom>
          <a:ln w="0">
            <a:noFill/>
          </a:ln>
        </p:spPr>
      </p:pic>
      <p:sp>
        <p:nvSpPr>
          <p:cNvPr id="220" name="Text 5"/>
          <p:cNvSpPr/>
          <p:nvPr/>
        </p:nvSpPr>
        <p:spPr>
          <a:xfrm>
            <a:off x="1325880" y="1911240"/>
            <a:ext cx="4358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E293B"/>
                </a:solidFill>
                <a:latin typeface="Arial"/>
                <a:ea typeface="Arial"/>
              </a:rPr>
              <a:t>Khoa học &amp; phương pháp</a:t>
            </a:r>
            <a:endParaRPr lang="en-US" sz="1400" b="0" strike="noStrike" spc="-1">
              <a:solidFill>
                <a:srgbClr val="000000"/>
              </a:solidFill>
              <a:latin typeface="Arial"/>
            </a:endParaRPr>
          </a:p>
        </p:txBody>
      </p:sp>
      <p:sp>
        <p:nvSpPr>
          <p:cNvPr id="221" name="Text 6"/>
          <p:cNvSpPr/>
          <p:nvPr/>
        </p:nvSpPr>
        <p:spPr>
          <a:xfrm>
            <a:off x="731520" y="2423160"/>
            <a:ext cx="490680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20000"/>
              </a:lnSpc>
              <a:spcAft>
                <a:spcPts val="799"/>
              </a:spcAft>
              <a:buClr>
                <a:srgbClr val="1E293B"/>
              </a:buClr>
              <a:buFont typeface="Symbol" charset="2"/>
              <a:buChar char=""/>
            </a:pPr>
            <a:r>
              <a:rPr lang="en-US" sz="1050" b="1" strike="noStrike" spc="-1">
                <a:solidFill>
                  <a:srgbClr val="1E293B"/>
                </a:solidFill>
                <a:latin typeface="Arial"/>
                <a:ea typeface="Arial"/>
              </a:rPr>
              <a:t>Huu, N.T., Luu, G.T., Ravier, P., Buttelli, O. (2025). Detection of Muscles Fatigue Through Surface EMG Signals Utilizing Machine Learning Algorithm. IFMBE Proceedings, vol. 123. Springer, Cham. DOI: 10.1007/978-3-031-90197-3_65.</a:t>
            </a:r>
            <a:endParaRPr lang="en-US" sz="1050" b="0" strike="noStrike" spc="-1">
              <a:solidFill>
                <a:srgbClr val="000000"/>
              </a:solidFill>
              <a:latin typeface="Arial"/>
            </a:endParaRPr>
          </a:p>
          <a:p>
            <a:pPr defTabSz="914400">
              <a:lnSpc>
                <a:spcPct val="120000"/>
              </a:lnSpc>
              <a:spcAft>
                <a:spcPts val="799"/>
              </a:spcAft>
              <a:tabLst>
                <a:tab pos="0" algn="l"/>
              </a:tabLst>
            </a:pPr>
            <a:r>
              <a:rPr lang="en-US" sz="1050" b="0" strike="noStrike" spc="-1">
                <a:solidFill>
                  <a:srgbClr val="64748B"/>
                </a:solidFill>
                <a:latin typeface="Arial"/>
                <a:ea typeface="Arial"/>
              </a:rPr>
              <a:t>— Bài báo gốc của nhóm tác giả; KNN, F1 = 95,12%. Anchor phương pháp luận của hệ thống.</a:t>
            </a:r>
            <a:endParaRPr lang="en-US" sz="1050" b="0" strike="noStrike" spc="-1">
              <a:solidFill>
                <a:srgbClr val="000000"/>
              </a:solidFill>
              <a:latin typeface="Arial"/>
            </a:endParaRPr>
          </a:p>
          <a:p>
            <a:pPr marL="343080" indent="-343080" defTabSz="914400">
              <a:lnSpc>
                <a:spcPct val="120000"/>
              </a:lnSpc>
              <a:spcAft>
                <a:spcPts val="799"/>
              </a:spcAft>
              <a:buClr>
                <a:srgbClr val="1E293B"/>
              </a:buClr>
              <a:buFont typeface="Symbol" charset="2"/>
              <a:buChar char=""/>
              <a:tabLst>
                <a:tab pos="0" algn="l"/>
              </a:tabLst>
            </a:pPr>
            <a:r>
              <a:rPr lang="en-US" sz="1050" b="0" strike="noStrike" spc="-1">
                <a:solidFill>
                  <a:srgbClr val="1E293B"/>
                </a:solidFill>
                <a:latin typeface="Arial"/>
                <a:ea typeface="Arial"/>
              </a:rPr>
              <a:t>Farina D, Pozzo M, Merlo E, Bottin A, Merletti R. Assessment of average muscle fiber conduction velocity from surface EMG signals during fatiguing dynamic contractions. IEEE Trans Biomed Eng, 2004.</a:t>
            </a:r>
            <a:endParaRPr lang="en-US" sz="1050" b="0" strike="noStrike" spc="-1">
              <a:solidFill>
                <a:srgbClr val="000000"/>
              </a:solidFill>
              <a:latin typeface="Arial"/>
            </a:endParaRPr>
          </a:p>
          <a:p>
            <a:pPr marL="343080" indent="-343080" defTabSz="914400">
              <a:lnSpc>
                <a:spcPct val="120000"/>
              </a:lnSpc>
              <a:spcAft>
                <a:spcPts val="799"/>
              </a:spcAft>
              <a:buClr>
                <a:srgbClr val="1E293B"/>
              </a:buClr>
              <a:buFont typeface="Symbol" charset="2"/>
              <a:buChar char=""/>
              <a:tabLst>
                <a:tab pos="0" algn="l"/>
              </a:tabLst>
            </a:pPr>
            <a:r>
              <a:rPr lang="en-US" sz="1050" b="0" strike="noStrike" spc="-1">
                <a:solidFill>
                  <a:srgbClr val="1E293B"/>
                </a:solidFill>
                <a:latin typeface="Arial"/>
                <a:ea typeface="Arial"/>
              </a:rPr>
              <a:t>Bigland-Ritchie B, et al. Conduction velocity and EMG power spectrum changes in fatigue of sustained maximal efforts. J Appl Physiol, 1981.</a:t>
            </a:r>
            <a:endParaRPr lang="en-US" sz="1050" b="0" strike="noStrike" spc="-1">
              <a:solidFill>
                <a:srgbClr val="000000"/>
              </a:solidFill>
              <a:latin typeface="Arial"/>
            </a:endParaRPr>
          </a:p>
          <a:p>
            <a:pPr marL="343080" indent="-343080" defTabSz="914400">
              <a:lnSpc>
                <a:spcPct val="120000"/>
              </a:lnSpc>
              <a:spcAft>
                <a:spcPts val="799"/>
              </a:spcAft>
              <a:buClr>
                <a:srgbClr val="1E293B"/>
              </a:buClr>
              <a:buFont typeface="Symbol" charset="2"/>
              <a:buChar char=""/>
              <a:tabLst>
                <a:tab pos="0" algn="l"/>
              </a:tabLst>
            </a:pPr>
            <a:r>
              <a:rPr lang="en-US" sz="1050" b="0" strike="noStrike" spc="-1">
                <a:solidFill>
                  <a:srgbClr val="1E293B"/>
                </a:solidFill>
                <a:latin typeface="Arial"/>
                <a:ea typeface="Arial"/>
              </a:rPr>
              <a:t>Kupa EJ, et al. Effects of muscle fiber type and size on EMG median frequency and conduction velocity. J Appl Physiol, 1995.</a:t>
            </a:r>
            <a:endParaRPr lang="en-US" sz="1050" b="0" strike="noStrike" spc="-1">
              <a:solidFill>
                <a:srgbClr val="000000"/>
              </a:solidFill>
              <a:latin typeface="Arial"/>
            </a:endParaRPr>
          </a:p>
        </p:txBody>
      </p:sp>
      <p:sp>
        <p:nvSpPr>
          <p:cNvPr id="222" name="Shape 7"/>
          <p:cNvSpPr/>
          <p:nvPr/>
        </p:nvSpPr>
        <p:spPr>
          <a:xfrm>
            <a:off x="6278760" y="1600200"/>
            <a:ext cx="5455440" cy="4480200"/>
          </a:xfrm>
          <a:prstGeom prst="roundRect">
            <a:avLst>
              <a:gd name="adj" fmla="val 2449"/>
            </a:avLst>
          </a:prstGeom>
          <a:solidFill>
            <a:srgbClr val="EAF7F4"/>
          </a:solidFill>
          <a:ln w="0">
            <a:noFill/>
          </a:ln>
          <a:effectLst>
            <a:outerShdw blurRad="101520" dist="38160" dir="5400000" algn="bl" rotWithShape="0">
              <a:srgbClr val="0B2A4A">
                <a:alpha val="12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223" name="Shape 8"/>
          <p:cNvSpPr/>
          <p:nvPr/>
        </p:nvSpPr>
        <p:spPr>
          <a:xfrm>
            <a:off x="6553080" y="1856160"/>
            <a:ext cx="456840" cy="456840"/>
          </a:xfrm>
          <a:prstGeom prst="ellipse">
            <a:avLst/>
          </a:prstGeom>
          <a:solidFill>
            <a:srgbClr val="00A896"/>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pic>
        <p:nvPicPr>
          <p:cNvPr id="224" name="Image 2" descr="preencoded.png"/>
          <p:cNvPicPr/>
          <p:nvPr/>
        </p:nvPicPr>
        <p:blipFill>
          <a:blip r:embed="rId5"/>
          <a:stretch/>
        </p:blipFill>
        <p:spPr>
          <a:xfrm>
            <a:off x="6671880" y="1974960"/>
            <a:ext cx="219240" cy="219240"/>
          </a:xfrm>
          <a:prstGeom prst="rect">
            <a:avLst/>
          </a:prstGeom>
          <a:ln w="0">
            <a:noFill/>
          </a:ln>
        </p:spPr>
      </p:pic>
      <p:sp>
        <p:nvSpPr>
          <p:cNvPr id="225" name="Text 9"/>
          <p:cNvSpPr/>
          <p:nvPr/>
        </p:nvSpPr>
        <p:spPr>
          <a:xfrm>
            <a:off x="7147440" y="1911240"/>
            <a:ext cx="4358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1E293B"/>
                </a:solidFill>
                <a:latin typeface="Arial"/>
                <a:ea typeface="Arial"/>
              </a:rPr>
              <a:t>Nguồn hạ tầng Vinmec</a:t>
            </a:r>
            <a:endParaRPr lang="en-US" sz="1400" b="0" strike="noStrike" spc="-1">
              <a:solidFill>
                <a:srgbClr val="000000"/>
              </a:solidFill>
              <a:latin typeface="Arial"/>
            </a:endParaRPr>
          </a:p>
        </p:txBody>
      </p:sp>
      <p:sp>
        <p:nvSpPr>
          <p:cNvPr id="226" name="Text 10"/>
          <p:cNvSpPr/>
          <p:nvPr/>
        </p:nvSpPr>
        <p:spPr>
          <a:xfrm>
            <a:off x="6553080" y="2423160"/>
            <a:ext cx="4906800" cy="3474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marL="343080" indent="-343080" defTabSz="914400">
              <a:lnSpc>
                <a:spcPct val="120000"/>
              </a:lnSpc>
              <a:spcAft>
                <a:spcPts val="799"/>
              </a:spcAft>
              <a:buClr>
                <a:srgbClr val="1E293B"/>
              </a:buClr>
              <a:buFont typeface="Symbol" charset="2"/>
              <a:buChar char=""/>
            </a:pPr>
            <a:r>
              <a:rPr lang="en-US" sz="1050" b="1" strike="noStrike" spc="-1">
                <a:solidFill>
                  <a:srgbClr val="1E293B"/>
                </a:solidFill>
                <a:latin typeface="Arial"/>
                <a:ea typeface="Arial"/>
              </a:rPr>
              <a:t>[1] Trung tâm Chấn thương chỉnh hình &amp; Y học thể thao — Vinmec Times City.</a:t>
            </a:r>
            <a:endParaRPr lang="en-US" sz="1050" b="0" strike="noStrike" spc="-1">
              <a:solidFill>
                <a:srgbClr val="000000"/>
              </a:solidFill>
              <a:latin typeface="Arial"/>
            </a:endParaRPr>
          </a:p>
          <a:p>
            <a:pPr defTabSz="914400">
              <a:lnSpc>
                <a:spcPct val="120000"/>
              </a:lnSpc>
              <a:spcAft>
                <a:spcPts val="799"/>
              </a:spcAft>
              <a:tabLst>
                <a:tab pos="0" algn="l"/>
              </a:tabLst>
            </a:pPr>
            <a:r>
              <a:rPr lang="en-US" sz="1050" b="0" strike="noStrike" spc="-1">
                <a:solidFill>
                  <a:srgbClr val="64748B"/>
                </a:solidFill>
                <a:latin typeface="Arial"/>
                <a:ea typeface="Arial"/>
              </a:rPr>
              <a:t>Mục “Trang thiết bị” → Phòng Phân tích Vận động (Motion Analysis Lab): 16 camera 3D VICON Valkyrie, cảm biến điện cơ bề mặt Noraxon Ultium 16 kênh, phần mềm myoRESEARCH (MR3).</a:t>
            </a:r>
            <a:endParaRPr lang="en-US" sz="1050" b="0" strike="noStrike" spc="-1">
              <a:solidFill>
                <a:srgbClr val="000000"/>
              </a:solidFill>
              <a:latin typeface="Arial"/>
            </a:endParaRPr>
          </a:p>
          <a:p>
            <a:pPr defTabSz="914400">
              <a:lnSpc>
                <a:spcPct val="120000"/>
              </a:lnSpc>
              <a:spcAft>
                <a:spcPts val="799"/>
              </a:spcAft>
              <a:tabLst>
                <a:tab pos="0" algn="l"/>
              </a:tabLst>
            </a:pPr>
            <a:r>
              <a:rPr lang="en-US" sz="1050" b="0" i="1" strike="noStrike" spc="-1">
                <a:solidFill>
                  <a:srgbClr val="64748B"/>
                </a:solidFill>
                <a:latin typeface="Arial"/>
                <a:ea typeface="Arial"/>
              </a:rPr>
              <a:t>vinmec.com — chuyên mục cơ sở y tế Times City</a:t>
            </a:r>
            <a:endParaRPr lang="en-US" sz="1050" b="0" strike="noStrike" spc="-1">
              <a:solidFill>
                <a:srgbClr val="000000"/>
              </a:solidFill>
              <a:latin typeface="Arial"/>
            </a:endParaRPr>
          </a:p>
          <a:p>
            <a:pPr marL="343080" indent="-343080" defTabSz="914400">
              <a:lnSpc>
                <a:spcPct val="120000"/>
              </a:lnSpc>
              <a:spcAft>
                <a:spcPts val="799"/>
              </a:spcAft>
              <a:buClr>
                <a:srgbClr val="1E293B"/>
              </a:buClr>
              <a:buFont typeface="Symbol" charset="2"/>
              <a:buChar char=""/>
              <a:tabLst>
                <a:tab pos="0" algn="l"/>
              </a:tabLst>
            </a:pPr>
            <a:r>
              <a:rPr lang="en-US" sz="1050" b="1" strike="noStrike" spc="-1">
                <a:solidFill>
                  <a:srgbClr val="1E293B"/>
                </a:solidFill>
                <a:latin typeface="Arial"/>
                <a:ea typeface="Arial"/>
              </a:rPr>
              <a:t>[2] Chuyên khoa Chấn thương chỉnh hình – Y học thể thao, Vinmec.</a:t>
            </a:r>
            <a:endParaRPr lang="en-US" sz="1050" b="0" strike="noStrike" spc="-1">
              <a:solidFill>
                <a:srgbClr val="000000"/>
              </a:solidFill>
              <a:latin typeface="Arial"/>
            </a:endParaRPr>
          </a:p>
          <a:p>
            <a:pPr defTabSz="914400">
              <a:lnSpc>
                <a:spcPct val="120000"/>
              </a:lnSpc>
              <a:spcAft>
                <a:spcPts val="799"/>
              </a:spcAft>
              <a:tabLst>
                <a:tab pos="0" algn="l"/>
              </a:tabLst>
            </a:pPr>
            <a:r>
              <a:rPr lang="en-US" sz="1050" b="0" strike="noStrike" spc="-1">
                <a:solidFill>
                  <a:srgbClr val="64748B"/>
                </a:solidFill>
                <a:latin typeface="Arial"/>
                <a:ea typeface="Arial"/>
              </a:rPr>
              <a:t>Tab “Công nghệ” → Motion Lab &amp; Ánh xạ giải phẫu: xác nhận chức năng phân tích động học, động lực học, sức cơ và điện thần kinh cơ.</a:t>
            </a:r>
            <a:endParaRPr lang="en-US" sz="1050" b="0" strike="noStrike" spc="-1">
              <a:solidFill>
                <a:srgbClr val="000000"/>
              </a:solidFill>
              <a:latin typeface="Arial"/>
            </a:endParaRPr>
          </a:p>
          <a:p>
            <a:pPr defTabSz="914400">
              <a:lnSpc>
                <a:spcPct val="120000"/>
              </a:lnSpc>
              <a:spcAft>
                <a:spcPts val="799"/>
              </a:spcAft>
              <a:tabLst>
                <a:tab pos="0" algn="l"/>
              </a:tabLst>
            </a:pPr>
            <a:r>
              <a:rPr lang="en-US" sz="1050" b="0" i="1" strike="noStrike" spc="-1">
                <a:solidFill>
                  <a:srgbClr val="64748B"/>
                </a:solidFill>
                <a:latin typeface="Arial"/>
                <a:ea typeface="Arial"/>
              </a:rPr>
              <a:t>vinmec.com — chuyên mục chuyên khoa CTCH-YHTT</a:t>
            </a:r>
            <a:endParaRPr lang="en-US" sz="1050" b="0" strike="noStrike" spc="-1">
              <a:solidFill>
                <a:srgbClr val="000000"/>
              </a:solidFill>
              <a:latin typeface="Arial"/>
            </a:endParaRPr>
          </a:p>
        </p:txBody>
      </p:sp>
      <p:sp>
        <p:nvSpPr>
          <p:cNvPr id="227" name="Text 11"/>
          <p:cNvSpPr/>
          <p:nvPr/>
        </p:nvSpPr>
        <p:spPr>
          <a:xfrm>
            <a:off x="457200" y="6473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Arial"/>
                <a:ea typeface="Arial"/>
              </a:rPr>
              <a:t>CHƯƠNG 2 · sEMG — ĐÁNH GIÁ MỎI CƠ</a:t>
            </a:r>
            <a:endParaRPr lang="en-US" sz="900" b="0" strike="noStrike" spc="-1">
              <a:solidFill>
                <a:srgbClr val="000000"/>
              </a:solidFill>
              <a:latin typeface="Arial"/>
            </a:endParaRPr>
          </a:p>
        </p:txBody>
      </p:sp>
      <p:sp>
        <p:nvSpPr>
          <p:cNvPr id="228" name="Text 12"/>
          <p:cNvSpPr/>
          <p:nvPr/>
        </p:nvSpPr>
        <p:spPr>
          <a:xfrm>
            <a:off x="10637280" y="647388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Arial"/>
                <a:ea typeface="Arial"/>
              </a:rPr>
              <a:t>Phụ lục</a:t>
            </a:r>
            <a:endParaRPr lang="en-US" sz="9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411480"/>
            <a:ext cx="566928" cy="5669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93192"/>
            <a:ext cx="10058400" cy="274320"/>
          </a:xfrm>
          <a:prstGeom prst="rect">
            <a:avLst/>
          </a:prstGeom>
          <a:noFill/>
        </p:spPr>
        <p:txBody>
          <a:bodyPr wrap="square" lIns="0" rIns="0" tIns="0" bIns="0">
            <a:spAutoFit/>
          </a:bodyPr>
          <a:lstStyle/>
          <a:p>
            <a:r>
              <a:rPr sz="1200" b="1">
                <a:solidFill>
                  <a:srgbClr val="00A896"/>
                </a:solidFill>
                <a:latin typeface="Arial"/>
              </a:rPr>
              <a:t>KHOẢNG TRỐNG LÂM SÀNG</a:t>
            </a:r>
          </a:p>
        </p:txBody>
      </p:sp>
      <p:sp>
        <p:nvSpPr>
          <p:cNvPr id="4" name="TextBox 3"/>
          <p:cNvSpPr txBox="1"/>
          <p:nvPr/>
        </p:nvSpPr>
        <p:spPr>
          <a:xfrm>
            <a:off x="1207008" y="630936"/>
            <a:ext cx="10424160" cy="658368"/>
          </a:xfrm>
          <a:prstGeom prst="rect">
            <a:avLst/>
          </a:prstGeom>
          <a:noFill/>
        </p:spPr>
        <p:txBody>
          <a:bodyPr wrap="square" lIns="0" rIns="0" tIns="0" bIns="0">
            <a:spAutoFit/>
          </a:bodyPr>
          <a:lstStyle/>
          <a:p>
            <a:r>
              <a:rPr sz="2400" b="1">
                <a:solidFill>
                  <a:srgbClr val="1E293B"/>
                </a:solidFill>
                <a:latin typeface="Arial"/>
              </a:rPr>
              <a:t>Motion Lab đã đo được nhiều thứ — trừ dấu hiệu mỏi sớm</a:t>
            </a:r>
          </a:p>
        </p:txBody>
      </p:sp>
      <p:sp>
        <p:nvSpPr>
          <p:cNvPr id="5" name="Rounded Rectangle 4"/>
          <p:cNvSpPr/>
          <p:nvPr/>
        </p:nvSpPr>
        <p:spPr>
          <a:xfrm>
            <a:off x="457200" y="1645920"/>
            <a:ext cx="3575304" cy="1170432"/>
          </a:xfrm>
          <a:prstGeom prst="round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810512"/>
            <a:ext cx="3063240" cy="329184"/>
          </a:xfrm>
          <a:prstGeom prst="rect">
            <a:avLst/>
          </a:prstGeom>
          <a:noFill/>
        </p:spPr>
        <p:txBody>
          <a:bodyPr wrap="square" lIns="0" rIns="0" tIns="0" bIns="0">
            <a:spAutoFit/>
          </a:bodyPr>
          <a:lstStyle/>
          <a:p>
            <a:r>
              <a:rPr sz="1400" b="1">
                <a:solidFill>
                  <a:srgbClr val="1E293B"/>
                </a:solidFill>
                <a:latin typeface="Arial"/>
              </a:rPr>
              <a:t>Sức cơ</a:t>
            </a:r>
          </a:p>
        </p:txBody>
      </p:sp>
      <p:sp>
        <p:nvSpPr>
          <p:cNvPr id="7" name="TextBox 6"/>
          <p:cNvSpPr txBox="1"/>
          <p:nvPr/>
        </p:nvSpPr>
        <p:spPr>
          <a:xfrm>
            <a:off x="713232" y="2194560"/>
            <a:ext cx="3063240" cy="502920"/>
          </a:xfrm>
          <a:prstGeom prst="rect">
            <a:avLst/>
          </a:prstGeom>
          <a:noFill/>
        </p:spPr>
        <p:txBody>
          <a:bodyPr wrap="square" lIns="0" rIns="0" tIns="0" bIns="0">
            <a:spAutoFit/>
          </a:bodyPr>
          <a:lstStyle/>
          <a:p>
            <a:r>
              <a:rPr sz="1050" b="0">
                <a:solidFill>
                  <a:srgbClr val="64748B"/>
                </a:solidFill>
                <a:latin typeface="Arial"/>
              </a:rPr>
              <a:t>Compass 600 / David Health — đo trực tiếp</a:t>
            </a:r>
          </a:p>
        </p:txBody>
      </p:sp>
      <p:sp>
        <p:nvSpPr>
          <p:cNvPr id="8" name="Rounded Rectangle 7"/>
          <p:cNvSpPr/>
          <p:nvPr/>
        </p:nvSpPr>
        <p:spPr>
          <a:xfrm>
            <a:off x="4306824" y="1645920"/>
            <a:ext cx="3575304" cy="1170432"/>
          </a:xfrm>
          <a:prstGeom prst="round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62856" y="1810512"/>
            <a:ext cx="3063240" cy="329184"/>
          </a:xfrm>
          <a:prstGeom prst="rect">
            <a:avLst/>
          </a:prstGeom>
          <a:noFill/>
        </p:spPr>
        <p:txBody>
          <a:bodyPr wrap="square" lIns="0" rIns="0" tIns="0" bIns="0">
            <a:spAutoFit/>
          </a:bodyPr>
          <a:lstStyle/>
          <a:p>
            <a:r>
              <a:rPr sz="1400" b="1">
                <a:solidFill>
                  <a:srgbClr val="1E293B"/>
                </a:solidFill>
                <a:latin typeface="Arial"/>
              </a:rPr>
              <a:t>Động học</a:t>
            </a:r>
          </a:p>
        </p:txBody>
      </p:sp>
      <p:sp>
        <p:nvSpPr>
          <p:cNvPr id="10" name="TextBox 9"/>
          <p:cNvSpPr txBox="1"/>
          <p:nvPr/>
        </p:nvSpPr>
        <p:spPr>
          <a:xfrm>
            <a:off x="4562856" y="2194560"/>
            <a:ext cx="3063240" cy="502920"/>
          </a:xfrm>
          <a:prstGeom prst="rect">
            <a:avLst/>
          </a:prstGeom>
          <a:noFill/>
        </p:spPr>
        <p:txBody>
          <a:bodyPr wrap="square" lIns="0" rIns="0" tIns="0" bIns="0">
            <a:spAutoFit/>
          </a:bodyPr>
          <a:lstStyle/>
          <a:p>
            <a:r>
              <a:rPr sz="1050" b="0">
                <a:solidFill>
                  <a:srgbClr val="64748B"/>
                </a:solidFill>
                <a:latin typeface="Arial"/>
              </a:rPr>
              <a:t>VICON Valkyrie — chuyển động 3D</a:t>
            </a:r>
          </a:p>
        </p:txBody>
      </p:sp>
      <p:sp>
        <p:nvSpPr>
          <p:cNvPr id="11" name="Rounded Rectangle 10"/>
          <p:cNvSpPr/>
          <p:nvPr/>
        </p:nvSpPr>
        <p:spPr>
          <a:xfrm>
            <a:off x="8156448" y="1645920"/>
            <a:ext cx="3575304" cy="1170432"/>
          </a:xfrm>
          <a:prstGeom prst="round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1810512"/>
            <a:ext cx="3063240" cy="329184"/>
          </a:xfrm>
          <a:prstGeom prst="rect">
            <a:avLst/>
          </a:prstGeom>
          <a:noFill/>
        </p:spPr>
        <p:txBody>
          <a:bodyPr wrap="square" lIns="0" rIns="0" tIns="0" bIns="0">
            <a:spAutoFit/>
          </a:bodyPr>
          <a:lstStyle/>
          <a:p>
            <a:r>
              <a:rPr sz="1400" b="1">
                <a:solidFill>
                  <a:srgbClr val="1E293B"/>
                </a:solidFill>
                <a:latin typeface="Arial"/>
              </a:rPr>
              <a:t>Kích hoạt cơ</a:t>
            </a:r>
          </a:p>
        </p:txBody>
      </p:sp>
      <p:sp>
        <p:nvSpPr>
          <p:cNvPr id="13" name="TextBox 12"/>
          <p:cNvSpPr txBox="1"/>
          <p:nvPr/>
        </p:nvSpPr>
        <p:spPr>
          <a:xfrm>
            <a:off x="8412480" y="2194560"/>
            <a:ext cx="3063240" cy="502920"/>
          </a:xfrm>
          <a:prstGeom prst="rect">
            <a:avLst/>
          </a:prstGeom>
          <a:noFill/>
        </p:spPr>
        <p:txBody>
          <a:bodyPr wrap="square" lIns="0" rIns="0" tIns="0" bIns="0">
            <a:spAutoFit/>
          </a:bodyPr>
          <a:lstStyle/>
          <a:p>
            <a:r>
              <a:rPr sz="1050" b="0">
                <a:solidFill>
                  <a:srgbClr val="64748B"/>
                </a:solidFill>
                <a:latin typeface="Arial"/>
              </a:rPr>
              <a:t>Noraxon Ultium — biên độ / vị trí</a:t>
            </a:r>
          </a:p>
        </p:txBody>
      </p:sp>
      <p:sp>
        <p:nvSpPr>
          <p:cNvPr id="14" name="Rounded Rectangle 13"/>
          <p:cNvSpPr/>
          <p:nvPr/>
        </p:nvSpPr>
        <p:spPr>
          <a:xfrm>
            <a:off x="457200" y="3063240"/>
            <a:ext cx="11274552" cy="777240"/>
          </a:xfrm>
          <a:prstGeom prst="round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118104"/>
            <a:ext cx="10607040" cy="667512"/>
          </a:xfrm>
          <a:prstGeom prst="rect">
            <a:avLst/>
          </a:prstGeom>
          <a:noFill/>
        </p:spPr>
        <p:txBody>
          <a:bodyPr wrap="square" lIns="0" rIns="0" tIns="0" bIns="0" anchor="ctr">
            <a:spAutoFit/>
          </a:bodyPr>
          <a:lstStyle/>
          <a:p>
            <a:r>
              <a:rPr sz="1500" b="1">
                <a:solidFill>
                  <a:srgbClr val="9BE7DC"/>
                </a:solidFill>
                <a:latin typeface="Arial"/>
              </a:rPr>
              <a:t>Còn thiếu: </a:t>
            </a:r>
            <a:r>
              <a:rPr sz="1500" b="0">
                <a:solidFill>
                  <a:srgbClr val="FFFFFF"/>
                </a:solidFill>
                <a:latin typeface="Arial"/>
              </a:rPr>
              <a:t>chỉ dấu sinh lý báo mỏi </a:t>
            </a:r>
            <a:r>
              <a:rPr sz="1500" b="1">
                <a:solidFill>
                  <a:srgbClr val="9BE7DC"/>
                </a:solidFill>
                <a:latin typeface="Arial"/>
              </a:rPr>
              <a:t>TRƯỚC KHI</a:t>
            </a:r>
            <a:r>
              <a:rPr sz="1500" b="0">
                <a:solidFill>
                  <a:srgbClr val="FFFFFF"/>
                </a:solidFill>
                <a:latin typeface="Arial"/>
              </a:rPr>
              <a:t> sức cơ tụt rõ.</a:t>
            </a:r>
          </a:p>
        </p:txBody>
      </p:sp>
      <p:sp>
        <p:nvSpPr>
          <p:cNvPr id="16" name="Rounded Rectangle 15"/>
          <p:cNvSpPr/>
          <p:nvPr/>
        </p:nvSpPr>
        <p:spPr>
          <a:xfrm>
            <a:off x="457200" y="4160520"/>
            <a:ext cx="11274552" cy="1207008"/>
          </a:xfrm>
          <a:prstGeom prst="round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343400"/>
            <a:ext cx="10607040" cy="502920"/>
          </a:xfrm>
          <a:prstGeom prst="rect">
            <a:avLst/>
          </a:prstGeom>
          <a:noFill/>
        </p:spPr>
        <p:txBody>
          <a:bodyPr wrap="square" lIns="0" rIns="0" tIns="0" bIns="0">
            <a:spAutoFit/>
          </a:bodyPr>
          <a:lstStyle/>
          <a:p>
            <a:r>
              <a:rPr sz="1800" b="1">
                <a:solidFill>
                  <a:srgbClr val="1E293B"/>
                </a:solidFill>
                <a:latin typeface="Arial"/>
              </a:rPr>
              <a:t>“Hôm nay có nên tăng tải cho bệnh nhân này không?”</a:t>
            </a:r>
          </a:p>
        </p:txBody>
      </p:sp>
      <p:sp>
        <p:nvSpPr>
          <p:cNvPr id="18" name="TextBox 17"/>
          <p:cNvSpPr txBox="1"/>
          <p:nvPr/>
        </p:nvSpPr>
        <p:spPr>
          <a:xfrm>
            <a:off x="777240" y="4956048"/>
            <a:ext cx="10607040" cy="365760"/>
          </a:xfrm>
          <a:prstGeom prst="rect">
            <a:avLst/>
          </a:prstGeom>
          <a:noFill/>
        </p:spPr>
        <p:txBody>
          <a:bodyPr wrap="square" lIns="0" rIns="0" tIns="0" bIns="0">
            <a:spAutoFit/>
          </a:bodyPr>
          <a:lstStyle/>
          <a:p>
            <a:r>
              <a:rPr sz="1200" b="0">
                <a:solidFill>
                  <a:srgbClr val="64748B"/>
                </a:solidFill>
                <a:latin typeface="Arial"/>
              </a:rPr>
              <a:t>Quyết định lặp lại mỗi buổi phục hồi — hiện dựa nhiều vào cảm nhận chủ quan.</a:t>
            </a:r>
          </a:p>
        </p:txBody>
      </p:sp>
      <p:sp>
        <p:nvSpPr>
          <p:cNvPr id="19" name="TextBox 18"/>
          <p:cNvSpPr txBox="1"/>
          <p:nvPr/>
        </p:nvSpPr>
        <p:spPr>
          <a:xfrm>
            <a:off x="457200" y="6473952"/>
            <a:ext cx="5486400" cy="274320"/>
          </a:xfrm>
          <a:prstGeom prst="rect">
            <a:avLst/>
          </a:prstGeom>
          <a:noFill/>
        </p:spPr>
        <p:txBody>
          <a:bodyPr wrap="square" lIns="0" rIns="0" tIns="0" bIns="0">
            <a:spAutoFit/>
          </a:bodyPr>
          <a:lstStyle/>
          <a:p>
            <a:r>
              <a:rPr sz="900" b="0">
                <a:solidFill>
                  <a:srgbClr val="64748B"/>
                </a:solidFill>
                <a:latin typeface="Arial"/>
              </a:rPr>
              <a:t>CHƯƠNG 2 · sEMG — ĐÁNH GIÁ MỎI CƠ</a:t>
            </a:r>
          </a:p>
        </p:txBody>
      </p:sp>
      <p:sp>
        <p:nvSpPr>
          <p:cNvPr id="20" name="TextBox 19"/>
          <p:cNvSpPr txBox="1"/>
          <p:nvPr/>
        </p:nvSpPr>
        <p:spPr>
          <a:xfrm>
            <a:off x="10634472" y="6473952"/>
            <a:ext cx="1097280" cy="274320"/>
          </a:xfrm>
          <a:prstGeom prst="rect">
            <a:avLst/>
          </a:prstGeom>
          <a:noFill/>
        </p:spPr>
        <p:txBody>
          <a:bodyPr wrap="square" lIns="0" rIns="0" tIns="0" bIns="0">
            <a:spAutoFit/>
          </a:bodyPr>
          <a:lstStyle/>
          <a:p>
            <a:pPr algn="r"/>
            <a:r>
              <a:rPr sz="900" b="0">
                <a:solidFill>
                  <a:srgbClr val="64748B"/>
                </a:solidFill>
                <a:latin typeface="Arial"/>
              </a:rPr>
              <a:t>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411480"/>
            <a:ext cx="566928" cy="5669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93192"/>
            <a:ext cx="10058400" cy="274320"/>
          </a:xfrm>
          <a:prstGeom prst="rect">
            <a:avLst/>
          </a:prstGeom>
          <a:noFill/>
        </p:spPr>
        <p:txBody>
          <a:bodyPr wrap="square" lIns="0" rIns="0" tIns="0" bIns="0">
            <a:spAutoFit/>
          </a:bodyPr>
          <a:lstStyle/>
          <a:p>
            <a:r>
              <a:rPr sz="1200" b="1">
                <a:solidFill>
                  <a:srgbClr val="00A896"/>
                </a:solidFill>
                <a:latin typeface="Arial"/>
              </a:rPr>
              <a:t>CA MINH HỌA — GIẢ ĐỊNH</a:t>
            </a:r>
          </a:p>
        </p:txBody>
      </p:sp>
      <p:sp>
        <p:nvSpPr>
          <p:cNvPr id="4" name="TextBox 3"/>
          <p:cNvSpPr txBox="1"/>
          <p:nvPr/>
        </p:nvSpPr>
        <p:spPr>
          <a:xfrm>
            <a:off x="1207008" y="630936"/>
            <a:ext cx="10424160" cy="658368"/>
          </a:xfrm>
          <a:prstGeom prst="rect">
            <a:avLst/>
          </a:prstGeom>
          <a:noFill/>
        </p:spPr>
        <p:txBody>
          <a:bodyPr wrap="square" lIns="0" rIns="0" tIns="0" bIns="0">
            <a:spAutoFit/>
          </a:bodyPr>
          <a:lstStyle/>
          <a:p>
            <a:r>
              <a:rPr sz="2400" b="1">
                <a:solidFill>
                  <a:srgbClr val="1E293B"/>
                </a:solidFill>
                <a:latin typeface="Arial"/>
              </a:rPr>
              <a:t>Cùng một ca ACL, hai quyết định khác nhau</a:t>
            </a:r>
          </a:p>
        </p:txBody>
      </p:sp>
      <p:sp>
        <p:nvSpPr>
          <p:cNvPr id="5" name="Rounded Rectangle 4"/>
          <p:cNvSpPr/>
          <p:nvPr/>
        </p:nvSpPr>
        <p:spPr>
          <a:xfrm>
            <a:off x="457200" y="1691640"/>
            <a:ext cx="5458968" cy="2834640"/>
          </a:xfrm>
          <a:prstGeom prst="roundRect">
            <a:avLst/>
          </a:prstGeom>
          <a:solidFill>
            <a:srgbClr val="F2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874520"/>
            <a:ext cx="4946904" cy="365760"/>
          </a:xfrm>
          <a:prstGeom prst="rect">
            <a:avLst/>
          </a:prstGeom>
          <a:noFill/>
        </p:spPr>
        <p:txBody>
          <a:bodyPr wrap="square" lIns="0" rIns="0" tIns="0" bIns="0">
            <a:spAutoFit/>
          </a:bodyPr>
          <a:lstStyle/>
          <a:p>
            <a:r>
              <a:rPr sz="1500" b="1">
                <a:solidFill>
                  <a:srgbClr val="1E293B"/>
                </a:solidFill>
                <a:latin typeface="Arial"/>
              </a:rPr>
              <a:t>Phác đồ hiện tại</a:t>
            </a:r>
          </a:p>
        </p:txBody>
      </p:sp>
      <p:sp>
        <p:nvSpPr>
          <p:cNvPr id="7" name="TextBox 6"/>
          <p:cNvSpPr txBox="1"/>
          <p:nvPr/>
        </p:nvSpPr>
        <p:spPr>
          <a:xfrm>
            <a:off x="713232" y="2350008"/>
            <a:ext cx="4946904" cy="1645920"/>
          </a:xfrm>
          <a:prstGeom prst="rect">
            <a:avLst/>
          </a:prstGeom>
          <a:noFill/>
        </p:spPr>
        <p:txBody>
          <a:bodyPr wrap="square" lIns="0" rIns="0" tIns="0" bIns="0">
            <a:spAutoFit/>
          </a:bodyPr>
          <a:lstStyle/>
          <a:p>
            <a:r>
              <a:rPr sz="1200" b="0">
                <a:solidFill>
                  <a:srgbClr val="1E293B"/>
                </a:solidFill>
                <a:latin typeface="Arial"/>
              </a:rPr>
              <a:t>Tuần 6 sau tái tạo ACL. Sức cơ đạt 85% chân lành → phác đồ hiện tại: tăng tải.</a:t>
            </a:r>
          </a:p>
        </p:txBody>
      </p:sp>
      <p:sp>
        <p:nvSpPr>
          <p:cNvPr id="8" name="Rounded Rectangle 7"/>
          <p:cNvSpPr/>
          <p:nvPr/>
        </p:nvSpPr>
        <p:spPr>
          <a:xfrm>
            <a:off x="6281928" y="1691640"/>
            <a:ext cx="5458968" cy="2834640"/>
          </a:xfrm>
          <a:prstGeom prst="roundRect">
            <a:avLst/>
          </a:prstGeom>
          <a:solidFill>
            <a:srgbClr val="F2F7F8"/>
          </a:solidFill>
          <a:ln w="1905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874520"/>
            <a:ext cx="4946904" cy="365760"/>
          </a:xfrm>
          <a:prstGeom prst="rect">
            <a:avLst/>
          </a:prstGeom>
          <a:noFill/>
        </p:spPr>
        <p:txBody>
          <a:bodyPr wrap="square" lIns="0" rIns="0" tIns="0" bIns="0">
            <a:spAutoFit/>
          </a:bodyPr>
          <a:lstStyle/>
          <a:p>
            <a:r>
              <a:rPr sz="1500" b="1">
                <a:solidFill>
                  <a:srgbClr val="028090"/>
                </a:solidFill>
                <a:latin typeface="Arial"/>
              </a:rPr>
              <a:t>Với MFCV</a:t>
            </a:r>
          </a:p>
        </p:txBody>
      </p:sp>
      <p:sp>
        <p:nvSpPr>
          <p:cNvPr id="10" name="TextBox 9"/>
          <p:cNvSpPr txBox="1"/>
          <p:nvPr/>
        </p:nvSpPr>
        <p:spPr>
          <a:xfrm>
            <a:off x="6537960" y="2350008"/>
            <a:ext cx="4946904" cy="1645920"/>
          </a:xfrm>
          <a:prstGeom prst="rect">
            <a:avLst/>
          </a:prstGeom>
          <a:noFill/>
        </p:spPr>
        <p:txBody>
          <a:bodyPr wrap="square" lIns="0" rIns="0" tIns="0" bIns="0">
            <a:spAutoFit/>
          </a:bodyPr>
          <a:lstStyle/>
          <a:p>
            <a:r>
              <a:rPr sz="1200" b="0">
                <a:solidFill>
                  <a:srgbClr val="1E293B"/>
                </a:solidFill>
                <a:latin typeface="Arial"/>
              </a:rPr>
              <a:t>Phát hiện mỏi sớm khu trú ở vastus medialis ở mức tải thấp hơn dự kiến → giữ tải, tránh quá tải điểm yếu.</a:t>
            </a:r>
          </a:p>
        </p:txBody>
      </p:sp>
      <p:sp>
        <p:nvSpPr>
          <p:cNvPr id="11" name="Rounded Rectangle 10"/>
          <p:cNvSpPr/>
          <p:nvPr/>
        </p:nvSpPr>
        <p:spPr>
          <a:xfrm>
            <a:off x="457200" y="4846320"/>
            <a:ext cx="11274552" cy="822960"/>
          </a:xfrm>
          <a:prstGeom prst="round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919472"/>
            <a:ext cx="10607040" cy="676656"/>
          </a:xfrm>
          <a:prstGeom prst="rect">
            <a:avLst/>
          </a:prstGeom>
          <a:noFill/>
        </p:spPr>
        <p:txBody>
          <a:bodyPr wrap="square" lIns="0" rIns="0" tIns="0" bIns="0" anchor="ctr">
            <a:spAutoFit/>
          </a:bodyPr>
          <a:lstStyle/>
          <a:p>
            <a:r>
              <a:rPr sz="1100" b="1">
                <a:solidFill>
                  <a:srgbClr val="9BE7DC"/>
                </a:solidFill>
                <a:latin typeface="Arial"/>
              </a:rPr>
              <a:t>Ca giả định </a:t>
            </a:r>
            <a:r>
              <a:rPr sz="1100" b="0">
                <a:solidFill>
                  <a:srgbClr val="FFFFFF"/>
                </a:solidFill>
                <a:latin typeface="Arial"/>
              </a:rPr>
              <a:t>để minh họa cơ chế giá trị — chưa phải dữ liệu bệnh nhân Vinmec. Kiểm chứng chính là mục tiêu của thí điểm.</a:t>
            </a:r>
          </a:p>
        </p:txBody>
      </p:sp>
      <p:sp>
        <p:nvSpPr>
          <p:cNvPr id="13" name="TextBox 12"/>
          <p:cNvSpPr txBox="1"/>
          <p:nvPr/>
        </p:nvSpPr>
        <p:spPr>
          <a:xfrm>
            <a:off x="457200" y="6473952"/>
            <a:ext cx="5486400" cy="274320"/>
          </a:xfrm>
          <a:prstGeom prst="rect">
            <a:avLst/>
          </a:prstGeom>
          <a:noFill/>
        </p:spPr>
        <p:txBody>
          <a:bodyPr wrap="square" lIns="0" rIns="0" tIns="0" bIns="0">
            <a:spAutoFit/>
          </a:bodyPr>
          <a:lstStyle/>
          <a:p>
            <a:r>
              <a:rPr sz="900" b="0">
                <a:solidFill>
                  <a:srgbClr val="64748B"/>
                </a:solidFill>
                <a:latin typeface="Arial"/>
              </a:rPr>
              <a:t>CHƯƠNG 2 · sEMG — ĐÁNH GIÁ MỎI CƠ</a:t>
            </a:r>
          </a:p>
        </p:txBody>
      </p:sp>
      <p:sp>
        <p:nvSpPr>
          <p:cNvPr id="14" name="TextBox 13"/>
          <p:cNvSpPr txBox="1"/>
          <p:nvPr/>
        </p:nvSpPr>
        <p:spPr>
          <a:xfrm>
            <a:off x="10634472" y="6473952"/>
            <a:ext cx="1097280" cy="274320"/>
          </a:xfrm>
          <a:prstGeom prst="rect">
            <a:avLst/>
          </a:prstGeom>
          <a:noFill/>
        </p:spPr>
        <p:txBody>
          <a:bodyPr wrap="square" lIns="0" rIns="0" tIns="0" bIns="0">
            <a:spAutoFit/>
          </a:bodyPr>
          <a:lstStyle/>
          <a:p>
            <a:pPr algn="r"/>
            <a:r>
              <a:rPr sz="900" b="0">
                <a:solidFill>
                  <a:srgbClr val="64748B"/>
                </a:solidFill>
                <a:latin typeface="Arial"/>
              </a:rPr>
              <a:t>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411480"/>
            <a:ext cx="566928" cy="5669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93192"/>
            <a:ext cx="10058400" cy="274320"/>
          </a:xfrm>
          <a:prstGeom prst="rect">
            <a:avLst/>
          </a:prstGeom>
          <a:noFill/>
        </p:spPr>
        <p:txBody>
          <a:bodyPr wrap="square" lIns="0" rIns="0" tIns="0" bIns="0">
            <a:spAutoFit/>
          </a:bodyPr>
          <a:lstStyle/>
          <a:p>
            <a:r>
              <a:rPr sz="1200" b="1">
                <a:solidFill>
                  <a:srgbClr val="00A896"/>
                </a:solidFill>
                <a:latin typeface="Arial"/>
              </a:rPr>
              <a:t>DEMO TRỰC TIẾP</a:t>
            </a:r>
          </a:p>
        </p:txBody>
      </p:sp>
      <p:sp>
        <p:nvSpPr>
          <p:cNvPr id="4" name="TextBox 3"/>
          <p:cNvSpPr txBox="1"/>
          <p:nvPr/>
        </p:nvSpPr>
        <p:spPr>
          <a:xfrm>
            <a:off x="1207008" y="630936"/>
            <a:ext cx="10424160" cy="658368"/>
          </a:xfrm>
          <a:prstGeom prst="rect">
            <a:avLst/>
          </a:prstGeom>
          <a:noFill/>
        </p:spPr>
        <p:txBody>
          <a:bodyPr wrap="square" lIns="0" rIns="0" tIns="0" bIns="0">
            <a:spAutoFit/>
          </a:bodyPr>
          <a:lstStyle/>
          <a:p>
            <a:r>
              <a:rPr sz="2400" b="1">
                <a:solidFill>
                  <a:srgbClr val="1E293B"/>
                </a:solidFill>
                <a:latin typeface="Arial"/>
              </a:rPr>
              <a:t>Phát hiện mỏi cơ theo thời gian thực trong buổi tập</a:t>
            </a:r>
          </a:p>
        </p:txBody>
      </p:sp>
      <p:sp>
        <p:nvSpPr>
          <p:cNvPr id="5" name="TextBox 4"/>
          <p:cNvSpPr txBox="1"/>
          <p:nvPr/>
        </p:nvSpPr>
        <p:spPr>
          <a:xfrm>
            <a:off x="457200" y="1417320"/>
            <a:ext cx="11274552" cy="457200"/>
          </a:xfrm>
          <a:prstGeom prst="rect">
            <a:avLst/>
          </a:prstGeom>
          <a:noFill/>
        </p:spPr>
        <p:txBody>
          <a:bodyPr wrap="square" lIns="0" rIns="0" tIns="0" bIns="0">
            <a:spAutoFit/>
          </a:bodyPr>
          <a:lstStyle/>
          <a:p>
            <a:r>
              <a:rPr sz="1400" b="0">
                <a:solidFill>
                  <a:srgbClr val="1E293B"/>
                </a:solidFill>
                <a:latin typeface="Arial"/>
              </a:rPr>
              <a:t>Đường cong mỏi cơ + cảnh báo thời điểm bắt đầu mỏi — trên tín hiệu sEMG thật của một buổi tập.</a:t>
            </a:r>
          </a:p>
        </p:txBody>
      </p:sp>
      <p:sp>
        <p:nvSpPr>
          <p:cNvPr id="6" name="Rounded Rectangle 5"/>
          <p:cNvSpPr/>
          <p:nvPr/>
        </p:nvSpPr>
        <p:spPr>
          <a:xfrm>
            <a:off x="457200" y="2011680"/>
            <a:ext cx="11274552" cy="3246120"/>
          </a:xfrm>
          <a:prstGeom prst="roundRect">
            <a:avLst/>
          </a:prstGeom>
          <a:solidFill>
            <a:srgbClr val="F2F7F8"/>
          </a:solidFill>
          <a:ln w="952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429000"/>
            <a:ext cx="11274552" cy="457200"/>
          </a:xfrm>
          <a:prstGeom prst="rect">
            <a:avLst/>
          </a:prstGeom>
          <a:noFill/>
        </p:spPr>
        <p:txBody>
          <a:bodyPr wrap="square" lIns="0" rIns="0" tIns="0" bIns="0" anchor="ctr">
            <a:spAutoFit/>
          </a:bodyPr>
          <a:lstStyle/>
          <a:p>
            <a:pPr algn="ctr"/>
            <a:r>
              <a:rPr sz="1400" b="0">
                <a:solidFill>
                  <a:srgbClr val="64748B"/>
                </a:solidFill>
                <a:latin typeface="Arial"/>
              </a:rPr>
              <a:t>[  Ảnh chụp màn hình Demo — Use Case 1  ]</a:t>
            </a:r>
          </a:p>
        </p:txBody>
      </p:sp>
      <p:sp>
        <p:nvSpPr>
          <p:cNvPr id="8" name="TextBox 7"/>
          <p:cNvSpPr txBox="1"/>
          <p:nvPr/>
        </p:nvSpPr>
        <p:spPr>
          <a:xfrm>
            <a:off x="457200" y="5376672"/>
            <a:ext cx="11274552" cy="320040"/>
          </a:xfrm>
          <a:prstGeom prst="rect">
            <a:avLst/>
          </a:prstGeom>
          <a:noFill/>
        </p:spPr>
        <p:txBody>
          <a:bodyPr wrap="square" lIns="0" rIns="0" tIns="0" bIns="0">
            <a:spAutoFit/>
          </a:bodyPr>
          <a:lstStyle/>
          <a:p>
            <a:r>
              <a:rPr sz="1000" b="0">
                <a:solidFill>
                  <a:srgbClr val="64748B"/>
                </a:solidFill>
                <a:latin typeface="Arial"/>
              </a:rPr>
              <a:t>Use Case 1 · real-time · ma trận 64 kênh, 2000 Hz.</a:t>
            </a:r>
          </a:p>
        </p:txBody>
      </p:sp>
      <p:sp>
        <p:nvSpPr>
          <p:cNvPr id="9" name="TextBox 8"/>
          <p:cNvSpPr txBox="1"/>
          <p:nvPr/>
        </p:nvSpPr>
        <p:spPr>
          <a:xfrm>
            <a:off x="457200" y="6473952"/>
            <a:ext cx="5486400" cy="274320"/>
          </a:xfrm>
          <a:prstGeom prst="rect">
            <a:avLst/>
          </a:prstGeom>
          <a:noFill/>
        </p:spPr>
        <p:txBody>
          <a:bodyPr wrap="square" lIns="0" rIns="0" tIns="0" bIns="0">
            <a:spAutoFit/>
          </a:bodyPr>
          <a:lstStyle/>
          <a:p>
            <a:r>
              <a:rPr sz="900" b="0">
                <a:solidFill>
                  <a:srgbClr val="64748B"/>
                </a:solidFill>
                <a:latin typeface="Arial"/>
              </a:rPr>
              <a:t>CHƯƠNG 2 · sEMG — ĐÁNH GIÁ MỎI CƠ</a:t>
            </a:r>
          </a:p>
        </p:txBody>
      </p:sp>
      <p:sp>
        <p:nvSpPr>
          <p:cNvPr id="10" name="TextBox 9"/>
          <p:cNvSpPr txBox="1"/>
          <p:nvPr/>
        </p:nvSpPr>
        <p:spPr>
          <a:xfrm>
            <a:off x="10634472" y="6473952"/>
            <a:ext cx="1097280" cy="274320"/>
          </a:xfrm>
          <a:prstGeom prst="rect">
            <a:avLst/>
          </a:prstGeom>
          <a:noFill/>
        </p:spPr>
        <p:txBody>
          <a:bodyPr wrap="square" lIns="0" rIns="0" tIns="0" bIns="0">
            <a:spAutoFit/>
          </a:bodyPr>
          <a:lstStyle/>
          <a:p>
            <a:pPr algn="r"/>
            <a:r>
              <a:rPr sz="900" b="0">
                <a:solidFill>
                  <a:srgbClr val="64748B"/>
                </a:solidFill>
                <a:latin typeface="Arial"/>
              </a:rPr>
              <a:t>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411480"/>
            <a:ext cx="566928" cy="5669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93192"/>
            <a:ext cx="10058400" cy="274320"/>
          </a:xfrm>
          <a:prstGeom prst="rect">
            <a:avLst/>
          </a:prstGeom>
          <a:noFill/>
        </p:spPr>
        <p:txBody>
          <a:bodyPr wrap="square" lIns="0" rIns="0" tIns="0" bIns="0">
            <a:spAutoFit/>
          </a:bodyPr>
          <a:lstStyle/>
          <a:p>
            <a:r>
              <a:rPr sz="1200" b="1">
                <a:solidFill>
                  <a:srgbClr val="00A896"/>
                </a:solidFill>
                <a:latin typeface="Arial"/>
              </a:rPr>
              <a:t>DEMO TRỰC TIẾP</a:t>
            </a:r>
          </a:p>
        </p:txBody>
      </p:sp>
      <p:sp>
        <p:nvSpPr>
          <p:cNvPr id="4" name="TextBox 3"/>
          <p:cNvSpPr txBox="1"/>
          <p:nvPr/>
        </p:nvSpPr>
        <p:spPr>
          <a:xfrm>
            <a:off x="1207008" y="630936"/>
            <a:ext cx="10424160" cy="658368"/>
          </a:xfrm>
          <a:prstGeom prst="rect">
            <a:avLst/>
          </a:prstGeom>
          <a:noFill/>
        </p:spPr>
        <p:txBody>
          <a:bodyPr wrap="square" lIns="0" rIns="0" tIns="0" bIns="0">
            <a:spAutoFit/>
          </a:bodyPr>
          <a:lstStyle/>
          <a:p>
            <a:r>
              <a:rPr sz="2400" b="1">
                <a:solidFill>
                  <a:srgbClr val="1E293B"/>
                </a:solidFill>
                <a:latin typeface="Arial"/>
              </a:rPr>
              <a:t>Theo dõi tiến độ phục hồi cơ qua nhiều buổi</a:t>
            </a:r>
          </a:p>
        </p:txBody>
      </p:sp>
      <p:sp>
        <p:nvSpPr>
          <p:cNvPr id="5" name="TextBox 4"/>
          <p:cNvSpPr txBox="1"/>
          <p:nvPr/>
        </p:nvSpPr>
        <p:spPr>
          <a:xfrm>
            <a:off x="457200" y="1417320"/>
            <a:ext cx="11274552" cy="457200"/>
          </a:xfrm>
          <a:prstGeom prst="rect">
            <a:avLst/>
          </a:prstGeom>
          <a:noFill/>
        </p:spPr>
        <p:txBody>
          <a:bodyPr wrap="square" lIns="0" rIns="0" tIns="0" bIns="0">
            <a:spAutoFit/>
          </a:bodyPr>
          <a:lstStyle/>
          <a:p>
            <a:r>
              <a:rPr sz="1400" b="0">
                <a:solidFill>
                  <a:srgbClr val="1E293B"/>
                </a:solidFill>
                <a:latin typeface="Arial"/>
              </a:rPr>
              <a:t>Dashboard tổng hợp: sức bền tăng qua từng buổi, đối chiếu đường cong mỏi — trả lời “cơ có thực sự khỏe hơn không, bao nhiêu”.</a:t>
            </a:r>
          </a:p>
        </p:txBody>
      </p:sp>
      <p:sp>
        <p:nvSpPr>
          <p:cNvPr id="6" name="Rounded Rectangle 5"/>
          <p:cNvSpPr/>
          <p:nvPr/>
        </p:nvSpPr>
        <p:spPr>
          <a:xfrm>
            <a:off x="457200" y="2011680"/>
            <a:ext cx="11274552" cy="3246120"/>
          </a:xfrm>
          <a:prstGeom prst="roundRect">
            <a:avLst/>
          </a:prstGeom>
          <a:solidFill>
            <a:srgbClr val="F2F7F8"/>
          </a:solidFill>
          <a:ln w="952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429000"/>
            <a:ext cx="11274552" cy="457200"/>
          </a:xfrm>
          <a:prstGeom prst="rect">
            <a:avLst/>
          </a:prstGeom>
          <a:noFill/>
        </p:spPr>
        <p:txBody>
          <a:bodyPr wrap="square" lIns="0" rIns="0" tIns="0" bIns="0" anchor="ctr">
            <a:spAutoFit/>
          </a:bodyPr>
          <a:lstStyle/>
          <a:p>
            <a:pPr algn="ctr"/>
            <a:r>
              <a:rPr sz="1400" b="0">
                <a:solidFill>
                  <a:srgbClr val="64748B"/>
                </a:solidFill>
                <a:latin typeface="Arial"/>
              </a:rPr>
              <a:t>[  Ảnh chụp màn hình Demo — Use Case 2 (Dashboard)  ]</a:t>
            </a:r>
          </a:p>
        </p:txBody>
      </p:sp>
      <p:sp>
        <p:nvSpPr>
          <p:cNvPr id="8" name="TextBox 7"/>
          <p:cNvSpPr txBox="1"/>
          <p:nvPr/>
        </p:nvSpPr>
        <p:spPr>
          <a:xfrm>
            <a:off x="457200" y="5376672"/>
            <a:ext cx="11274552" cy="320040"/>
          </a:xfrm>
          <a:prstGeom prst="rect">
            <a:avLst/>
          </a:prstGeom>
          <a:noFill/>
        </p:spPr>
        <p:txBody>
          <a:bodyPr wrap="square" lIns="0" rIns="0" tIns="0" bIns="0">
            <a:spAutoFit/>
          </a:bodyPr>
          <a:lstStyle/>
          <a:p>
            <a:r>
              <a:rPr sz="1000" b="0">
                <a:solidFill>
                  <a:srgbClr val="64748B"/>
                </a:solidFill>
                <a:latin typeface="Arial"/>
              </a:rPr>
              <a:t>Use Case 2 · longitudinal · gắn Bước 7 của quy trình.</a:t>
            </a:r>
          </a:p>
        </p:txBody>
      </p:sp>
      <p:sp>
        <p:nvSpPr>
          <p:cNvPr id="9" name="TextBox 8"/>
          <p:cNvSpPr txBox="1"/>
          <p:nvPr/>
        </p:nvSpPr>
        <p:spPr>
          <a:xfrm>
            <a:off x="457200" y="6473952"/>
            <a:ext cx="5486400" cy="274320"/>
          </a:xfrm>
          <a:prstGeom prst="rect">
            <a:avLst/>
          </a:prstGeom>
          <a:noFill/>
        </p:spPr>
        <p:txBody>
          <a:bodyPr wrap="square" lIns="0" rIns="0" tIns="0" bIns="0">
            <a:spAutoFit/>
          </a:bodyPr>
          <a:lstStyle/>
          <a:p>
            <a:r>
              <a:rPr sz="900" b="0">
                <a:solidFill>
                  <a:srgbClr val="64748B"/>
                </a:solidFill>
                <a:latin typeface="Arial"/>
              </a:rPr>
              <a:t>CHƯƠNG 2 · sEMG — ĐÁNH GIÁ MỎI CƠ</a:t>
            </a:r>
          </a:p>
        </p:txBody>
      </p:sp>
      <p:sp>
        <p:nvSpPr>
          <p:cNvPr id="10" name="TextBox 9"/>
          <p:cNvSpPr txBox="1"/>
          <p:nvPr/>
        </p:nvSpPr>
        <p:spPr>
          <a:xfrm>
            <a:off x="10634472" y="6473952"/>
            <a:ext cx="1097280" cy="274320"/>
          </a:xfrm>
          <a:prstGeom prst="rect">
            <a:avLst/>
          </a:prstGeom>
          <a:noFill/>
        </p:spPr>
        <p:txBody>
          <a:bodyPr wrap="square" lIns="0" rIns="0" tIns="0" bIns="0">
            <a:spAutoFit/>
          </a:bodyPr>
          <a:lstStyle/>
          <a:p>
            <a:pPr algn="r"/>
            <a:r>
              <a:rPr sz="900" b="0">
                <a:solidFill>
                  <a:srgbClr val="64748B"/>
                </a:solidFill>
                <a:latin typeface="Arial"/>
              </a:rPr>
              <a:t>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411480"/>
            <a:ext cx="566928" cy="566928"/>
          </a:xfrm>
          <a:prstGeom prst="ellipse">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07008" y="393192"/>
            <a:ext cx="10058400" cy="274320"/>
          </a:xfrm>
          <a:prstGeom prst="rect">
            <a:avLst/>
          </a:prstGeom>
          <a:noFill/>
        </p:spPr>
        <p:txBody>
          <a:bodyPr wrap="square" lIns="0" rIns="0" tIns="0" bIns="0">
            <a:spAutoFit/>
          </a:bodyPr>
          <a:lstStyle/>
          <a:p>
            <a:r>
              <a:rPr sz="1200" b="1">
                <a:solidFill>
                  <a:srgbClr val="00A896"/>
                </a:solidFill>
                <a:latin typeface="Arial"/>
              </a:rPr>
              <a:t>ĐỀ XUẤT THÍ ĐIỂM</a:t>
            </a:r>
          </a:p>
        </p:txBody>
      </p:sp>
      <p:sp>
        <p:nvSpPr>
          <p:cNvPr id="4" name="TextBox 3"/>
          <p:cNvSpPr txBox="1"/>
          <p:nvPr/>
        </p:nvSpPr>
        <p:spPr>
          <a:xfrm>
            <a:off x="1207008" y="630936"/>
            <a:ext cx="10424160" cy="658368"/>
          </a:xfrm>
          <a:prstGeom prst="rect">
            <a:avLst/>
          </a:prstGeom>
          <a:noFill/>
        </p:spPr>
        <p:txBody>
          <a:bodyPr wrap="square" lIns="0" rIns="0" tIns="0" bIns="0">
            <a:spAutoFit/>
          </a:bodyPr>
          <a:lstStyle/>
          <a:p>
            <a:r>
              <a:rPr sz="2400" b="1">
                <a:solidFill>
                  <a:srgbClr val="1E293B"/>
                </a:solidFill>
                <a:latin typeface="Arial"/>
              </a:rPr>
              <a:t>Thí điểm 1 trang — sẵn sàng triển khai</a:t>
            </a:r>
          </a:p>
        </p:txBody>
      </p:sp>
      <p:graphicFrame>
        <p:nvGraphicFramePr>
          <p:cNvPr id="5" name="Table 4"/>
          <p:cNvGraphicFramePr>
            <a:graphicFrameLocks noGrp="1"/>
          </p:cNvGraphicFramePr>
          <p:nvPr/>
        </p:nvGraphicFramePr>
        <p:xfrm>
          <a:off x="457200" y="1645920"/>
          <a:ext cx="11274551" cy="3291840"/>
        </p:xfrm>
        <a:graphic>
          <a:graphicData uri="http://schemas.openxmlformats.org/drawingml/2006/table">
            <a:tbl>
              <a:tblPr>
                <a:tableStyleId>{5C22544A-7EE6-4342-B048-85BDC9FD1C3A}</a:tableStyleId>
              </a:tblPr>
              <a:tblGrid>
                <a:gridCol w="3017520"/>
                <a:gridCol w="8257031"/>
              </a:tblGrid>
              <a:tr h="548640">
                <a:tc>
                  <a:txBody>
                    <a:bodyPr/>
                    <a:lstStyle/>
                    <a:p>
                      <a:r>
                        <a:rPr sz="1150" b="1">
                          <a:solidFill>
                            <a:srgbClr val="FFFFFF"/>
                          </a:solidFill>
                          <a:latin typeface="Arial"/>
                        </a:rPr>
                        <a:t>HẠNG MỤC</a:t>
                      </a:r>
                    </a:p>
                  </a:txBody>
                  <a:tcPr anchor="ctr" marL="128016" marR="128016" marT="45720" marB="45720">
                    <a:solidFill>
                      <a:srgbClr val="028090"/>
                    </a:solidFill>
                  </a:tcPr>
                </a:tc>
                <a:tc>
                  <a:txBody>
                    <a:bodyPr/>
                    <a:lstStyle/>
                    <a:p>
                      <a:r>
                        <a:rPr sz="1150" b="1">
                          <a:solidFill>
                            <a:srgbClr val="FFFFFF"/>
                          </a:solidFill>
                          <a:latin typeface="Arial"/>
                        </a:rPr>
                        <a:t>ĐỀ XUẤT  (số cần team điền lại)</a:t>
                      </a:r>
                    </a:p>
                  </a:txBody>
                  <a:tcPr anchor="ctr" marL="128016" marR="128016" marT="45720" marB="45720">
                    <a:solidFill>
                      <a:srgbClr val="028090"/>
                    </a:solidFill>
                  </a:tcPr>
                </a:tc>
              </a:tr>
              <a:tr h="548640">
                <a:tc>
                  <a:txBody>
                    <a:bodyPr/>
                    <a:lstStyle/>
                    <a:p>
                      <a:r>
                        <a:rPr sz="1150" b="1">
                          <a:solidFill>
                            <a:srgbClr val="1E293B"/>
                          </a:solidFill>
                          <a:latin typeface="Arial"/>
                        </a:rPr>
                        <a:t>Đối tượng</a:t>
                      </a:r>
                    </a:p>
                  </a:txBody>
                  <a:tcPr anchor="ctr" marL="128016" marR="128016" marT="45720" marB="45720">
                    <a:solidFill>
                      <a:srgbClr val="FFFFFF"/>
                    </a:solidFill>
                  </a:tcPr>
                </a:tc>
                <a:tc>
                  <a:txBody>
                    <a:bodyPr/>
                    <a:lstStyle/>
                    <a:p>
                      <a:r>
                        <a:rPr sz="1150" b="0">
                          <a:solidFill>
                            <a:srgbClr val="1E293B"/>
                          </a:solidFill>
                          <a:latin typeface="Arial"/>
                        </a:rPr>
                        <a:t>N ≈ 30 BN sau tái tạo ACL, tuần 4–12</a:t>
                      </a:r>
                    </a:p>
                  </a:txBody>
                  <a:tcPr anchor="ctr" marL="128016" marR="128016" marT="45720" marB="45720">
                    <a:solidFill>
                      <a:srgbClr val="FFFFFF"/>
                    </a:solidFill>
                  </a:tcPr>
                </a:tc>
              </a:tr>
              <a:tr h="548640">
                <a:tc>
                  <a:txBody>
                    <a:bodyPr/>
                    <a:lstStyle/>
                    <a:p>
                      <a:r>
                        <a:rPr sz="1150" b="1">
                          <a:solidFill>
                            <a:srgbClr val="1E293B"/>
                          </a:solidFill>
                          <a:latin typeface="Arial"/>
                        </a:rPr>
                        <a:t>Cơ mục tiêu</a:t>
                      </a:r>
                    </a:p>
                  </a:txBody>
                  <a:tcPr anchor="ctr" marL="128016" marR="128016" marT="45720" marB="45720">
                    <a:solidFill>
                      <a:srgbClr val="F2F7F8"/>
                    </a:solidFill>
                  </a:tcPr>
                </a:tc>
                <a:tc>
                  <a:txBody>
                    <a:bodyPr/>
                    <a:lstStyle/>
                    <a:p>
                      <a:r>
                        <a:rPr sz="1150" b="0">
                          <a:solidFill>
                            <a:srgbClr val="1E293B"/>
                          </a:solidFill>
                          <a:latin typeface="Arial"/>
                        </a:rPr>
                        <a:t>Vastus medialis, vastus lateralis, hamstring</a:t>
                      </a:r>
                    </a:p>
                  </a:txBody>
                  <a:tcPr anchor="ctr" marL="128016" marR="128016" marT="45720" marB="45720">
                    <a:solidFill>
                      <a:srgbClr val="F2F7F8"/>
                    </a:solidFill>
                  </a:tcPr>
                </a:tc>
              </a:tr>
              <a:tr h="548640">
                <a:tc>
                  <a:txBody>
                    <a:bodyPr/>
                    <a:lstStyle/>
                    <a:p>
                      <a:r>
                        <a:rPr sz="1150" b="1">
                          <a:solidFill>
                            <a:srgbClr val="1E293B"/>
                          </a:solidFill>
                          <a:latin typeface="Arial"/>
                        </a:rPr>
                        <a:t>Thời gian</a:t>
                      </a:r>
                    </a:p>
                  </a:txBody>
                  <a:tcPr anchor="ctr" marL="128016" marR="128016" marT="45720" marB="45720">
                    <a:solidFill>
                      <a:srgbClr val="FFFFFF"/>
                    </a:solidFill>
                  </a:tcPr>
                </a:tc>
                <a:tc>
                  <a:txBody>
                    <a:bodyPr/>
                    <a:lstStyle/>
                    <a:p>
                      <a:r>
                        <a:rPr sz="1150" b="0">
                          <a:solidFill>
                            <a:srgbClr val="1E293B"/>
                          </a:solidFill>
                          <a:latin typeface="Arial"/>
                        </a:rPr>
                        <a:t>12 tuần thu thập + 4 tuần phân tích</a:t>
                      </a:r>
                    </a:p>
                  </a:txBody>
                  <a:tcPr anchor="ctr" marL="128016" marR="128016" marT="45720" marB="45720">
                    <a:solidFill>
                      <a:srgbClr val="FFFFFF"/>
                    </a:solidFill>
                  </a:tcPr>
                </a:tc>
              </a:tr>
              <a:tr h="548640">
                <a:tc>
                  <a:txBody>
                    <a:bodyPr/>
                    <a:lstStyle/>
                    <a:p>
                      <a:r>
                        <a:rPr sz="1150" b="1">
                          <a:solidFill>
                            <a:srgbClr val="1E293B"/>
                          </a:solidFill>
                          <a:latin typeface="Arial"/>
                        </a:rPr>
                        <a:t>Tần suất</a:t>
                      </a:r>
                    </a:p>
                  </a:txBody>
                  <a:tcPr anchor="ctr" marL="128016" marR="128016" marT="45720" marB="45720">
                    <a:solidFill>
                      <a:srgbClr val="F2F7F8"/>
                    </a:solidFill>
                  </a:tcPr>
                </a:tc>
                <a:tc>
                  <a:txBody>
                    <a:bodyPr/>
                    <a:lstStyle/>
                    <a:p>
                      <a:r>
                        <a:rPr sz="1150" b="0">
                          <a:solidFill>
                            <a:srgbClr val="1E293B"/>
                          </a:solidFill>
                          <a:latin typeface="Arial"/>
                        </a:rPr>
                        <a:t>1 buổi/tuần, lồng vào buổi PHCN sẵn có — 0 lượt hẹn Motion Lab phát sinh</a:t>
                      </a:r>
                    </a:p>
                  </a:txBody>
                  <a:tcPr anchor="ctr" marL="128016" marR="128016" marT="45720" marB="45720">
                    <a:solidFill>
                      <a:srgbClr val="F2F7F8"/>
                    </a:solidFill>
                  </a:tcPr>
                </a:tc>
              </a:tr>
              <a:tr h="548640">
                <a:tc>
                  <a:txBody>
                    <a:bodyPr/>
                    <a:lstStyle/>
                    <a:p>
                      <a:r>
                        <a:rPr sz="1150" b="1">
                          <a:solidFill>
                            <a:srgbClr val="1E293B"/>
                          </a:solidFill>
                          <a:latin typeface="Arial"/>
                        </a:rPr>
                        <a:t>Chi phí</a:t>
                      </a:r>
                    </a:p>
                  </a:txBody>
                  <a:tcPr anchor="ctr" marL="128016" marR="128016" marT="45720" marB="45720">
                    <a:solidFill>
                      <a:srgbClr val="FFFFFF"/>
                    </a:solidFill>
                  </a:tcPr>
                </a:tc>
                <a:tc>
                  <a:txBody>
                    <a:bodyPr/>
                    <a:lstStyle/>
                    <a:p>
                      <a:r>
                        <a:rPr sz="1150" b="0">
                          <a:solidFill>
                            <a:srgbClr val="1E293B"/>
                          </a:solidFill>
                          <a:latin typeface="Arial"/>
                        </a:rPr>
                        <a:t>Phần cứng (module array nếu cần) + nhân lực</a:t>
                      </a:r>
                    </a:p>
                  </a:txBody>
                  <a:tcPr anchor="ctr" marL="128016" marR="128016" marT="45720" marB="45720">
                    <a:solidFill>
                      <a:srgbClr val="FFFFFF"/>
                    </a:solidFill>
                  </a:tcPr>
                </a:tc>
              </a:tr>
            </a:tbl>
          </a:graphicData>
        </a:graphic>
      </p:graphicFrame>
      <p:sp>
        <p:nvSpPr>
          <p:cNvPr id="6" name="TextBox 5"/>
          <p:cNvSpPr txBox="1"/>
          <p:nvPr/>
        </p:nvSpPr>
        <p:spPr>
          <a:xfrm>
            <a:off x="457200" y="5074920"/>
            <a:ext cx="11274552" cy="365760"/>
          </a:xfrm>
          <a:prstGeom prst="rect">
            <a:avLst/>
          </a:prstGeom>
          <a:noFill/>
        </p:spPr>
        <p:txBody>
          <a:bodyPr wrap="square" lIns="0" rIns="0" tIns="0" bIns="0">
            <a:spAutoFit/>
          </a:bodyPr>
          <a:lstStyle/>
          <a:p>
            <a:r>
              <a:rPr sz="1000" b="0">
                <a:solidFill>
                  <a:srgbClr val="64748B"/>
                </a:solidFill>
                <a:latin typeface="Arial"/>
              </a:rPr>
              <a:t>Các con số là đề xuất khởi điểm — team điều chỉnh theo nguồn lực thực tế.</a:t>
            </a:r>
          </a:p>
        </p:txBody>
      </p:sp>
      <p:sp>
        <p:nvSpPr>
          <p:cNvPr id="7" name="TextBox 6"/>
          <p:cNvSpPr txBox="1"/>
          <p:nvPr/>
        </p:nvSpPr>
        <p:spPr>
          <a:xfrm>
            <a:off x="457200" y="6473952"/>
            <a:ext cx="5486400" cy="274320"/>
          </a:xfrm>
          <a:prstGeom prst="rect">
            <a:avLst/>
          </a:prstGeom>
          <a:noFill/>
        </p:spPr>
        <p:txBody>
          <a:bodyPr wrap="square" lIns="0" rIns="0" tIns="0" bIns="0">
            <a:spAutoFit/>
          </a:bodyPr>
          <a:lstStyle/>
          <a:p>
            <a:r>
              <a:rPr sz="900" b="0">
                <a:solidFill>
                  <a:srgbClr val="64748B"/>
                </a:solidFill>
                <a:latin typeface="Arial"/>
              </a:rPr>
              <a:t>CHƯƠNG 2 · sEMG — ĐÁNH GIÁ MỎI CƠ</a:t>
            </a:r>
          </a:p>
        </p:txBody>
      </p:sp>
      <p:sp>
        <p:nvSpPr>
          <p:cNvPr id="8" name="TextBox 7"/>
          <p:cNvSpPr txBox="1"/>
          <p:nvPr/>
        </p:nvSpPr>
        <p:spPr>
          <a:xfrm>
            <a:off x="10634472" y="6473952"/>
            <a:ext cx="1097280" cy="274320"/>
          </a:xfrm>
          <a:prstGeom prst="rect">
            <a:avLst/>
          </a:prstGeom>
          <a:noFill/>
        </p:spPr>
        <p:txBody>
          <a:bodyPr wrap="square" lIns="0" rIns="0" tIns="0" bIns="0">
            <a:spAutoFit/>
          </a:bodyPr>
          <a:lstStyle/>
          <a:p>
            <a:pPr algn="r"/>
            <a:r>
              <a:rPr sz="900" b="0">
                <a:solidFill>
                  <a:srgbClr val="64748B"/>
                </a:solidFill>
                <a:latin typeface="Arial"/>
              </a:rPr>
              <a:t>13</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TotalTime>
  <Words>0</Words>
  <Application>Microsoft Office PowerPoint</Application>
  <PresentationFormat>Widescreen</PresentationFormat>
  <Paragraphs>0</Paragraphs>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sEMG — Đánh giá Mỏi cơ &amp; Chức năng cơ</dc:title>
  <dc:subject>PptxGenJS Presentation</dc:subject>
  <dc:creator>Lưu Gia Thiên</dc:creator>
  <dc:description/>
  <cp:lastModifiedBy/>
  <cp:revision>3</cp:revision>
  <dcterms:created xsi:type="dcterms:W3CDTF">2026-07-01T02:58:43Z</dcterms:created>
  <dcterms:modified xsi:type="dcterms:W3CDTF">2026-07-14T09:28:08Z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ies>
</file>
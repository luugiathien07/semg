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đầu trong 20 giây. Không giải thích MFCV ngay.</a:t>
            </a:r>
          </a:p>
          <a:p>
            <a:r>
              <a:t>Thông điệp: đây là lớp intelligence, không phải sensor mới.</a:t>
            </a:r>
          </a:p>
          <a:p>
            <a:r>
              <a:t>Ask cuối: audit nhỏ, không xin full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Chủ động thừa nhận Noraxon đã có fatigue report.</a:t>
            </a:r>
          </a:p>
          <a:p>
            <a:r>
              <a:t>Khoảng trống không phải thiếu phép đo; là clinical interpretation, longitudinal và safety.</a:t>
            </a:r>
          </a:p>
          <a:p>
            <a:r>
              <a:t>Kết nối phản biện “người tập tự biết mỏi”: cảm nhận là một input, không phải thước đo định lượng duy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đây là ca giả định.</a:t>
            </a:r>
          </a:p>
          <a:p>
            <a:r>
              <a:t>Không nói AI giữ tải. Nói evidence làm thay đổi mức độ tự tin và kích hoạt review.</a:t>
            </a:r>
          </a:p>
          <a:p>
            <a:r>
              <a:t>MFCV chỉ hiện nếu eligible.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slide tạo niềm tin.</a:t>
            </a:r>
          </a:p>
          <a:p>
            <a:r>
              <a:t>Ba lần phủ định: không thay Noraxon, không chẩn đoán, không tự quyết định.</a:t>
            </a:r>
          </a:p>
          <a:p>
            <a:r>
              <a:t>Human-in-the-loop là product requirement, không phải disclaimer cuối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 hẹp use case. Không pitch tất cả bệnh nhân/cơ/động tác ngay.</a:t>
            </a:r>
          </a:p>
          <a:p>
            <a:r>
              <a:t>Beachhead: ACL, quadriceps, cùng protocol qua nhiều buổi.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khác biệt quan trọng nhất.</a:t>
            </a:r>
          </a:p>
          <a:p>
            <a:r>
              <a:t>Không công kích Noraxon. Dùng “platform + intelligence layer”.</a:t>
            </a:r>
          </a:p>
          <a:p>
            <a:r>
              <a:t>Dẫn hạ tầng hiện có để chứng minh software-first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giả định sampling cao = MFCV.</a:t>
            </a:r>
          </a:p>
          <a:p>
            <a:r>
              <a:t>Geometry điện cực mới là điều kiện quyết định.</a:t>
            </a:r>
          </a:p>
          <a:p>
            <a:r>
              <a:t>Plan B vẫn tạo giá trị — tránh để dự án sống/chết theo MFCV.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chỉ là algorithm feasibility.</a:t>
            </a:r>
          </a:p>
          <a:p>
            <a:r>
              <a:t>Nói rõ n=10 healthy và chưa local validation.</a:t>
            </a:r>
          </a:p>
          <a:p>
            <a:r>
              <a:t>Hero metrics sau này là usability, agreement, quality và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trong 60–90 giây.</a:t>
            </a:r>
          </a:p>
          <a:p>
            <a:r>
              <a:t>Trước tiên bấm QC fail để cho thấy abstention. Sau đó chạy pass.</a:t>
            </a:r>
          </a:p>
          <a:p>
            <a:r>
              <a:t>Không dành quá nhiều thời gian vào waveform; tập trung logic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Tích hợp sâu là future-state.</a:t>
            </a:r>
          </a:p>
          <a:p>
            <a:r>
              <a:t>MVP ưu tiên file import + report.</a:t>
            </a:r>
          </a:p>
          <a:p>
            <a:r>
              <a:t>Tránh để OH/eForm/EMR làm scope phình trước khi chứng minh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Phóng to bước 3.</a:t>
            </a:r>
          </a:p>
          <a:p>
            <a:r>
              <a:t>Phân biệt no-fatigue, low-confidence và abstain.</a:t>
            </a:r>
          </a:p>
          <a:p>
            <a:r>
              <a:t>Thẳng thắn: chưa biết mỗi buổi mất bao lâu — đó là metric feasibility.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“Tạo báo cáo tiến độ”.</a:t>
            </a:r>
          </a:p>
          <a:p>
            <a:r>
              <a:t>Giải thích vì sao metric gốc tốt hơn một score 0–100 chưa validate.</a:t>
            </a:r>
          </a:p>
          <a:p>
            <a:r>
              <a:t>Chỉ so sánh cùng protocol/version.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slide giảm rủi ro cho sếp.</a:t>
            </a:r>
          </a:p>
          <a:p>
            <a:r>
              <a:t>Không xin 16 tuần ngay.</a:t>
            </a:r>
          </a:p>
          <a:p>
            <a:r>
              <a:t>G0/G1 tạo đủ evidence để quyết định G2.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thúc bằng một ask rất nhỏ và cụ thể.</a:t>
            </a:r>
          </a:p>
          <a:p>
            <a:r>
              <a:t>Đọc đúng ba phê duyệt.</a:t>
            </a:r>
          </a:p>
          <a:p>
            <a:r>
              <a:t>Dừng lại sau câu GO/PIVOT/STOP để sếp phản hồi.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Appendix. Chỉ mở khi bị hỏi nguồn, F1, Noraxon, MFCV hoặc hạ tầng.</a:t>
            </a:r>
          </a:p>
          <a:p>
            <a:r>
              <a:t>Không đọc slide này trong main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71D34"/>
              </a:gs>
              <a:gs pos="100000">
                <a:srgbClr val="084D58"/>
              </a:gs>
            </a:gsLst>
            <a:lin scaled="0" ang="133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459" y="1181100"/>
            <a:ext cx="4620220" cy="449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5320" y="2037159"/>
            <a:ext cx="4566285" cy="1524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lnSpc>
                <a:spcPct val="120000"/>
              </a:lnSpc>
            </a:pPr>
            <a:r>
              <a:rPr sz="1019" b="1" spc="81">
                <a:solidFill>
                  <a:srgbClr val="9BE7DC"/>
                </a:solidFill>
                <a:latin typeface="Arial"/>
              </a:rPr>
              <a:t>ĐỀ XUẤT NỘI BỘ · MOTION LAB / PHCN / Y HỌC THỂ THAO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" y="2357199"/>
            <a:ext cx="5902999" cy="95440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8000"/>
              </a:lnSpc>
            </a:pPr>
            <a:r>
              <a:rPr sz="3479" b="1">
                <a:solidFill>
                  <a:srgbClr val="FFFFFF"/>
                </a:solidFill>
                <a:latin typeface="Arial"/>
              </a:rPr>
              <a:t>Từ dữ liệu </a:t>
            </a:r>
            <a:r>
              <a:rPr sz="3479" b="1">
                <a:solidFill>
                  <a:srgbClr val="9BE7DC"/>
                </a:solidFill>
                <a:latin typeface="Arial"/>
              </a:rPr>
              <a:t>sEMG</a:t>
            </a:r>
            <a:r>
              <a:rPr sz="3479" b="1">
                <a:solidFill>
                  <a:srgbClr val="FFFFFF"/>
                </a:solidFill>
                <a:latin typeface="Arial"/>
              </a:rPr>
              <a:t> đến quyết định phục hồi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" y="3479244"/>
            <a:ext cx="5902999" cy="81188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8000"/>
              </a:lnSpc>
            </a:pPr>
            <a:r>
              <a:rPr sz="1439" b="0">
                <a:solidFill>
                  <a:srgbClr val="CFE1E5"/>
                </a:solidFill>
                <a:latin typeface="Arial"/>
              </a:rPr>
              <a:t>Clinical Intelligence Layer tương thích Noraxon/Motion Lab — kiểm tra chất lượng, trích bằng chứng mỏi cơ, theo dõi dọc và hỗ trợ bác sĩ/KTV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" y="4565451"/>
            <a:ext cx="183189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1">
                <a:solidFill>
                  <a:srgbClr val="E9F4F5"/>
                </a:solidFill>
                <a:latin typeface="Arial"/>
              </a:rPr>
              <a:t>Mục tiêu buổi trình bày</a:t>
            </a:r>
          </a:p>
          <a:p>
            <a:pPr algn="l">
              <a:lnSpc>
                <a:spcPct val="120000"/>
              </a:lnSpc>
            </a:pPr>
            <a:r>
              <a:rPr sz="840" b="0">
                <a:solidFill>
                  <a:srgbClr val="9FB9C2"/>
                </a:solidFill>
                <a:latin typeface="Arial"/>
              </a:rPr>
              <a:t>Xin phê duyệt technical/data audit nhỏ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7715" y="4565451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1">
                <a:solidFill>
                  <a:srgbClr val="E9F4F5"/>
                </a:solidFill>
                <a:latin typeface="Arial"/>
              </a:rPr>
              <a:t>Ranh giới</a:t>
            </a:r>
          </a:p>
          <a:p>
            <a:pPr algn="l">
              <a:lnSpc>
                <a:spcPct val="120000"/>
              </a:lnSpc>
            </a:pPr>
            <a:r>
              <a:rPr sz="840" b="0">
                <a:solidFill>
                  <a:srgbClr val="9FB9C2"/>
                </a:solidFill>
                <a:latin typeface="Arial"/>
              </a:rPr>
              <a:t>Không thay Noraxon · Không tự chẩn đoán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5615" y="4565451"/>
            <a:ext cx="1552813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1">
                <a:solidFill>
                  <a:srgbClr val="E9F4F5"/>
                </a:solidFill>
                <a:latin typeface="Arial"/>
              </a:rPr>
              <a:t>Phiên bản</a:t>
            </a:r>
          </a:p>
          <a:p>
            <a:pPr algn="l">
              <a:lnSpc>
                <a:spcPct val="120000"/>
              </a:lnSpc>
            </a:pPr>
            <a:r>
              <a:rPr sz="840" b="0">
                <a:solidFill>
                  <a:srgbClr val="9FB9C2"/>
                </a:solidFill>
                <a:latin typeface="Arial"/>
              </a:rPr>
              <a:t>Boss-ready concept deck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3060" y="6309360"/>
            <a:ext cx="2293620" cy="106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719" b="0" spc="43">
                <a:solidFill>
                  <a:srgbClr val="89A9B4"/>
                </a:solidFill>
                <a:latin typeface="Arial"/>
              </a:rPr>
              <a:t>INTERNAL DISCUSSION · HUMAN-IN-THE-LOOP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47615" y="320040"/>
            <a:ext cx="1256704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458039"/>
            <a:ext cx="3627120" cy="1403985"/>
          </a:xfrm>
          <a:prstGeom prst="roundRect">
            <a:avLst>
              <a:gd name="adj" fmla="val 11940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3420" y="1648539"/>
            <a:ext cx="537329" cy="228600"/>
          </a:xfrm>
          <a:prstGeom prst="roundRect">
            <a:avLst>
              <a:gd name="adj" fmla="val 50000"/>
            </a:avLst>
          </a:prstGeom>
          <a:solidFill>
            <a:srgbClr val="D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82440" y="1458039"/>
            <a:ext cx="3627120" cy="1403985"/>
          </a:xfrm>
          <a:prstGeom prst="roundRect">
            <a:avLst>
              <a:gd name="adj" fmla="val 11940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8180" y="1648539"/>
            <a:ext cx="537329" cy="228600"/>
          </a:xfrm>
          <a:prstGeom prst="roundRect">
            <a:avLst>
              <a:gd name="adj" fmla="val 50000"/>
            </a:avLst>
          </a:prstGeom>
          <a:solidFill>
            <a:srgbClr val="D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7200" y="1458039"/>
            <a:ext cx="3627120" cy="1403985"/>
          </a:xfrm>
          <a:prstGeom prst="roundRect">
            <a:avLst>
              <a:gd name="adj" fmla="val 11940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82940" y="1648539"/>
            <a:ext cx="537329" cy="228600"/>
          </a:xfrm>
          <a:prstGeom prst="roundRect">
            <a:avLst>
              <a:gd name="adj" fmla="val 50000"/>
            </a:avLst>
          </a:prstGeom>
          <a:solidFill>
            <a:srgbClr val="D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680" y="3044904"/>
            <a:ext cx="11216640" cy="611028"/>
          </a:xfrm>
          <a:prstGeom prst="roundRect">
            <a:avLst>
              <a:gd name="adj" fmla="val 24941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0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47615" y="320040"/>
            <a:ext cx="1256704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FACT + PRODUCT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60" y="373380"/>
            <a:ext cx="10058400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KHOẢNG TRỐNG LÂM SÀNG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60" y="594360"/>
            <a:ext cx="10081260" cy="6198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Không thiếu dữ liệu — đang thiếu cách chuyển dữ liệu thành quyết định lặp lại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420" y="1648539"/>
            <a:ext cx="537329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096B64"/>
                </a:solidFill>
                <a:latin typeface="Arial"/>
              </a:rPr>
              <a:t>ĐÃ CÓ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" y="1991439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Sức cơ &amp; sức bền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20" y="2265759"/>
            <a:ext cx="3238500" cy="4057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8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Compass 600 / David Health tạo chỉ số lực trực tiếp, dễ diễn giải.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8180" y="1648539"/>
            <a:ext cx="537329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096B64"/>
                </a:solidFill>
                <a:latin typeface="Arial"/>
              </a:rPr>
              <a:t>ĐÃ CÓ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8180" y="1991439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Động học &amp; động lực học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8180" y="2265759"/>
            <a:ext cx="3238500" cy="4057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8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VICON, force plate và video mô tả chuyển động, tải và chiến lược bù trừ.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2940" y="1648539"/>
            <a:ext cx="537329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096B64"/>
                </a:solidFill>
                <a:latin typeface="Arial"/>
              </a:rPr>
              <a:t>ĐÃ CÓ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2940" y="1991439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Hoạt hóa cơ &amp; fatigue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2940" y="2265759"/>
            <a:ext cx="3238500" cy="4057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8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Noraxon/myoRESEARCH cung cấp EMG, frequency và amplitude analysis.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" y="3044904"/>
            <a:ext cx="11216640" cy="611028"/>
          </a:xfrm>
          <a:prstGeom prst="rect">
            <a:avLst/>
          </a:prstGeom>
          <a:noFill/>
        </p:spPr>
        <p:txBody>
          <a:bodyPr wrap="none" anchor="t" lIns="228600" rIns="228600" tIns="182880" bIns="182880"/>
          <a:lstStyle/>
          <a:p>
            <a:pPr algn="l">
              <a:lnSpc>
                <a:spcPct val="140000"/>
              </a:lnSpc>
            </a:pPr>
            <a:r>
              <a:rPr sz="1380" b="1">
                <a:solidFill>
                  <a:srgbClr val="FFFFFF"/>
                </a:solidFill>
                <a:latin typeface="Arial"/>
              </a:rPr>
              <a:t>Khoảng trống cần tấn công: </a:t>
            </a:r>
            <a:r>
              <a:rPr sz="1380" b="1">
                <a:solidFill>
                  <a:srgbClr val="9BE7DC"/>
                </a:solidFill>
                <a:latin typeface="Arial"/>
              </a:rPr>
              <a:t>quality gate + diễn giải theo protocol + so sánh hai bên + theo dõi dọc + human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" y="3838813"/>
            <a:ext cx="11216640" cy="460533"/>
          </a:xfrm>
          <a:prstGeom prst="rect">
            <a:avLst/>
          </a:prstGeom>
          <a:noFill/>
        </p:spPr>
        <p:txBody>
          <a:bodyPr wrap="none" anchor="t" lIns="228600" rIns="0" tIns="91440" bIns="91440"/>
          <a:lstStyle/>
          <a:p>
            <a:pPr algn="l">
              <a:lnSpc>
                <a:spcPct val="135000"/>
              </a:lnSpc>
            </a:pPr>
            <a:r>
              <a:rPr sz="1620" b="1">
                <a:solidFill>
                  <a:srgbClr val="1E293B"/>
                </a:solidFill>
                <a:latin typeface="Arial"/>
              </a:rPr>
              <a:t>Hôm nay có đủ bằng chứng để tiến tải cho bệnh nhân này chưa?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4299346"/>
            <a:ext cx="10980420" cy="1546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840" b="0">
                <a:solidFill>
                  <a:srgbClr val="64748B"/>
                </a:solidFill>
                <a:latin typeface="Arial"/>
              </a:rPr>
              <a:t>Cảm nhận người bệnh, quan sát KTV và dữ liệu khách quan phải bổ sung cho nhau — không cái nào thay thế hoàn toàn cái nào.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80" y="6317932"/>
            <a:ext cx="11216640" cy="12858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5000"/>
              </a:lnSpc>
            </a:pPr>
            <a:r>
              <a:rPr sz="750" b="0">
                <a:solidFill>
                  <a:srgbClr val="71828A"/>
                </a:solidFill>
                <a:latin typeface="Arial"/>
              </a:rPr>
              <a:t>Nguồn kiểm chứng hạ tầng: trang Motion Lab Vinmec; Noraxon EMG Frequency Fatigue Report.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19278" y="320040"/>
            <a:ext cx="1285041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163359"/>
            <a:ext cx="3750945" cy="1531024"/>
          </a:xfrm>
          <a:prstGeom prst="roundRect">
            <a:avLst>
              <a:gd name="adj" fmla="val 10949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8180" y="1338619"/>
            <a:ext cx="842248" cy="228600"/>
          </a:xfrm>
          <a:prstGeom prst="roundRect">
            <a:avLst>
              <a:gd name="adj" fmla="val 50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1025" y="1163359"/>
            <a:ext cx="3068955" cy="1531024"/>
          </a:xfrm>
          <a:prstGeom prst="roundRect">
            <a:avLst>
              <a:gd name="adj" fmla="val 10949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81525" y="1338619"/>
            <a:ext cx="1101804" cy="228600"/>
          </a:xfrm>
          <a:prstGeom prst="roundRect">
            <a:avLst>
              <a:gd name="adj" fmla="val 50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2379" y="1163359"/>
            <a:ext cx="4091939" cy="1531024"/>
          </a:xfrm>
          <a:prstGeom prst="roundRect">
            <a:avLst>
              <a:gd name="adj" fmla="val 10949"/>
            </a:avLst>
          </a:prstGeom>
          <a:gradFill rotWithShape="1">
            <a:gsLst>
              <a:gs pos="0">
                <a:srgbClr val="0B2A4A"/>
              </a:gs>
              <a:gs pos="100000">
                <a:srgbClr val="0C4E59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02880" y="1338619"/>
            <a:ext cx="1246465" cy="228600"/>
          </a:xfrm>
          <a:prstGeom prst="roundRect">
            <a:avLst>
              <a:gd name="adj" fmla="val 50000"/>
            </a:avLst>
          </a:prstGeom>
          <a:solidFill>
            <a:srgbClr val="D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680" y="2907744"/>
            <a:ext cx="5257800" cy="1061085"/>
          </a:xfrm>
          <a:prstGeom prst="roundRect">
            <a:avLst>
              <a:gd name="adj" fmla="val 1579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" y="2907744"/>
            <a:ext cx="53340" cy="1061085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2907744"/>
            <a:ext cx="5257800" cy="1061085"/>
          </a:xfrm>
          <a:prstGeom prst="roundRect">
            <a:avLst>
              <a:gd name="adj" fmla="val 1579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2907744"/>
            <a:ext cx="53340" cy="1061085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7680" y="4151709"/>
            <a:ext cx="11216640" cy="441960"/>
          </a:xfrm>
          <a:prstGeom prst="roundRect">
            <a:avLst>
              <a:gd name="adj" fmla="val 37931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0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19278" y="320040"/>
            <a:ext cx="1285041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GIẢ ĐỊNH — CẦN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60" y="373380"/>
            <a:ext cx="9823846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CA MINH HỌA — GIẢ ĐỊNH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60" y="594360"/>
            <a:ext cx="9823846" cy="3099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Cùng đạt 85% sức cơ, nhưng khả năng chịu mỏi có thể chưa tương đương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" y="1338619"/>
            <a:ext cx="842248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475569"/>
                </a:solidFill>
                <a:latin typeface="Arial"/>
              </a:rPr>
              <a:t>BỆNH NHÂN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" y="1681519"/>
            <a:ext cx="3369945" cy="1828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260" b="1">
                <a:solidFill>
                  <a:srgbClr val="1E293B"/>
                </a:solidFill>
                <a:latin typeface="Arial"/>
              </a:rPr>
              <a:t>“Em thấy khá ổn”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" y="1955839"/>
            <a:ext cx="3392805" cy="3755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334155"/>
                </a:solidFill>
                <a:latin typeface="Arial"/>
              </a:rPr>
              <a:t>RPE và cảm nhận mỏi là dữ liệu quan trọng, nhưng khó định lượng cơ nào đang giới hạn.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525" y="1338619"/>
            <a:ext cx="1101804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475569"/>
                </a:solidFill>
                <a:latin typeface="Arial"/>
              </a:rPr>
              <a:t>MOTION / 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525" y="1681519"/>
            <a:ext cx="2687955" cy="1828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260" b="1">
                <a:solidFill>
                  <a:srgbClr val="1E293B"/>
                </a:solidFill>
                <a:latin typeface="Arial"/>
              </a:rPr>
              <a:t>85% chân lành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525" y="1955839"/>
            <a:ext cx="2710815" cy="5632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334155"/>
                </a:solidFill>
                <a:latin typeface="Arial"/>
              </a:rPr>
              <a:t>Sức cơ và chuyển động đạt ngưỡng kế hoạch, nhưng chưa mô tả đầy đủ sức bền theo thời gian.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2880" y="1338619"/>
            <a:ext cx="1246465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096B64"/>
                </a:solidFill>
                <a:latin typeface="Arial"/>
              </a:rPr>
              <a:t>FATIGUE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2880" y="1681519"/>
            <a:ext cx="3710940" cy="1828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260" b="1">
                <a:solidFill>
                  <a:srgbClr val="9BE7DC"/>
                </a:solidFill>
                <a:latin typeface="Arial"/>
              </a:rPr>
              <a:t>Bên tổn thương mỏi sớm hơn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2880" y="1955839"/>
            <a:ext cx="3733799" cy="3755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019" b="0">
                <a:solidFill>
                  <a:srgbClr val="E1EFF1"/>
                </a:solidFill>
                <a:latin typeface="Arial"/>
              </a:rPr>
              <a:t>MNF/MDF slope dốc hơn, fatigue onset sớm hơn; MFCV chỉ hiển thị khi cấu hình đủ điều kiện.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140" y="3098244"/>
            <a:ext cx="480060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Output an toàn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40" y="3372564"/>
            <a:ext cx="4823460" cy="4057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8000"/>
              </a:lnSpc>
            </a:pPr>
            <a:r>
              <a:rPr sz="1080" b="1">
                <a:solidFill>
                  <a:srgbClr val="334155"/>
                </a:solidFill>
                <a:latin typeface="Arial"/>
              </a:rPr>
              <a:t>KTV/Bác sĩ review suggested</a:t>
            </a:r>
            <a:r>
              <a:rPr sz="1080" b="0">
                <a:solidFill>
                  <a:srgbClr val="334155"/>
                </a:solidFill>
                <a:latin typeface="Arial"/>
              </a:rPr>
              <a:t> trước khi tiến tải — không phải lệnh giữ/tăng tải tự động.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3120" y="3289696"/>
            <a:ext cx="365760" cy="2971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20000"/>
              </a:lnSpc>
            </a:pPr>
            <a:r>
              <a:rPr sz="2039" b="0">
                <a:solidFill>
                  <a:srgbClr val="028090"/>
                </a:solidFill>
                <a:latin typeface="Arial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7980" y="3098244"/>
            <a:ext cx="480060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Mục tiêu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7980" y="3372564"/>
            <a:ext cx="4823460" cy="4057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8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Kiểm chứng liệu evidence này có cải thiện mức độ tự tin, tính nhất quán và khả năng theo dõi phục hồi hay không.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680" y="4151709"/>
            <a:ext cx="11216640" cy="441960"/>
          </a:xfrm>
          <a:prstGeom prst="rect">
            <a:avLst/>
          </a:prstGeom>
          <a:noFill/>
        </p:spPr>
        <p:txBody>
          <a:bodyPr wrap="none" anchor="t" lIns="198120" rIns="198120" tIns="152400" bIns="152400"/>
          <a:lstStyle/>
          <a:p>
            <a:pPr algn="l">
              <a:lnSpc>
                <a:spcPct val="120000"/>
              </a:lnSpc>
            </a:pPr>
            <a:r>
              <a:rPr sz="960" b="1">
                <a:solidFill>
                  <a:srgbClr val="9BE7DC"/>
                </a:solidFill>
                <a:latin typeface="Arial"/>
              </a:rPr>
              <a:t>Ca giả định:</a:t>
            </a:r>
            <a:r>
              <a:rPr sz="960" b="0">
                <a:solidFill>
                  <a:srgbClr val="FFFFFF"/>
                </a:solidFill>
                <a:latin typeface="Arial"/>
              </a:rPr>
              <a:t> chỉ minh họa hình dạng giá trị; chưa phải dữ liệu bệnh nhân Vinmec.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99087" y="320040"/>
            <a:ext cx="905232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503759"/>
            <a:ext cx="5516880" cy="2119788"/>
          </a:xfrm>
          <a:prstGeom prst="roundRect">
            <a:avLst>
              <a:gd name="adj" fmla="val 7908"/>
            </a:avLst>
          </a:prstGeom>
          <a:solidFill>
            <a:srgbClr val="0B2A4A"/>
          </a:solidFill>
          <a:ln w="762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3420" y="1694259"/>
            <a:ext cx="941308" cy="228600"/>
          </a:xfrm>
          <a:prstGeom prst="roundRect">
            <a:avLst>
              <a:gd name="adj" fmla="val 50000"/>
            </a:avLst>
          </a:prstGeom>
          <a:solidFill>
            <a:srgbClr val="D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87440" y="1503759"/>
            <a:ext cx="5516880" cy="2119788"/>
          </a:xfrm>
          <a:prstGeom prst="roundRect">
            <a:avLst>
              <a:gd name="adj" fmla="val 790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93180" y="1694259"/>
            <a:ext cx="1380767" cy="228600"/>
          </a:xfrm>
          <a:prstGeom prst="roundRect">
            <a:avLst>
              <a:gd name="adj" fmla="val 50000"/>
            </a:avLst>
          </a:prstGeom>
          <a:solidFill>
            <a:srgbClr val="FC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7680" y="3867388"/>
            <a:ext cx="11216640" cy="611028"/>
          </a:xfrm>
          <a:prstGeom prst="roundRect">
            <a:avLst>
              <a:gd name="adj" fmla="val 24941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99087" y="320040"/>
            <a:ext cx="905232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INTENDED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60" y="373380"/>
            <a:ext cx="10058400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PHẠM VI &amp; GIỚI HẠN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60" y="594360"/>
            <a:ext cx="10081260" cy="6198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Đánh giá chức năng/mỏi cơ — không thay thế bác sĩ và không chẩn đoán bệnh thần kinh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" y="1694259"/>
            <a:ext cx="941308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096B64"/>
                </a:solidFill>
                <a:latin typeface="Arial"/>
              </a:rPr>
              <a:t>HỆ THỐNG LÀ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20" y="2060019"/>
            <a:ext cx="510540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FFFFFF"/>
                </a:solidFill>
                <a:latin typeface="Arial"/>
              </a:rPr>
              <a:t>Clinical decision-support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420" y="2380059"/>
            <a:ext cx="5105400" cy="194667"/>
          </a:xfrm>
          <a:prstGeom prst="rect">
            <a:avLst/>
          </a:prstGeom>
          <a:noFill/>
        </p:spPr>
        <p:txBody>
          <a:bodyPr wrap="none" anchor="t" lIns="228600" rIns="0" tIns="0" bIns="0"/>
          <a:lstStyle/>
          <a:p>
            <a:pPr algn="l">
              <a:lnSpc>
                <a:spcPct val="142000"/>
              </a:lnSpc>
            </a:pPr>
            <a:r>
              <a:rPr sz="1080" b="0">
                <a:solidFill>
                  <a:srgbClr val="E7F1F3"/>
                </a:solidFill>
                <a:latin typeface="Arial"/>
              </a:rPr>
              <a:t>✓  Kiểm tra chất lượng và khả năng phân tích.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" y="2666166"/>
            <a:ext cx="5105400" cy="194667"/>
          </a:xfrm>
          <a:prstGeom prst="rect">
            <a:avLst/>
          </a:prstGeom>
          <a:noFill/>
        </p:spPr>
        <p:txBody>
          <a:bodyPr wrap="none" anchor="t" lIns="228600" rIns="0" tIns="0" bIns="0"/>
          <a:lstStyle/>
          <a:p>
            <a:pPr algn="l">
              <a:lnSpc>
                <a:spcPct val="142000"/>
              </a:lnSpc>
            </a:pPr>
            <a:r>
              <a:rPr sz="1080" b="0">
                <a:solidFill>
                  <a:srgbClr val="E7F1F3"/>
                </a:solidFill>
                <a:latin typeface="Arial"/>
              </a:rPr>
              <a:t>✓  Trích RMS/MAV/MNF/MDF/slope; MFCV nếu eligible.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20" y="2952273"/>
            <a:ext cx="5105400" cy="194667"/>
          </a:xfrm>
          <a:prstGeom prst="rect">
            <a:avLst/>
          </a:prstGeom>
          <a:noFill/>
        </p:spPr>
        <p:txBody>
          <a:bodyPr wrap="none" anchor="t" lIns="228600" rIns="0" tIns="0" bIns="0"/>
          <a:lstStyle/>
          <a:p>
            <a:pPr algn="l">
              <a:lnSpc>
                <a:spcPct val="142000"/>
              </a:lnSpc>
            </a:pPr>
            <a:r>
              <a:rPr sz="1080" b="0">
                <a:solidFill>
                  <a:srgbClr val="E7F1F3"/>
                </a:solidFill>
                <a:latin typeface="Arial"/>
              </a:rPr>
              <a:t>✓  Theo dõi dọc, so sánh hai bên và tạo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" y="3238380"/>
            <a:ext cx="5105400" cy="194667"/>
          </a:xfrm>
          <a:prstGeom prst="rect">
            <a:avLst/>
          </a:prstGeom>
          <a:noFill/>
        </p:spPr>
        <p:txBody>
          <a:bodyPr wrap="none" anchor="t" lIns="228600" rIns="0" tIns="0" bIns="0"/>
          <a:lstStyle/>
          <a:p>
            <a:pPr algn="l">
              <a:lnSpc>
                <a:spcPct val="142000"/>
              </a:lnSpc>
            </a:pPr>
            <a:r>
              <a:rPr sz="1080" b="0">
                <a:solidFill>
                  <a:srgbClr val="E7F1F3"/>
                </a:solidFill>
                <a:latin typeface="Arial"/>
              </a:rPr>
              <a:t>✓  Đưa evidence cho bác sĩ/KTV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180" y="1694259"/>
            <a:ext cx="1380767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9F2F2B"/>
                </a:solidFill>
                <a:latin typeface="Arial"/>
              </a:rPr>
              <a:t>HỆ THỐNG KHÔNG LÀ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180" y="2060019"/>
            <a:ext cx="510540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Thiết bị/chẩn đoán tự động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3180" y="2380059"/>
            <a:ext cx="5105400" cy="194667"/>
          </a:xfrm>
          <a:prstGeom prst="rect">
            <a:avLst/>
          </a:prstGeom>
          <a:noFill/>
        </p:spPr>
        <p:txBody>
          <a:bodyPr wrap="none" anchor="t" lIns="228600" rIns="0" tIns="0" bIns="0"/>
          <a:lstStyle/>
          <a:p>
            <a:pPr algn="l">
              <a:lnSpc>
                <a:spcPct val="142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×  Không thay Noraxon hoặc myoRESEARCH.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180" y="2666166"/>
            <a:ext cx="5105400" cy="194667"/>
          </a:xfrm>
          <a:prstGeom prst="rect">
            <a:avLst/>
          </a:prstGeom>
          <a:noFill/>
        </p:spPr>
        <p:txBody>
          <a:bodyPr wrap="none" anchor="t" lIns="228600" rIns="0" tIns="0" bIns="0"/>
          <a:lstStyle/>
          <a:p>
            <a:pPr algn="l">
              <a:lnSpc>
                <a:spcPct val="142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×  Không chẩn đoán bệnh lý thần kinh ngoại biên/NCS.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3180" y="2952273"/>
            <a:ext cx="5105400" cy="194667"/>
          </a:xfrm>
          <a:prstGeom prst="rect">
            <a:avLst/>
          </a:prstGeom>
          <a:noFill/>
        </p:spPr>
        <p:txBody>
          <a:bodyPr wrap="none" anchor="t" lIns="228600" rIns="0" tIns="0" bIns="0"/>
          <a:lstStyle/>
          <a:p>
            <a:pPr algn="l">
              <a:lnSpc>
                <a:spcPct val="142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×  Không tự quyết định tăng tải hoặc return-to-play.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180" y="3238380"/>
            <a:ext cx="5105400" cy="194667"/>
          </a:xfrm>
          <a:prstGeom prst="rect">
            <a:avLst/>
          </a:prstGeom>
          <a:noFill/>
        </p:spPr>
        <p:txBody>
          <a:bodyPr wrap="none" anchor="t" lIns="228600" rIns="0" tIns="0" bIns="0"/>
          <a:lstStyle/>
          <a:p>
            <a:pPr algn="l">
              <a:lnSpc>
                <a:spcPct val="142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×  Không kết luận khi tín hiệu/metadata không đạt.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" y="3867388"/>
            <a:ext cx="11216640" cy="611028"/>
          </a:xfrm>
          <a:prstGeom prst="rect">
            <a:avLst/>
          </a:prstGeom>
          <a:noFill/>
        </p:spPr>
        <p:txBody>
          <a:bodyPr wrap="none" anchor="t" lIns="228600" rIns="228600" tIns="182880" bIns="182880"/>
          <a:lstStyle/>
          <a:p>
            <a:pPr algn="l">
              <a:lnSpc>
                <a:spcPct val="140000"/>
              </a:lnSpc>
            </a:pPr>
            <a:r>
              <a:rPr sz="1380" b="1">
                <a:solidFill>
                  <a:srgbClr val="FFFFFF"/>
                </a:solidFill>
                <a:latin typeface="Arial"/>
              </a:rPr>
              <a:t>Nguyên tắc: </a:t>
            </a:r>
            <a:r>
              <a:rPr sz="1380" b="1">
                <a:solidFill>
                  <a:srgbClr val="9BE7DC"/>
                </a:solidFill>
                <a:latin typeface="Arial"/>
              </a:rPr>
              <a:t>AI phân tích → KTV/Bác sĩ kiểm tra → bác sĩ quyết định cuối.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81717" y="320040"/>
            <a:ext cx="822602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473279"/>
            <a:ext cx="5516880" cy="1411605"/>
          </a:xfrm>
          <a:prstGeom prst="roundRect">
            <a:avLst>
              <a:gd name="adj" fmla="val 11875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3420" y="1663779"/>
            <a:ext cx="1115734" cy="2286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87440" y="1473279"/>
            <a:ext cx="5516880" cy="1411605"/>
          </a:xfrm>
          <a:prstGeom prst="roundRect">
            <a:avLst>
              <a:gd name="adj" fmla="val 11875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93180" y="1663779"/>
            <a:ext cx="1234797" cy="2286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7680" y="3052524"/>
            <a:ext cx="11216640" cy="441960"/>
          </a:xfrm>
          <a:prstGeom prst="roundRect">
            <a:avLst>
              <a:gd name="adj" fmla="val 37931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7680" y="3677364"/>
            <a:ext cx="3627120" cy="1156335"/>
          </a:xfrm>
          <a:prstGeom prst="roundRect">
            <a:avLst>
              <a:gd name="adj" fmla="val 14497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3420" y="3867864"/>
            <a:ext cx="883681" cy="228600"/>
          </a:xfrm>
          <a:prstGeom prst="roundRect">
            <a:avLst>
              <a:gd name="adj" fmla="val 50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82440" y="3677364"/>
            <a:ext cx="3627120" cy="1156335"/>
          </a:xfrm>
          <a:prstGeom prst="roundRect">
            <a:avLst>
              <a:gd name="adj" fmla="val 14497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8180" y="3867864"/>
            <a:ext cx="727471" cy="228600"/>
          </a:xfrm>
          <a:prstGeom prst="roundRect">
            <a:avLst>
              <a:gd name="adj" fmla="val 50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200" y="3677364"/>
            <a:ext cx="3627120" cy="1156335"/>
          </a:xfrm>
          <a:prstGeom prst="roundRect">
            <a:avLst>
              <a:gd name="adj" fmla="val 14497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2940" y="3867864"/>
            <a:ext cx="727471" cy="228600"/>
          </a:xfrm>
          <a:prstGeom prst="roundRect">
            <a:avLst>
              <a:gd name="adj" fmla="val 50000"/>
            </a:avLst>
          </a:prstGeom>
          <a:solidFill>
            <a:srgbClr val="E8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0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81717" y="320040"/>
            <a:ext cx="822602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WHO USES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60" y="373380"/>
            <a:ext cx="10058400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KHOA ĐỐI TÁC &amp; ĐỐI TƯỢNG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60" y="594360"/>
            <a:ext cx="10081260" cy="6198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Motion Lab là nền tảng; PHCN/Y học thể thao là nơi giá trị lâm sàng được kiểm chứng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0" y="1663779"/>
            <a:ext cx="1115734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FFFFFF"/>
                </a:solidFill>
                <a:latin typeface="Arial"/>
              </a:rPr>
              <a:t>ĐƠN VỊ CHỦ ĐẠO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" y="2014299"/>
            <a:ext cx="510540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Motion Analysis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420" y="2288619"/>
            <a:ext cx="5128260" cy="4057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8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Thu sEMG, VICON, lực và video; kiểm soát thiết bị, protocol, export và chất lượng tín hiệu.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180" y="1663779"/>
            <a:ext cx="1234797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FFFFFF"/>
                </a:solidFill>
                <a:latin typeface="Arial"/>
              </a:rPr>
              <a:t>ĐƠN VỊ TRIỂN KHAI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3180" y="2014299"/>
            <a:ext cx="510540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PHCN / Y học thể thao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180" y="2288619"/>
            <a:ext cx="5128260" cy="4057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8000"/>
              </a:lnSpc>
            </a:pPr>
            <a:r>
              <a:rPr sz="1080" b="0">
                <a:solidFill>
                  <a:srgbClr val="334155"/>
                </a:solidFill>
                <a:latin typeface="Arial"/>
              </a:rPr>
              <a:t>Xác định use case, đọc ý nghĩa chức năng, review report và quyết định có hành động hay không.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" y="3052524"/>
            <a:ext cx="11216640" cy="441960"/>
          </a:xfrm>
          <a:prstGeom prst="rect">
            <a:avLst/>
          </a:prstGeom>
          <a:noFill/>
        </p:spPr>
        <p:txBody>
          <a:bodyPr wrap="none" anchor="t" lIns="198120" rIns="198120" tIns="152400" bIns="152400"/>
          <a:lstStyle/>
          <a:p>
            <a:pPr algn="l">
              <a:lnSpc>
                <a:spcPct val="120000"/>
              </a:lnSpc>
            </a:pPr>
            <a:r>
              <a:rPr sz="960" b="1">
                <a:solidFill>
                  <a:srgbClr val="9BE7DC"/>
                </a:solidFill>
                <a:latin typeface="Arial"/>
              </a:rPr>
              <a:t>Người dùng hằng ngày:</a:t>
            </a:r>
            <a:r>
              <a:rPr sz="960" b="0">
                <a:solidFill>
                  <a:srgbClr val="FFFFFF"/>
                </a:solidFill>
                <a:latin typeface="Arial"/>
              </a:rPr>
              <a:t> KTV vận hành đo và review kỹ thuật; bác sĩ chỉ định, đọc/ký kết quả và ra quyết định lâm sàng.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420" y="3867864"/>
            <a:ext cx="883681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475569"/>
                </a:solidFill>
                <a:latin typeface="Arial"/>
              </a:rPr>
              <a:t>BEACHHEAD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420" y="4203144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Sau tái tạo ACL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420" y="4477464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Theo dõi sức bền cơ tứ đầu và lệch hai bên qua nhiều buổi.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8180" y="3867864"/>
            <a:ext cx="727471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475569"/>
                </a:solidFill>
                <a:latin typeface="Arial"/>
              </a:rPr>
              <a:t>MỞ RỘNG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8180" y="4203144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Return-to-play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8180" y="4477464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Bằng chứng bổ sung; không tự quyết định đủ điều kiện thi đấu.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2940" y="3867864"/>
            <a:ext cx="727471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475569"/>
                </a:solidFill>
                <a:latin typeface="Arial"/>
              </a:rPr>
              <a:t>MỞ RỘNG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2940" y="4203144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Gait / movement phase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2940" y="4477464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Kết hợp EMG với VICON/force để hiểu bù trừ theo pha.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57998" y="320040"/>
            <a:ext cx="1046321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442799"/>
            <a:ext cx="11216640" cy="2206585"/>
          </a:xfrm>
          <a:prstGeom prst="roundRect">
            <a:avLst>
              <a:gd name="adj" fmla="val 6215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5299" y="1450419"/>
            <a:ext cx="3136344" cy="37635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31644" y="1450419"/>
            <a:ext cx="3584376" cy="37635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16020" y="1450419"/>
            <a:ext cx="4480679" cy="37635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299" y="2237779"/>
            <a:ext cx="11201400" cy="411003"/>
          </a:xfrm>
          <a:prstGeom prst="rect">
            <a:avLst/>
          </a:prstGeom>
          <a:solidFill>
            <a:srgbClr val="F2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299" y="3234570"/>
            <a:ext cx="11201400" cy="407193"/>
          </a:xfrm>
          <a:prstGeom prst="rect">
            <a:avLst/>
          </a:prstGeom>
          <a:solidFill>
            <a:srgbClr val="F2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680" y="3817024"/>
            <a:ext cx="3627120" cy="806886"/>
          </a:xfrm>
          <a:prstGeom prst="roundRect">
            <a:avLst>
              <a:gd name="adj" fmla="val 16998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82440" y="3817024"/>
            <a:ext cx="3627120" cy="806886"/>
          </a:xfrm>
          <a:prstGeom prst="roundRect">
            <a:avLst>
              <a:gd name="adj" fmla="val 16998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7200" y="3817024"/>
            <a:ext cx="3627120" cy="806886"/>
          </a:xfrm>
          <a:prstGeom prst="roundRect">
            <a:avLst>
              <a:gd name="adj" fmla="val 16998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57998" y="320040"/>
            <a:ext cx="1046321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DIFFERENTIATION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60" y="373380"/>
            <a:ext cx="10058400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BỐI CẢNH &amp; KHÁC BIỆT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" y="594360"/>
            <a:ext cx="10081260" cy="6198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Noraxon đo và báo cáo fatigue; lớp đề xuất bổ sung clinical intelligence theo workflow Vinmec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99" y="1450419"/>
            <a:ext cx="3136344" cy="376356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 spc="33">
                <a:solidFill>
                  <a:srgbClr val="FFFFFF"/>
                </a:solidFill>
                <a:latin typeface="Arial"/>
              </a:rPr>
              <a:t>TẦNG HIỆN CÓ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1644" y="1450419"/>
            <a:ext cx="3584376" cy="376356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 spc="33">
                <a:solidFill>
                  <a:srgbClr val="FFFFFF"/>
                </a:solidFill>
                <a:latin typeface="Arial"/>
              </a:rPr>
              <a:t>GIÁ TRỊ ĐÃ CÓ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6020" y="1450419"/>
            <a:ext cx="4480679" cy="376356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 spc="33">
                <a:solidFill>
                  <a:srgbClr val="FFFFFF"/>
                </a:solidFill>
                <a:latin typeface="Arial"/>
              </a:rPr>
              <a:t>KHOẢNG TRỐNG LỚP ĐỀ XUẤT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99" y="1826775"/>
            <a:ext cx="3136344" cy="411003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1">
                <a:solidFill>
                  <a:srgbClr val="1E293B"/>
                </a:solidFill>
                <a:latin typeface="Arial"/>
              </a:rPr>
              <a:t>Compass / David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1644" y="1826775"/>
            <a:ext cx="3584376" cy="411003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Sức mạnh, sức bền, chỉ số lực trực tiếp.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6020" y="1826775"/>
            <a:ext cx="4480679" cy="411003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Liên kết với fatigue evidence trong cùng protocol và theo dõi dọc.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299" y="2237779"/>
            <a:ext cx="3136344" cy="411003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1">
                <a:solidFill>
                  <a:srgbClr val="1E293B"/>
                </a:solidFill>
                <a:latin typeface="Arial"/>
              </a:rPr>
              <a:t>VICON + force + video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1644" y="2237779"/>
            <a:ext cx="3584376" cy="411003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Động học, động lực học và chiến lược bù trừ.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6020" y="2237779"/>
            <a:ext cx="4480679" cy="411003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Map fatigue/activation vào phase vận động và use case.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299" y="2648783"/>
            <a:ext cx="3159204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1">
                <a:solidFill>
                  <a:srgbClr val="1E293B"/>
                </a:solidFill>
                <a:latin typeface="Arial"/>
              </a:rPr>
              <a:t>Noraxon + myoRESEARCH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1644" y="2648783"/>
            <a:ext cx="3607236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Thu sEMG, xử lý, frequency/amplitude fatigue analysis.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6020" y="2648783"/>
            <a:ext cx="4503539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QC/abstention, local protocol, side-to-side, longitudinal và report tiếng Việt.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299" y="3234570"/>
            <a:ext cx="3136344" cy="407193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1">
                <a:solidFill>
                  <a:srgbClr val="1E293B"/>
                </a:solidFill>
                <a:latin typeface="Arial"/>
              </a:rPr>
              <a:t>Clinical Intelligence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1644" y="3234570"/>
            <a:ext cx="3584376" cy="407193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Không thay tầng đo.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6020" y="3234570"/>
            <a:ext cx="4480679" cy="407193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1">
                <a:solidFill>
                  <a:srgbClr val="1E293B"/>
                </a:solidFill>
                <a:latin typeface="Arial"/>
              </a:rPr>
              <a:t>Biến kết quả đo thành evidence có điều kiện để bác sĩ/KTV review.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80" y="3817024"/>
            <a:ext cx="3649980" cy="806886"/>
          </a:xfrm>
          <a:prstGeom prst="rect">
            <a:avLst/>
          </a:prstGeom>
          <a:noFill/>
        </p:spPr>
        <p:txBody>
          <a:bodyPr wrap="square" anchor="t" lIns="152400" rIns="152400" tIns="152400" bIns="152400"/>
          <a:lstStyle/>
          <a:p>
            <a:pPr algn="l">
              <a:lnSpc>
                <a:spcPct val="120000"/>
              </a:lnSpc>
            </a:pPr>
            <a:r>
              <a:rPr sz="2160" b="1">
                <a:solidFill>
                  <a:srgbClr val="9BE7DC"/>
                </a:solidFill>
                <a:latin typeface="Arial"/>
              </a:rPr>
              <a:t>16</a:t>
            </a:r>
          </a:p>
          <a:p>
            <a:pPr algn="l">
              <a:lnSpc>
                <a:spcPct val="120000"/>
              </a:lnSpc>
            </a:pPr>
            <a:r>
              <a:rPr sz="840" b="0">
                <a:solidFill>
                  <a:srgbClr val="D1E5E8"/>
                </a:solidFill>
                <a:latin typeface="Arial"/>
              </a:rPr>
              <a:t>cảm biến Ultium EMG được Vinmec công bố cho Motion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2440" y="3817024"/>
            <a:ext cx="3649980" cy="806886"/>
          </a:xfrm>
          <a:prstGeom prst="rect">
            <a:avLst/>
          </a:prstGeom>
          <a:noFill/>
        </p:spPr>
        <p:txBody>
          <a:bodyPr wrap="square" anchor="t" lIns="152400" rIns="152400" tIns="152400" bIns="152400"/>
          <a:lstStyle/>
          <a:p>
            <a:pPr algn="l">
              <a:lnSpc>
                <a:spcPct val="120000"/>
              </a:lnSpc>
            </a:pPr>
            <a:r>
              <a:rPr sz="2160" b="1">
                <a:solidFill>
                  <a:srgbClr val="9BE7DC"/>
                </a:solidFill>
                <a:latin typeface="Arial"/>
              </a:rPr>
              <a:t>2k/4k</a:t>
            </a:r>
          </a:p>
          <a:p>
            <a:pPr algn="l">
              <a:lnSpc>
                <a:spcPct val="120000"/>
              </a:lnSpc>
            </a:pPr>
            <a:r>
              <a:rPr sz="840" b="0">
                <a:solidFill>
                  <a:srgbClr val="D1E5E8"/>
                </a:solidFill>
                <a:latin typeface="Arial"/>
              </a:rPr>
              <a:t>Hz là sample-rate Ultium hỗ trợ — nhưng chưa đủ để kết luận MFCV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7200" y="3817024"/>
            <a:ext cx="3649980" cy="806886"/>
          </a:xfrm>
          <a:prstGeom prst="rect">
            <a:avLst/>
          </a:prstGeom>
          <a:noFill/>
        </p:spPr>
        <p:txBody>
          <a:bodyPr wrap="square" anchor="t" lIns="152400" rIns="152400" tIns="152400" bIns="152400"/>
          <a:lstStyle/>
          <a:p>
            <a:pPr algn="l">
              <a:lnSpc>
                <a:spcPct val="120000"/>
              </a:lnSpc>
            </a:pPr>
            <a:r>
              <a:rPr sz="2160" b="1">
                <a:solidFill>
                  <a:srgbClr val="9BE7DC"/>
                </a:solidFill>
                <a:latin typeface="Arial"/>
              </a:rPr>
              <a:t>1 lớp</a:t>
            </a:r>
          </a:p>
          <a:p>
            <a:pPr algn="l">
              <a:lnSpc>
                <a:spcPct val="120000"/>
              </a:lnSpc>
            </a:pPr>
            <a:r>
              <a:rPr sz="840" b="0">
                <a:solidFill>
                  <a:srgbClr val="D1E5E8"/>
                </a:solidFill>
                <a:latin typeface="Arial"/>
              </a:rPr>
              <a:t>intelligence có thể tận dụng dữ liệu hiện có thay vì xây lại acquisition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680" y="6317932"/>
            <a:ext cx="11216640" cy="12858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5000"/>
              </a:lnSpc>
            </a:pPr>
            <a:r>
              <a:rPr sz="750" b="0">
                <a:solidFill>
                  <a:srgbClr val="71828A"/>
                </a:solidFill>
                <a:latin typeface="Arial"/>
              </a:rPr>
              <a:t>Nguồn: Vinmec Motion Lab; Noraxon Ultium EMG và EMG Frequency Fatigue Report.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88955" y="320040"/>
            <a:ext cx="1015365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610677"/>
            <a:ext cx="4689752" cy="1376124"/>
          </a:xfrm>
          <a:prstGeom prst="roundRect">
            <a:avLst>
              <a:gd name="adj" fmla="val 12182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8180" y="1801177"/>
            <a:ext cx="1012745" cy="22860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76592" y="1117639"/>
            <a:ext cx="5627727" cy="66294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76592" y="1117639"/>
            <a:ext cx="60960" cy="6629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76592" y="1887259"/>
            <a:ext cx="5627727" cy="82296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76592" y="1887259"/>
            <a:ext cx="60960" cy="82296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76592" y="2816899"/>
            <a:ext cx="5627727" cy="66294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76592" y="2816899"/>
            <a:ext cx="60960" cy="662940"/>
          </a:xfrm>
          <a:prstGeom prst="rect">
            <a:avLst/>
          </a:prstGeom>
          <a:solidFill>
            <a:srgbClr val="C24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7680" y="3693199"/>
            <a:ext cx="11216640" cy="611028"/>
          </a:xfrm>
          <a:prstGeom prst="roundRect">
            <a:avLst>
              <a:gd name="adj" fmla="val 24941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88955" y="320040"/>
            <a:ext cx="1015365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TECHNICAL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60" y="373380"/>
            <a:ext cx="8551425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TÍCH HỢP PHẦN CỨNG + PLAN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" y="594360"/>
            <a:ext cx="8551425" cy="3099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MFCV là capability có điều kiện — không phải điểm chết của 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" y="1801177"/>
            <a:ext cx="1012745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FFFFFF"/>
                </a:solidFill>
                <a:latin typeface="Arial"/>
              </a:rPr>
              <a:t>CÂU HỎI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" y="2151697"/>
            <a:ext cx="4308752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Dữ liệu hiện tại cho phép làm gì?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" y="2426017"/>
            <a:ext cx="4331612" cy="3702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3000"/>
              </a:lnSpc>
            </a:pPr>
            <a:r>
              <a:rPr sz="1019" b="0">
                <a:solidFill>
                  <a:srgbClr val="334155"/>
                </a:solidFill>
                <a:latin typeface="Arial"/>
              </a:rPr>
              <a:t>Raw multi-channel export? Sampling rate? Channel map? Filter? Linear array? Khoảng cách liên điện cực? Hướng đặt?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4592" y="2150149"/>
            <a:ext cx="624840" cy="29718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ctr">
              <a:lnSpc>
                <a:spcPct val="120000"/>
              </a:lnSpc>
            </a:pPr>
            <a:r>
              <a:rPr sz="2039" b="0">
                <a:solidFill>
                  <a:srgbClr val="028090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9952" y="1262419"/>
            <a:ext cx="5254347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1E293B"/>
                </a:solidFill>
                <a:latin typeface="Arial"/>
              </a:rPr>
              <a:t>Plan A — Có geometry đủ cho MFCV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9952" y="1475779"/>
            <a:ext cx="5254347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RMS/MAV/MNF/MDF/slope + CV/MFCV; kiểm tra correlation và eligibility trước khi báo kết quả.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9952" y="2032039"/>
            <a:ext cx="5254347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1E293B"/>
                </a:solidFill>
                <a:latin typeface="Arial"/>
              </a:rPr>
              <a:t>Plan B — Chưa có linear array/spacing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9952" y="2245399"/>
            <a:ext cx="5277207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Làm sEMG feature-based MVP: RMS/MAV/MNF/MDF/onset/slope. Vẫn kiểm chứng workflow và longitudinal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9952" y="2961679"/>
            <a:ext cx="5254347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>
                <a:solidFill>
                  <a:srgbClr val="1E293B"/>
                </a:solidFill>
                <a:latin typeface="Arial"/>
              </a:rPr>
              <a:t>Plan C — Không lấy được dữ liệu usable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9952" y="3175039"/>
            <a:ext cx="5254347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Xử lý access, license hoặc export trước; không cam kết model/pilot khi chưa có dữ liệu thật.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80" y="3693199"/>
            <a:ext cx="11216640" cy="611028"/>
          </a:xfrm>
          <a:prstGeom prst="rect">
            <a:avLst/>
          </a:prstGeom>
          <a:noFill/>
        </p:spPr>
        <p:txBody>
          <a:bodyPr wrap="none" anchor="t" lIns="228600" rIns="228600" tIns="182880" bIns="182880"/>
          <a:lstStyle/>
          <a:p>
            <a:pPr algn="l">
              <a:lnSpc>
                <a:spcPct val="140000"/>
              </a:lnSpc>
            </a:pPr>
            <a:r>
              <a:rPr sz="1380" b="1">
                <a:solidFill>
                  <a:srgbClr val="FFFFFF"/>
                </a:solidFill>
                <a:latin typeface="Arial"/>
              </a:rPr>
              <a:t>Điểm kỹ thuật cần nhớ: </a:t>
            </a:r>
            <a:r>
              <a:rPr sz="1380" b="1">
                <a:solidFill>
                  <a:srgbClr val="9BE7DC"/>
                </a:solidFill>
                <a:latin typeface="Arial"/>
              </a:rPr>
              <a:t>sampling cao là cần thiết nhưng chưa đủ; geometry điện cực mới quyết định MFCV.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680" y="4433768"/>
            <a:ext cx="11216640" cy="1546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840" b="1">
                <a:solidFill>
                  <a:srgbClr val="64748B"/>
                </a:solidFill>
                <a:latin typeface="Arial"/>
              </a:rPr>
              <a:t>Đề xuất:</a:t>
            </a:r>
            <a:r>
              <a:rPr sz="840" b="0">
                <a:solidFill>
                  <a:srgbClr val="64748B"/>
                </a:solidFill>
                <a:latin typeface="Arial"/>
              </a:rPr>
              <a:t> một buổi audit kỹ thuật với Motion Lab + 3–5 sample export ẩn danh. Mọi chi phí phần cứng hiện chỉ là ước lượng, cần xác nhận.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80" y="6317932"/>
            <a:ext cx="11216640" cy="12858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5000"/>
              </a:lnSpc>
            </a:pPr>
            <a:r>
              <a:rPr sz="750" b="0">
                <a:solidFill>
                  <a:srgbClr val="71828A"/>
                </a:solidFill>
                <a:latin typeface="Arial"/>
              </a:rPr>
              <a:t>Paper after-fatigue dùng 64 điện cực, khoảng cách 8 mm, sampling 2048 Hz và ước lượng delay đa kênh.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52139" y="320040"/>
            <a:ext cx="1252180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163359"/>
            <a:ext cx="3637240" cy="1793557"/>
          </a:xfrm>
          <a:prstGeom prst="roundRect">
            <a:avLst>
              <a:gd name="adj" fmla="val 9346"/>
            </a:avLst>
          </a:prstGeom>
          <a:solidFill>
            <a:srgbClr val="EAF8F5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" y="1163359"/>
            <a:ext cx="3637240" cy="60960"/>
          </a:xfrm>
          <a:prstGeom prst="rect">
            <a:avLst/>
          </a:prstGeom>
          <a:solidFill>
            <a:srgbClr val="168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8180" y="1353859"/>
            <a:ext cx="797480" cy="205740"/>
          </a:xfrm>
          <a:prstGeom prst="roundRect">
            <a:avLst>
              <a:gd name="adj" fmla="val 29629"/>
            </a:avLst>
          </a:prstGeom>
          <a:solidFill>
            <a:srgbClr val="DD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77320" y="1163359"/>
            <a:ext cx="3637240" cy="1793557"/>
          </a:xfrm>
          <a:prstGeom prst="roundRect">
            <a:avLst>
              <a:gd name="adj" fmla="val 9346"/>
            </a:avLst>
          </a:prstGeom>
          <a:solidFill>
            <a:srgbClr val="EAF5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77320" y="1163359"/>
            <a:ext cx="3637240" cy="609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67820" y="1353859"/>
            <a:ext cx="1572934" cy="205740"/>
          </a:xfrm>
          <a:prstGeom prst="roundRect">
            <a:avLst>
              <a:gd name="adj" fmla="val 29629"/>
            </a:avLst>
          </a:prstGeom>
          <a:solidFill>
            <a:srgbClr val="D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66960" y="1163359"/>
            <a:ext cx="3637359" cy="1793557"/>
          </a:xfrm>
          <a:prstGeom prst="roundRect">
            <a:avLst>
              <a:gd name="adj" fmla="val 9346"/>
            </a:avLst>
          </a:prstGeom>
          <a:solidFill>
            <a:srgbClr val="FFF7E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6960" y="1163359"/>
            <a:ext cx="3637359" cy="6096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57460" y="1353859"/>
            <a:ext cx="876895" cy="205740"/>
          </a:xfrm>
          <a:prstGeom prst="roundRect">
            <a:avLst>
              <a:gd name="adj" fmla="val 29629"/>
            </a:avLst>
          </a:prstGeom>
          <a:solidFill>
            <a:srgbClr val="FFF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7680" y="3155037"/>
            <a:ext cx="11216640" cy="441960"/>
          </a:xfrm>
          <a:prstGeom prst="roundRect">
            <a:avLst>
              <a:gd name="adj" fmla="val 37931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7680" y="3749397"/>
            <a:ext cx="3627120" cy="986790"/>
          </a:xfrm>
          <a:prstGeom prst="roundRect">
            <a:avLst>
              <a:gd name="adj" fmla="val 1698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82440" y="3749397"/>
            <a:ext cx="3627120" cy="986790"/>
          </a:xfrm>
          <a:prstGeom prst="roundRect">
            <a:avLst>
              <a:gd name="adj" fmla="val 1698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7200" y="3749397"/>
            <a:ext cx="3627120" cy="986790"/>
          </a:xfrm>
          <a:prstGeom prst="roundRect">
            <a:avLst>
              <a:gd name="adj" fmla="val 1698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0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52139" y="320040"/>
            <a:ext cx="1252180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EVIDENCE DISCIPLINE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60" y="373380"/>
            <a:ext cx="9459753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LỢI ÍCH: BẰNG CHỨNG VS GIẢ THUYẾT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60" y="594360"/>
            <a:ext cx="9459753" cy="3099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Nền sinh lý vững; giá trị lâm sàng tại Vinmec vẫn phải được kiểm chứng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" y="1353859"/>
            <a:ext cx="797480" cy="20574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1" spc="31">
                <a:solidFill>
                  <a:srgbClr val="0E7659"/>
                </a:solidFill>
                <a:latin typeface="Arial"/>
              </a:rPr>
              <a:t>ĐÃ XÁC LẬP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" y="1559599"/>
            <a:ext cx="3256240" cy="3505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760" b="1">
                <a:solidFill>
                  <a:srgbClr val="0B2A4A"/>
                </a:solidFill>
                <a:latin typeface="Arial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80" y="1940599"/>
            <a:ext cx="32562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Sinh lý &amp; DSP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80" y="2230159"/>
            <a:ext cx="3279100" cy="55149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2000"/>
              </a:lnSpc>
            </a:pPr>
            <a:r>
              <a:rPr sz="1019" b="0">
                <a:solidFill>
                  <a:srgbClr val="334155"/>
                </a:solidFill>
                <a:latin typeface="Arial"/>
              </a:rPr>
              <a:t>Fatigue thường đi kèm thay đổi CV/frequency và amplitude trong protocol phù hợp; MNF/MDF/CV cần đọc cùng lực, task và chất lượng tín hiệu.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7820" y="1353859"/>
            <a:ext cx="1572934" cy="20574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1" spc="31">
                <a:solidFill>
                  <a:srgbClr val="12677A"/>
                </a:solidFill>
                <a:latin typeface="Arial"/>
              </a:rPr>
              <a:t>ĐÃ MINH HỌA NGHIÊN CỨU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7820" y="1559599"/>
            <a:ext cx="3256240" cy="3505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760" b="1">
                <a:solidFill>
                  <a:srgbClr val="0B2A4A"/>
                </a:solidFill>
                <a:latin typeface="Arial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7820" y="1940599"/>
            <a:ext cx="32562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Algorithm feasibility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7820" y="2230159"/>
            <a:ext cx="3279100" cy="3676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2000"/>
              </a:lnSpc>
            </a:pPr>
            <a:r>
              <a:rPr sz="1019" b="0">
                <a:solidFill>
                  <a:srgbClr val="334155"/>
                </a:solidFill>
                <a:latin typeface="Arial"/>
              </a:rPr>
              <a:t>KNN/SVM/LDA trên feature sEMG cho kết quả tốt trên tập nghiên cứu nhỏ; paper báo F1 xấp xỉ 95%.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460" y="1353859"/>
            <a:ext cx="876895" cy="20574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1" spc="31">
                <a:solidFill>
                  <a:srgbClr val="9A5700"/>
                </a:solidFill>
                <a:latin typeface="Arial"/>
              </a:rPr>
              <a:t>CẦN THÍ ĐIỂM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460" y="1559599"/>
            <a:ext cx="3256359" cy="3505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760" b="1">
                <a:solidFill>
                  <a:srgbClr val="0B2A4A"/>
                </a:solidFill>
                <a:latin typeface="Arial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460" y="1940599"/>
            <a:ext cx="3256359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Clinical utility tại Vinmec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460" y="2230159"/>
            <a:ext cx="3279219" cy="3676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2000"/>
              </a:lnSpc>
            </a:pPr>
            <a:r>
              <a:rPr sz="1019" b="0">
                <a:solidFill>
                  <a:srgbClr val="334155"/>
                </a:solidFill>
                <a:latin typeface="Arial"/>
              </a:rPr>
              <a:t>Threshold, generalization, workflow, clinician agreement, thời gian đo và tác động đến quyết định tiến tải.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680" y="3155037"/>
            <a:ext cx="11216640" cy="441960"/>
          </a:xfrm>
          <a:prstGeom prst="rect">
            <a:avLst/>
          </a:prstGeom>
          <a:noFill/>
        </p:spPr>
        <p:txBody>
          <a:bodyPr wrap="none" anchor="t" lIns="198120" rIns="198120" tIns="152400" bIns="152400"/>
          <a:lstStyle/>
          <a:p>
            <a:pPr algn="l">
              <a:lnSpc>
                <a:spcPct val="120000"/>
              </a:lnSpc>
            </a:pPr>
            <a:r>
              <a:rPr sz="960" b="1">
                <a:solidFill>
                  <a:srgbClr val="9BE7DC"/>
                </a:solidFill>
                <a:latin typeface="Arial"/>
              </a:rPr>
              <a:t>Không dùng F1 làm hero claim:</a:t>
            </a:r>
            <a:r>
              <a:rPr sz="960" b="0">
                <a:solidFill>
                  <a:srgbClr val="FFFFFF"/>
                </a:solidFill>
                <a:latin typeface="Arial"/>
              </a:rPr>
              <a:t> dataset nghiên cứu gồm 10 người khỏe; chưa phải performance cam kết trên bệnh nhân Vinmec.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420" y="3939897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Metric chất lượng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420" y="4214217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Usable session ratio, artifact rate, abstention appropriateness.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8180" y="3939897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Metric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8180" y="4214217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Recall/F1/calibration — chỉ khi label đủ đáng tin.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2940" y="3939897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Metric sản phẩm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2940" y="4214217"/>
            <a:ext cx="3238500" cy="3314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Report clarity, clinician agreement, turnaround time, actionability.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03010" y="320040"/>
            <a:ext cx="1901309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041439"/>
            <a:ext cx="11216640" cy="3052524"/>
          </a:xfrm>
          <a:prstGeom prst="roundRect">
            <a:avLst>
              <a:gd name="adj" fmla="val 5991"/>
            </a:avLst>
          </a:prstGeom>
          <a:gradFill rotWithShape="1">
            <a:gsLst>
              <a:gs pos="0">
                <a:srgbClr val="091426"/>
              </a:gs>
              <a:gs pos="100000">
                <a:srgbClr val="111F36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5809" y="1201459"/>
            <a:ext cx="1532810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9BE7DC"/>
              </a:gs>
              <a:gs pos="100000">
                <a:srgbClr val="61D5C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94820" y="1201459"/>
            <a:ext cx="974764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9BE7DC"/>
              </a:gs>
              <a:gs pos="100000">
                <a:srgbClr val="61D5C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045785" y="1201459"/>
            <a:ext cx="498514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9BE7DC"/>
              </a:gs>
              <a:gs pos="100000">
                <a:srgbClr val="61D5C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7700" y="1574839"/>
            <a:ext cx="6652855" cy="2359104"/>
          </a:xfrm>
          <a:prstGeom prst="roundRect">
            <a:avLst>
              <a:gd name="adj" fmla="val 5168"/>
            </a:avLst>
          </a:prstGeom>
          <a:solidFill>
            <a:srgbClr val="101D31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1872019"/>
            <a:ext cx="6424255" cy="1790700"/>
          </a:xfrm>
          <a:prstGeom prst="roundRect">
            <a:avLst>
              <a:gd name="adj" fmla="val 5106"/>
            </a:avLst>
          </a:prstGeom>
          <a:solidFill>
            <a:srgbClr val="0A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14855" y="1574839"/>
            <a:ext cx="4129444" cy="2359104"/>
          </a:xfrm>
          <a:prstGeom prst="roundRect">
            <a:avLst>
              <a:gd name="adj" fmla="val 5168"/>
            </a:avLst>
          </a:prstGeom>
          <a:solidFill>
            <a:srgbClr val="101D31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29155" y="1872019"/>
            <a:ext cx="1912262" cy="495299"/>
          </a:xfrm>
          <a:prstGeom prst="roundRect">
            <a:avLst>
              <a:gd name="adj" fmla="val 18461"/>
            </a:avLst>
          </a:prstGeom>
          <a:solidFill>
            <a:srgbClr val="0A1424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17618" y="1872019"/>
            <a:ext cx="1912381" cy="495299"/>
          </a:xfrm>
          <a:prstGeom prst="roundRect">
            <a:avLst>
              <a:gd name="adj" fmla="val 18461"/>
            </a:avLst>
          </a:prstGeom>
          <a:solidFill>
            <a:srgbClr val="0A1424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29155" y="2443519"/>
            <a:ext cx="1912262" cy="495299"/>
          </a:xfrm>
          <a:prstGeom prst="roundRect">
            <a:avLst>
              <a:gd name="adj" fmla="val 18461"/>
            </a:avLst>
          </a:prstGeom>
          <a:solidFill>
            <a:srgbClr val="0A1424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17618" y="2443519"/>
            <a:ext cx="1912381" cy="495299"/>
          </a:xfrm>
          <a:prstGeom prst="roundRect">
            <a:avLst>
              <a:gd name="adj" fmla="val 18461"/>
            </a:avLst>
          </a:prstGeom>
          <a:solidFill>
            <a:srgbClr val="0A1424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29155" y="3015019"/>
            <a:ext cx="3900844" cy="320040"/>
          </a:xfrm>
          <a:prstGeom prst="roundRect">
            <a:avLst>
              <a:gd name="adj" fmla="val 28571"/>
            </a:avLst>
          </a:prstGeom>
          <a:solidFill>
            <a:srgbClr val="4E3D1D"/>
          </a:solidFill>
          <a:ln w="7620">
            <a:solidFill>
              <a:srgbClr val="6C5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29155" y="3411259"/>
            <a:ext cx="3900844" cy="408384"/>
          </a:xfrm>
          <a:prstGeom prst="roundRect">
            <a:avLst>
              <a:gd name="adj" fmla="val 18658"/>
            </a:avLst>
          </a:prstGeom>
          <a:solidFill>
            <a:srgbClr val="0A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7680" y="4231124"/>
            <a:ext cx="3627120" cy="851535"/>
          </a:xfrm>
          <a:prstGeom prst="roundRect">
            <a:avLst>
              <a:gd name="adj" fmla="val 19686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3420" y="4421624"/>
            <a:ext cx="474106" cy="228600"/>
          </a:xfrm>
          <a:prstGeom prst="roundRect">
            <a:avLst>
              <a:gd name="adj" fmla="val 50000"/>
            </a:avLst>
          </a:prstGeom>
          <a:solidFill>
            <a:srgbClr val="DD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82440" y="4231124"/>
            <a:ext cx="3627120" cy="851535"/>
          </a:xfrm>
          <a:prstGeom prst="roundRect">
            <a:avLst>
              <a:gd name="adj" fmla="val 19686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88180" y="4421624"/>
            <a:ext cx="1196578" cy="228600"/>
          </a:xfrm>
          <a:prstGeom prst="roundRect">
            <a:avLst>
              <a:gd name="adj" fmla="val 50000"/>
            </a:avLst>
          </a:prstGeom>
          <a:solidFill>
            <a:srgbClr val="FFF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7200" y="4231124"/>
            <a:ext cx="3627120" cy="851535"/>
          </a:xfrm>
          <a:prstGeom prst="roundRect">
            <a:avLst>
              <a:gd name="adj" fmla="val 19686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82940" y="4421624"/>
            <a:ext cx="664130" cy="228600"/>
          </a:xfrm>
          <a:prstGeom prst="roundRect">
            <a:avLst>
              <a:gd name="adj" fmla="val 50000"/>
            </a:avLst>
          </a:prstGeom>
          <a:solidFill>
            <a:srgbClr val="FC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pic>
        <p:nvPicPr>
          <p:cNvPr id="25" name="Picture 24" descr="s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72019"/>
            <a:ext cx="6424255" cy="17907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03010" y="320040"/>
            <a:ext cx="1901309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CONCEPT DEMO · SYNTHETIC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60" y="373380"/>
            <a:ext cx="9111853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DEMO 1 — MỎI CƠ TRONG BUỔI TẬP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60" y="594360"/>
            <a:ext cx="9111853" cy="3099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Một session: dữ liệu đủ tin không, dấu hiệu mỏi ở đâu, cần review gì?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1258609"/>
            <a:ext cx="3829764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19" b="1">
                <a:solidFill>
                  <a:srgbClr val="CFE8EB"/>
                </a:solidFill>
                <a:latin typeface="Arial"/>
              </a:rPr>
              <a:t>Session: ACL rehab · Vastus lateralis phải · Isometric protocol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809" y="1201459"/>
            <a:ext cx="1532810" cy="266700"/>
          </a:xfrm>
          <a:prstGeom prst="rect">
            <a:avLst/>
          </a:prstGeom>
          <a:noFill/>
        </p:spPr>
        <p:txBody>
          <a:bodyPr wrap="none" anchor="t" lIns="106680" rIns="106680" tIns="68580" bIns="68580"/>
          <a:lstStyle/>
          <a:p>
            <a:pPr algn="ctr">
              <a:lnSpc>
                <a:spcPct val="120000"/>
              </a:lnSpc>
            </a:pPr>
            <a:r>
              <a:rPr sz="780" b="1">
                <a:solidFill>
                  <a:srgbClr val="082230"/>
                </a:solidFill>
                <a:latin typeface="Arial"/>
              </a:rPr>
              <a:t>▶ Chạy case đạt chất lượng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820" y="1201459"/>
            <a:ext cx="974764" cy="266700"/>
          </a:xfrm>
          <a:prstGeom prst="rect">
            <a:avLst/>
          </a:prstGeom>
          <a:noFill/>
        </p:spPr>
        <p:txBody>
          <a:bodyPr wrap="none" anchor="t" lIns="106680" rIns="106680" tIns="68580" bIns="68580"/>
          <a:lstStyle/>
          <a:p>
            <a:pPr algn="ctr">
              <a:lnSpc>
                <a:spcPct val="120000"/>
              </a:lnSpc>
            </a:pPr>
            <a:r>
              <a:rPr sz="780" b="1">
                <a:solidFill>
                  <a:srgbClr val="FFFFFF"/>
                </a:solidFill>
                <a:latin typeface="Arial"/>
              </a:rPr>
              <a:t>QC fail / Abstain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5785" y="1201459"/>
            <a:ext cx="498514" cy="266700"/>
          </a:xfrm>
          <a:prstGeom prst="rect">
            <a:avLst/>
          </a:prstGeom>
          <a:noFill/>
        </p:spPr>
        <p:txBody>
          <a:bodyPr wrap="none" anchor="t" lIns="106680" rIns="106680" tIns="68580" bIns="68580"/>
          <a:lstStyle/>
          <a:p>
            <a:pPr algn="ctr">
              <a:lnSpc>
                <a:spcPct val="120000"/>
              </a:lnSpc>
            </a:pPr>
            <a:r>
              <a:rPr sz="780" b="1">
                <a:solidFill>
                  <a:srgbClr val="D9E8F0"/>
                </a:solidFill>
                <a:latin typeface="Arial"/>
              </a:rPr>
              <a:t>Reset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1689139"/>
            <a:ext cx="6424255" cy="106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719" b="1" spc="43">
                <a:solidFill>
                  <a:srgbClr val="91A9C0"/>
                </a:solidFill>
                <a:latin typeface="Arial"/>
              </a:rPr>
              <a:t>TÍN HIỆU SEMG MÔ PHỎNG &amp; XU HƯỚNG FATIGUE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9155" y="1689139"/>
            <a:ext cx="3900844" cy="106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719" b="1" spc="43">
                <a:solidFill>
                  <a:srgbClr val="91A9C0"/>
                </a:solidFill>
                <a:latin typeface="Arial"/>
              </a:rPr>
              <a:t>CLINICAL-SAFE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8215" y="1963459"/>
            <a:ext cx="1714142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FFFFFF"/>
                </a:solidFill>
                <a:latin typeface="Arial"/>
              </a:rPr>
              <a:t>20 / 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8215" y="2184439"/>
            <a:ext cx="1714142" cy="914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8EA5BB"/>
                </a:solidFill>
                <a:latin typeface="Arial"/>
              </a:rPr>
              <a:t>Số rep đã phân tích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6678" y="1963459"/>
            <a:ext cx="1714261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FFFFFF"/>
                </a:solidFill>
                <a:latin typeface="Arial"/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6678" y="2184439"/>
            <a:ext cx="1714261" cy="914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8EA5BB"/>
                </a:solidFill>
                <a:latin typeface="Arial"/>
              </a:rPr>
              <a:t>Signal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8215" y="2534959"/>
            <a:ext cx="1714142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FFFFFF"/>
                </a:solidFill>
                <a:latin typeface="Arial"/>
              </a:rPr>
              <a:t>+26%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8215" y="2755939"/>
            <a:ext cx="1714142" cy="914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8EA5BB"/>
                </a:solidFill>
                <a:latin typeface="Arial"/>
              </a:rPr>
              <a:t>RMS change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6678" y="2534959"/>
            <a:ext cx="1714261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FFFFFF"/>
                </a:solidFill>
                <a:latin typeface="Arial"/>
              </a:rPr>
              <a:t>−17%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6678" y="2755939"/>
            <a:ext cx="1714261" cy="914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660" b="0">
                <a:solidFill>
                  <a:srgbClr val="8EA5BB"/>
                </a:solidFill>
                <a:latin typeface="Arial"/>
              </a:rPr>
              <a:t>MDF change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9155" y="3015019"/>
            <a:ext cx="3900844" cy="320040"/>
          </a:xfrm>
          <a:prstGeom prst="rect">
            <a:avLst/>
          </a:prstGeom>
          <a:noFill/>
        </p:spPr>
        <p:txBody>
          <a:bodyPr wrap="none" anchor="t" lIns="106680" rIns="106680" tIns="91440" bIns="91440"/>
          <a:lstStyle/>
          <a:p>
            <a:pPr algn="ctr">
              <a:lnSpc>
                <a:spcPct val="120000"/>
              </a:lnSpc>
            </a:pPr>
            <a:r>
              <a:rPr sz="840" b="1">
                <a:solidFill>
                  <a:srgbClr val="FFD28C"/>
                </a:solidFill>
                <a:latin typeface="Arial"/>
              </a:rPr>
              <a:t>KTV REVIEW SUGGESTED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9155" y="3411259"/>
            <a:ext cx="3923704" cy="408384"/>
          </a:xfrm>
          <a:prstGeom prst="rect">
            <a:avLst/>
          </a:prstGeom>
          <a:noFill/>
        </p:spPr>
        <p:txBody>
          <a:bodyPr wrap="square" anchor="t" tIns="76200" bIns="76200"/>
          <a:lstStyle/>
          <a:p>
            <a:pPr algn="l">
              <a:lnSpc>
                <a:spcPct val="140000"/>
              </a:lnSpc>
            </a:pPr>
            <a:r>
              <a:rPr sz="719" b="0">
                <a:solidFill>
                  <a:srgbClr val="AFC2D5"/>
                </a:solidFill>
                <a:latin typeface="Arial"/>
              </a:rPr>
              <a:t>Evidence: MDF giảm 16%, RMS tăng 25%, fatigue onset ở rep 14. Cần đối chiếu force/RPE và đánh giá lâm sàng.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420" y="4421624"/>
            <a:ext cx="474106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0E7659"/>
                </a:solidFill>
                <a:latin typeface="Arial"/>
              </a:rP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420" y="4726424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Dữ liệu đạt → hiển thị evidence, confidence và reason codes.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8180" y="4421624"/>
            <a:ext cx="1196578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9A5700"/>
                </a:solidFill>
                <a:latin typeface="Arial"/>
              </a:rPr>
              <a:t>LOW CONFIDENCE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8180" y="4726424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Dữ liệu đạt nhưng pattern không chắc → human review.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2940" y="4421624"/>
            <a:ext cx="664130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9F2F2B"/>
                </a:solidFill>
                <a:latin typeface="Arial"/>
              </a:rPr>
              <a:t>ABSTAIN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2940" y="4726424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Dữ liệu không đạt → không nói “mỏi/không mỏi”.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0310" y="320040"/>
            <a:ext cx="1604010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148119"/>
            <a:ext cx="11216640" cy="2631995"/>
          </a:xfrm>
          <a:prstGeom prst="roundRect">
            <a:avLst>
              <a:gd name="adj" fmla="val 5211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5299" y="1155739"/>
            <a:ext cx="2464236" cy="37635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59536" y="1155739"/>
            <a:ext cx="3136344" cy="37635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5880" y="1155739"/>
            <a:ext cx="3360420" cy="37635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56300" y="1155739"/>
            <a:ext cx="2240399" cy="37635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299" y="2117883"/>
            <a:ext cx="11201400" cy="486846"/>
          </a:xfrm>
          <a:prstGeom prst="rect">
            <a:avLst/>
          </a:prstGeom>
          <a:solidFill>
            <a:srgbClr val="F2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299" y="3190517"/>
            <a:ext cx="11201400" cy="581977"/>
          </a:xfrm>
          <a:prstGeom prst="rect">
            <a:avLst/>
          </a:prstGeom>
          <a:solidFill>
            <a:srgbClr val="F2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7680" y="4008715"/>
            <a:ext cx="11216640" cy="611028"/>
          </a:xfrm>
          <a:prstGeom prst="roundRect">
            <a:avLst>
              <a:gd name="adj" fmla="val 24941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7680" y="4787384"/>
            <a:ext cx="3627120" cy="821055"/>
          </a:xfrm>
          <a:prstGeom prst="roundRect">
            <a:avLst>
              <a:gd name="adj" fmla="val 20417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2440" y="4787384"/>
            <a:ext cx="3627120" cy="821055"/>
          </a:xfrm>
          <a:prstGeom prst="roundRect">
            <a:avLst>
              <a:gd name="adj" fmla="val 20417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77200" y="4787384"/>
            <a:ext cx="3627120" cy="821055"/>
          </a:xfrm>
          <a:prstGeom prst="roundRect">
            <a:avLst>
              <a:gd name="adj" fmla="val 20417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1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00310" y="320040"/>
            <a:ext cx="1604010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FUTURE-STATE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60" y="373380"/>
            <a:ext cx="9594413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HẠ TẦNG VẬN HÀNH — OH / EFORM / EMR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60" y="594360"/>
            <a:ext cx="9594413" cy="3099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File import trước; tích hợp sâu sau khi workflow chứng minh được giá trị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299" y="1155739"/>
            <a:ext cx="2464236" cy="376356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 spc="33">
                <a:solidFill>
                  <a:srgbClr val="FFFFFF"/>
                </a:solidFill>
                <a:latin typeface="Arial"/>
              </a:rPr>
              <a:t>LỚP HẠ TẦNG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9536" y="1155739"/>
            <a:ext cx="3136344" cy="376356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 spc="33">
                <a:solidFill>
                  <a:srgbClr val="FFFFFF"/>
                </a:solidFill>
                <a:latin typeface="Arial"/>
              </a:rPr>
              <a:t>MVP / FEASIBILITY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880" y="1155739"/>
            <a:ext cx="3360420" cy="376356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 spc="33">
                <a:solidFill>
                  <a:srgbClr val="FFFFFF"/>
                </a:solidFill>
                <a:latin typeface="Arial"/>
              </a:rPr>
              <a:t>PILOT / FUTURE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6300" y="1155739"/>
            <a:ext cx="2240399" cy="376356"/>
          </a:xfrm>
          <a:prstGeom prst="rect">
            <a:avLst/>
          </a:prstGeom>
          <a:noFill/>
        </p:spPr>
        <p:txBody>
          <a:bodyPr wrap="non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 spc="33">
                <a:solidFill>
                  <a:srgbClr val="FFFFFF"/>
                </a:solidFill>
                <a:latin typeface="Arial"/>
              </a:rPr>
              <a:t>TRẠNG THÁI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299" y="1532096"/>
            <a:ext cx="2487096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1">
                <a:solidFill>
                  <a:srgbClr val="1E293B"/>
                </a:solidFill>
                <a:latin typeface="Arial"/>
              </a:rPr>
              <a:t>Noraxon / myoRESEARCH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9536" y="1532096"/>
            <a:ext cx="3159204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Import CSV/TXT/MAT/C3D hoặc processed export.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80" y="1532096"/>
            <a:ext cx="3383280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Adapter/stream nếu license và API cho phép.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6300" y="1532096"/>
            <a:ext cx="2263259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>
                <a:solidFill>
                  <a:srgbClr val="9A5700"/>
                </a:solidFill>
                <a:latin typeface="Arial"/>
              </a:rPr>
              <a:t>CẦN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299" y="2117883"/>
            <a:ext cx="2487096" cy="486846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1">
                <a:solidFill>
                  <a:srgbClr val="1E293B"/>
                </a:solidFill>
                <a:latin typeface="Arial"/>
              </a:rPr>
              <a:t>OH / chỉ định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9536" y="2117883"/>
            <a:ext cx="3159204" cy="486846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Chưa bắt buộc cho technical spike.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5880" y="2117883"/>
            <a:ext cx="3383280" cy="486846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Mã chỉ định “đánh giá mỏi cơ sEMG”.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6300" y="2117883"/>
            <a:ext cx="2263259" cy="486846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>
                <a:solidFill>
                  <a:srgbClr val="475569"/>
                </a:solidFill>
                <a:latin typeface="Arial"/>
              </a:rPr>
              <a:t>FUTURE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299" y="2604730"/>
            <a:ext cx="2487096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1">
                <a:solidFill>
                  <a:srgbClr val="1E293B"/>
                </a:solidFill>
                <a:latin typeface="Arial"/>
              </a:rPr>
              <a:t>eForm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59536" y="2604730"/>
            <a:ext cx="3159204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Metadata JSON/form local: cơ, bên, protocol, mốc điều trị.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80" y="2604730"/>
            <a:ext cx="3383280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Tận dụng khung eForm nội bộ nếu được xác nhận.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6300" y="2604730"/>
            <a:ext cx="2263259" cy="58578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>
                <a:solidFill>
                  <a:srgbClr val="9A5700"/>
                </a:solidFill>
                <a:latin typeface="Arial"/>
              </a:rPr>
              <a:t>CẦN XÁC NHẬN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299" y="3190517"/>
            <a:ext cx="2487096" cy="58197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1">
                <a:solidFill>
                  <a:srgbClr val="1E293B"/>
                </a:solidFill>
                <a:latin typeface="Arial"/>
              </a:rPr>
              <a:t>EMR/HIS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59536" y="3190517"/>
            <a:ext cx="3159204" cy="58197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Export PDF/HTML đã review.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5880" y="3190517"/>
            <a:ext cx="3383280" cy="58197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E293B"/>
                </a:solidFill>
                <a:latin typeface="Arial"/>
              </a:rPr>
              <a:t>Đồng bộ report sau khi workflow và governance được duyệt.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56300" y="3190517"/>
            <a:ext cx="2263259" cy="581977"/>
          </a:xfrm>
          <a:prstGeom prst="rect">
            <a:avLst/>
          </a:prstGeom>
          <a:noFill/>
        </p:spPr>
        <p:txBody>
          <a:bodyPr wrap="square" anchor="t" lIns="137160" rIns="137160" tIns="114300" bIns="114300"/>
          <a:lstStyle/>
          <a:p>
            <a:pPr algn="l">
              <a:lnSpc>
                <a:spcPct val="135000"/>
              </a:lnSpc>
            </a:pPr>
            <a:r>
              <a:rPr sz="840" b="1">
                <a:solidFill>
                  <a:srgbClr val="475569"/>
                </a:solidFill>
                <a:latin typeface="Arial"/>
              </a:rPr>
              <a:t>SAU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680" y="4008715"/>
            <a:ext cx="11216640" cy="611028"/>
          </a:xfrm>
          <a:prstGeom prst="rect">
            <a:avLst/>
          </a:prstGeom>
          <a:noFill/>
        </p:spPr>
        <p:txBody>
          <a:bodyPr wrap="none" anchor="t" lIns="228600" rIns="228600" tIns="182880" bIns="182880"/>
          <a:lstStyle/>
          <a:p>
            <a:pPr algn="l">
              <a:lnSpc>
                <a:spcPct val="140000"/>
              </a:lnSpc>
            </a:pPr>
            <a:r>
              <a:rPr sz="1380" b="1">
                <a:solidFill>
                  <a:srgbClr val="FFFFFF"/>
                </a:solidFill>
                <a:latin typeface="Arial"/>
              </a:rPr>
              <a:t>Nguyên tắc chống scope creep: </a:t>
            </a:r>
            <a:r>
              <a:rPr sz="1380" b="1">
                <a:solidFill>
                  <a:srgbClr val="9BE7DC"/>
                </a:solidFill>
                <a:latin typeface="Arial"/>
              </a:rPr>
              <a:t>chứng minh clinical readability và workflow trước; FHIR/HL7 sau.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420" y="4977884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Raw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420" y="5252204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Ưu tiên xử lý on-premises, checksum và versioning.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8180" y="4977884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Feature/report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8180" y="5252204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Ẩn danh, version protocol/preprocess/model/report.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2940" y="4977884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2940" y="5252204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Kết quả final chỉ sau human sign-off.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87213" y="320040"/>
            <a:ext cx="1617106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056679"/>
            <a:ext cx="1536977" cy="1143000"/>
          </a:xfrm>
          <a:prstGeom prst="roundRect">
            <a:avLst>
              <a:gd name="adj" fmla="val 10666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26569" y="1186219"/>
            <a:ext cx="259080" cy="259080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0857" y="1056679"/>
            <a:ext cx="1537096" cy="1143000"/>
          </a:xfrm>
          <a:prstGeom prst="roundRect">
            <a:avLst>
              <a:gd name="adj" fmla="val 10666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39866" y="1186219"/>
            <a:ext cx="259080" cy="259080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14154" y="1003339"/>
            <a:ext cx="1537096" cy="1143000"/>
          </a:xfrm>
          <a:prstGeom prst="roundRect">
            <a:avLst>
              <a:gd name="adj" fmla="val 10666"/>
            </a:avLst>
          </a:prstGeom>
          <a:solidFill>
            <a:srgbClr val="EAF8F5"/>
          </a:solidFill>
          <a:ln w="22859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53163" y="1148119"/>
            <a:ext cx="259080" cy="25908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27451" y="1056679"/>
            <a:ext cx="1536977" cy="1143000"/>
          </a:xfrm>
          <a:prstGeom prst="roundRect">
            <a:avLst>
              <a:gd name="adj" fmla="val 10666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66340" y="1186219"/>
            <a:ext cx="259080" cy="259080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0629" y="1056679"/>
            <a:ext cx="1537096" cy="1143000"/>
          </a:xfrm>
          <a:prstGeom prst="roundRect">
            <a:avLst>
              <a:gd name="adj" fmla="val 10666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79637" y="1186219"/>
            <a:ext cx="259080" cy="259080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53926" y="1056679"/>
            <a:ext cx="1537096" cy="1143000"/>
          </a:xfrm>
          <a:prstGeom prst="roundRect">
            <a:avLst>
              <a:gd name="adj" fmla="val 10666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92934" y="1186219"/>
            <a:ext cx="259080" cy="259080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7223" y="1056679"/>
            <a:ext cx="1536977" cy="1143000"/>
          </a:xfrm>
          <a:prstGeom prst="roundRect">
            <a:avLst>
              <a:gd name="adj" fmla="val 10666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06112" y="1186219"/>
            <a:ext cx="259080" cy="259080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7680" y="2397799"/>
            <a:ext cx="11216640" cy="579120"/>
          </a:xfrm>
          <a:prstGeom prst="roundRect">
            <a:avLst>
              <a:gd name="adj" fmla="val 26315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7680" y="3144559"/>
            <a:ext cx="3627120" cy="986790"/>
          </a:xfrm>
          <a:prstGeom prst="roundRect">
            <a:avLst>
              <a:gd name="adj" fmla="val 1698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82440" y="3144559"/>
            <a:ext cx="3627120" cy="986790"/>
          </a:xfrm>
          <a:prstGeom prst="roundRect">
            <a:avLst>
              <a:gd name="adj" fmla="val 1698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7200" y="3144559"/>
            <a:ext cx="3627120" cy="986790"/>
          </a:xfrm>
          <a:prstGeom prst="roundRect">
            <a:avLst>
              <a:gd name="adj" fmla="val 1698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87213" y="320040"/>
            <a:ext cx="1617106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SAFE-BY-DESIGN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760" y="373380"/>
            <a:ext cx="6369843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QUY TRÌNH VẬN HÀNH 7 BƯỚC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60" y="594360"/>
            <a:ext cx="6369843" cy="3099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Quality trước AI; abstention là một output hợp lệ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6569" y="1186219"/>
            <a:ext cx="281940" cy="259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960" b="1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740" y="1521499"/>
            <a:ext cx="1338857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E293B"/>
                </a:solidFill>
                <a:latin typeface="Arial"/>
              </a:rPr>
              <a:t>Chỉ định &amp; chuẩn bị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6740" y="1710094"/>
            <a:ext cx="1361717" cy="2571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750" b="0">
                <a:solidFill>
                  <a:srgbClr val="64748B"/>
                </a:solidFill>
                <a:latin typeface="Arial"/>
              </a:rPr>
              <a:t>Cơ, bên, protocol, da và placement.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9866" y="1186219"/>
            <a:ext cx="281940" cy="259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960" b="1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9917" y="1521499"/>
            <a:ext cx="133897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E293B"/>
                </a:solidFill>
                <a:latin typeface="Arial"/>
              </a:rPr>
              <a:t>Thu nhận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9917" y="1710094"/>
            <a:ext cx="1361836" cy="2571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750" b="0">
                <a:solidFill>
                  <a:srgbClr val="64748B"/>
                </a:solidFill>
                <a:latin typeface="Arial"/>
              </a:rPr>
              <a:t>Noraxon ± force/VICON; raw giữ nội bộ.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3163" y="1148119"/>
            <a:ext cx="281940" cy="259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96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8454" y="1483399"/>
            <a:ext cx="130849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E293B"/>
                </a:solidFill>
                <a:latin typeface="Arial"/>
              </a:rPr>
              <a:t>Quality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8454" y="1671994"/>
            <a:ext cx="1331356" cy="2571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750" b="0">
                <a:solidFill>
                  <a:srgbClr val="64748B"/>
                </a:solidFill>
                <a:latin typeface="Arial"/>
              </a:rPr>
              <a:t>Noise, dropout, clipping, metadata, MFCV eligibility.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6340" y="1186219"/>
            <a:ext cx="281940" cy="259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960" b="1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26511" y="1521499"/>
            <a:ext cx="1338857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E293B"/>
                </a:solidFill>
                <a:latin typeface="Arial"/>
              </a:rPr>
              <a:t>Feature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6511" y="1710094"/>
            <a:ext cx="1361717" cy="2571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750" b="0">
                <a:solidFill>
                  <a:srgbClr val="64748B"/>
                </a:solidFill>
                <a:latin typeface="Arial"/>
              </a:rPr>
              <a:t>RMS/MAV/MNF/MDF/slope/CV nếu đủ.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9637" y="1186219"/>
            <a:ext cx="281940" cy="259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960" b="1">
                <a:solidFill>
                  <a:srgbClr val="028090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9689" y="1521499"/>
            <a:ext cx="133897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E293B"/>
                </a:solidFill>
                <a:latin typeface="Arial"/>
              </a:rPr>
              <a:t>Evidence / 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9689" y="1710094"/>
            <a:ext cx="1361836" cy="2571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750" b="0">
                <a:solidFill>
                  <a:srgbClr val="64748B"/>
                </a:solidFill>
                <a:latin typeface="Arial"/>
              </a:rPr>
              <a:t>Status, confidence, reason codes.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2934" y="1186219"/>
            <a:ext cx="281940" cy="259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960" b="1">
                <a:solidFill>
                  <a:srgbClr val="028090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52986" y="1521499"/>
            <a:ext cx="133897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E293B"/>
                </a:solidFill>
                <a:latin typeface="Arial"/>
              </a:rPr>
              <a:t>Human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2986" y="1710094"/>
            <a:ext cx="1361836" cy="2571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750" b="0">
                <a:solidFill>
                  <a:srgbClr val="64748B"/>
                </a:solidFill>
                <a:latin typeface="Arial"/>
              </a:rPr>
              <a:t>KTV kỹ thuật; bác sĩ diễn giải/ký.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06112" y="1186219"/>
            <a:ext cx="281940" cy="259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960" b="1">
                <a:solidFill>
                  <a:srgbClr val="028090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66283" y="1521499"/>
            <a:ext cx="1338857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5000"/>
              </a:lnSpc>
            </a:pPr>
            <a:r>
              <a:rPr sz="900" b="1">
                <a:solidFill>
                  <a:srgbClr val="1E293B"/>
                </a:solidFill>
                <a:latin typeface="Arial"/>
              </a:rPr>
              <a:t>Report &amp; theo dõi dọc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66283" y="1710094"/>
            <a:ext cx="1361717" cy="2571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750" b="0">
                <a:solidFill>
                  <a:srgbClr val="64748B"/>
                </a:solidFill>
                <a:latin typeface="Arial"/>
              </a:rPr>
              <a:t>So sánh cùng cơ, cùng protocol.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7680" y="2397799"/>
            <a:ext cx="11216640" cy="579120"/>
          </a:xfrm>
          <a:prstGeom prst="rect">
            <a:avLst/>
          </a:prstGeom>
          <a:noFill/>
        </p:spPr>
        <p:txBody>
          <a:bodyPr wrap="none" anchor="t" lIns="228600" rIns="228600" tIns="182880" bIns="182880"/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9BE7DC"/>
                </a:solidFill>
                <a:latin typeface="Arial"/>
              </a:rPr>
              <a:t>Cổng abstention:</a:t>
            </a:r>
            <a:r>
              <a:rPr sz="1200" b="1">
                <a:solidFill>
                  <a:srgbClr val="FFFFFF"/>
                </a:solidFill>
                <a:latin typeface="Arial"/>
              </a:rPr>
              <a:t> phân biệt “chưa phát hiện mỏi” với “dữ liệu chưa đủ điều kiện phân tích” — tránh kết luận sai khi tín hiệu kém.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3420" y="3335059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Ai vận hành?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420" y="3609379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KTV Motion Lab/PHCN thực hiện đo và kiểm tra setup.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8180" y="3335059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Ai chịu trách nhiệm?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8180" y="3609379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Bác sĩ/KTV được phân quyền review; bác sĩ quyết định cuối.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2940" y="3335059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Thời gian &amp; nghẽn?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2940" y="3609379"/>
            <a:ext cx="3238500" cy="3314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Chưa đo. Feasibility phải ghi thời gian setup, đo, phân tích và review.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89305" y="6537960"/>
            <a:ext cx="115014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09333" y="320040"/>
            <a:ext cx="1794986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041439"/>
            <a:ext cx="11216640" cy="3666291"/>
          </a:xfrm>
          <a:prstGeom prst="roundRect">
            <a:avLst>
              <a:gd name="adj" fmla="val 4988"/>
            </a:avLst>
          </a:prstGeom>
          <a:gradFill rotWithShape="1">
            <a:gsLst>
              <a:gs pos="0">
                <a:srgbClr val="091426"/>
              </a:gs>
              <a:gs pos="100000">
                <a:srgbClr val="111F36"/>
              </a:gs>
            </a:gsLst>
            <a:lin scaled="0" ang="12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22286" y="1201459"/>
            <a:ext cx="1247298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9BE7DC"/>
              </a:gs>
              <a:gs pos="100000">
                <a:srgbClr val="61D5C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045785" y="1201459"/>
            <a:ext cx="498514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9BE7DC"/>
              </a:gs>
              <a:gs pos="100000">
                <a:srgbClr val="61D5C6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7700" y="1574839"/>
            <a:ext cx="6616303" cy="2972871"/>
          </a:xfrm>
          <a:prstGeom prst="roundRect">
            <a:avLst>
              <a:gd name="adj" fmla="val 4101"/>
            </a:avLst>
          </a:prstGeom>
          <a:solidFill>
            <a:srgbClr val="101D31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1872019"/>
            <a:ext cx="6387703" cy="1790700"/>
          </a:xfrm>
          <a:prstGeom prst="roundRect">
            <a:avLst>
              <a:gd name="adj" fmla="val 5106"/>
            </a:avLst>
          </a:prstGeom>
          <a:solidFill>
            <a:srgbClr val="0A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78303" y="1574839"/>
            <a:ext cx="4165996" cy="2972871"/>
          </a:xfrm>
          <a:prstGeom prst="roundRect">
            <a:avLst>
              <a:gd name="adj" fmla="val 4101"/>
            </a:avLst>
          </a:prstGeom>
          <a:solidFill>
            <a:srgbClr val="101D31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2603" y="1689139"/>
            <a:ext cx="3937396" cy="522089"/>
          </a:xfrm>
          <a:prstGeom prst="roundRect">
            <a:avLst>
              <a:gd name="adj" fmla="val 17514"/>
            </a:avLst>
          </a:prstGeom>
          <a:solidFill>
            <a:srgbClr val="0A1424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2603" y="2287428"/>
            <a:ext cx="3937396" cy="522089"/>
          </a:xfrm>
          <a:prstGeom prst="roundRect">
            <a:avLst>
              <a:gd name="adj" fmla="val 17514"/>
            </a:avLst>
          </a:prstGeom>
          <a:solidFill>
            <a:srgbClr val="0A1424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2603" y="2885717"/>
            <a:ext cx="3937396" cy="522089"/>
          </a:xfrm>
          <a:prstGeom prst="roundRect">
            <a:avLst>
              <a:gd name="adj" fmla="val 17514"/>
            </a:avLst>
          </a:prstGeom>
          <a:solidFill>
            <a:srgbClr val="0A1424"/>
          </a:solidFill>
          <a:ln w="7620">
            <a:solidFill>
              <a:srgbClr val="26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2603" y="3552586"/>
            <a:ext cx="3937396" cy="320040"/>
          </a:xfrm>
          <a:prstGeom prst="roundRect">
            <a:avLst>
              <a:gd name="adj" fmla="val 28571"/>
            </a:avLst>
          </a:prstGeom>
          <a:solidFill>
            <a:srgbClr val="123E35"/>
          </a:solidFill>
          <a:ln w="7620">
            <a:solidFill>
              <a:srgbClr val="1E66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2603" y="4025026"/>
            <a:ext cx="3937396" cy="408384"/>
          </a:xfrm>
          <a:prstGeom prst="roundRect">
            <a:avLst>
              <a:gd name="adj" fmla="val 18658"/>
            </a:avLst>
          </a:prstGeom>
          <a:solidFill>
            <a:srgbClr val="0A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7680" y="4844891"/>
            <a:ext cx="3627120" cy="986790"/>
          </a:xfrm>
          <a:prstGeom prst="roundRect">
            <a:avLst>
              <a:gd name="adj" fmla="val 1698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2440" y="4844891"/>
            <a:ext cx="3627120" cy="986790"/>
          </a:xfrm>
          <a:prstGeom prst="roundRect">
            <a:avLst>
              <a:gd name="adj" fmla="val 1698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77200" y="4844891"/>
            <a:ext cx="3627120" cy="986790"/>
          </a:xfrm>
          <a:prstGeom prst="roundRect">
            <a:avLst>
              <a:gd name="adj" fmla="val 16988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1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pic>
        <p:nvPicPr>
          <p:cNvPr id="20" name="Picture 19" descr="s12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72019"/>
            <a:ext cx="6387703" cy="1790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9333" y="320040"/>
            <a:ext cx="1794986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CONCEPT DEMO · LONGITUDINAL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60" y="373380"/>
            <a:ext cx="9693949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DEMO 2 — TIẾN ĐỘ PHỤC HỒI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60" y="594360"/>
            <a:ext cx="9693949" cy="3099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Không chỉ “có mỏi” — cho thấy sức bền thay đổi bao nhiêu qua từng buổi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1258609"/>
            <a:ext cx="364902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19" b="1">
                <a:solidFill>
                  <a:srgbClr val="CFE8EB"/>
                </a:solidFill>
                <a:latin typeface="Arial"/>
              </a:rPr>
              <a:t>Bệnh nhân ẩn danh · ACL rehab · cùng protocol · 6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2286" y="1201459"/>
            <a:ext cx="1247298" cy="266700"/>
          </a:xfrm>
          <a:prstGeom prst="rect">
            <a:avLst/>
          </a:prstGeom>
          <a:noFill/>
        </p:spPr>
        <p:txBody>
          <a:bodyPr wrap="none" anchor="t" lIns="106680" rIns="106680" tIns="68580" bIns="68580"/>
          <a:lstStyle/>
          <a:p>
            <a:pPr algn="ctr">
              <a:lnSpc>
                <a:spcPct val="120000"/>
              </a:lnSpc>
            </a:pPr>
            <a:r>
              <a:rPr sz="780" b="1">
                <a:solidFill>
                  <a:srgbClr val="082230"/>
                </a:solidFill>
                <a:latin typeface="Arial"/>
              </a:rPr>
              <a:t>▶ Tạo báo cáo tiến độ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5785" y="1201459"/>
            <a:ext cx="498514" cy="266700"/>
          </a:xfrm>
          <a:prstGeom prst="rect">
            <a:avLst/>
          </a:prstGeom>
          <a:noFill/>
        </p:spPr>
        <p:txBody>
          <a:bodyPr wrap="none" anchor="t" lIns="106680" rIns="106680" tIns="68580" bIns="68580"/>
          <a:lstStyle/>
          <a:p>
            <a:pPr algn="ctr">
              <a:lnSpc>
                <a:spcPct val="120000"/>
              </a:lnSpc>
            </a:pPr>
            <a:r>
              <a:rPr sz="780" b="1">
                <a:solidFill>
                  <a:srgbClr val="D9E8F0"/>
                </a:solidFill>
                <a:latin typeface="Arial"/>
              </a:rPr>
              <a:t>Reset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1689139"/>
            <a:ext cx="6387703" cy="106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719" b="1" spc="43">
                <a:solidFill>
                  <a:srgbClr val="91A9C0"/>
                </a:solidFill>
                <a:latin typeface="Arial"/>
              </a:rPr>
              <a:t>FATIGUE ONSET &amp; MDF SLOPE QUA CÁC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2603" y="1689139"/>
            <a:ext cx="3960256" cy="522089"/>
          </a:xfrm>
          <a:prstGeom prst="rect">
            <a:avLst/>
          </a:prstGeom>
          <a:noFill/>
        </p:spPr>
        <p:txBody>
          <a:bodyPr wrap="square" anchor="t" tIns="83820" bIns="83820"/>
          <a:lstStyle/>
          <a:p>
            <a:pPr algn="l">
              <a:lnSpc>
                <a:spcPct val="120000"/>
              </a:lnSpc>
            </a:pPr>
            <a:r>
              <a:rPr sz="1140" b="1">
                <a:solidFill>
                  <a:srgbClr val="E9F4F5"/>
                </a:solidFill>
                <a:latin typeface="Arial"/>
              </a:rPr>
              <a:t>+34 s</a:t>
            </a:r>
          </a:p>
          <a:p>
            <a:pPr algn="l">
              <a:lnSpc>
                <a:spcPct val="120000"/>
              </a:lnSpc>
            </a:pPr>
            <a:r>
              <a:rPr sz="690" b="0">
                <a:solidFill>
                  <a:srgbClr val="8EA5BB"/>
                </a:solidFill>
                <a:latin typeface="Arial"/>
              </a:rPr>
              <a:t>Fatigue onset thay đổi so với session đầu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2603" y="2287428"/>
            <a:ext cx="3960256" cy="522089"/>
          </a:xfrm>
          <a:prstGeom prst="rect">
            <a:avLst/>
          </a:prstGeom>
          <a:noFill/>
        </p:spPr>
        <p:txBody>
          <a:bodyPr wrap="square" anchor="t" tIns="83820" bIns="83820"/>
          <a:lstStyle/>
          <a:p>
            <a:pPr algn="l">
              <a:lnSpc>
                <a:spcPct val="120000"/>
              </a:lnSpc>
            </a:pPr>
            <a:r>
              <a:rPr sz="1140" b="1">
                <a:solidFill>
                  <a:srgbClr val="E9F4F5"/>
                </a:solidFill>
                <a:latin typeface="Arial"/>
              </a:rPr>
              <a:t>57% nhẹ hơn</a:t>
            </a:r>
          </a:p>
          <a:p>
            <a:pPr algn="l">
              <a:lnSpc>
                <a:spcPct val="120000"/>
              </a:lnSpc>
            </a:pPr>
            <a:r>
              <a:rPr sz="690" b="0">
                <a:solidFill>
                  <a:srgbClr val="8EA5BB"/>
                </a:solidFill>
                <a:latin typeface="Arial"/>
              </a:rPr>
              <a:t>MDF decline giảm về độ dốc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2603" y="2885717"/>
            <a:ext cx="3960256" cy="522089"/>
          </a:xfrm>
          <a:prstGeom prst="rect">
            <a:avLst/>
          </a:prstGeom>
          <a:noFill/>
        </p:spPr>
        <p:txBody>
          <a:bodyPr wrap="square" anchor="t" tIns="83820" bIns="83820"/>
          <a:lstStyle/>
          <a:p>
            <a:pPr algn="l">
              <a:lnSpc>
                <a:spcPct val="120000"/>
              </a:lnSpc>
            </a:pPr>
            <a:r>
              <a:rPr sz="1140" b="1">
                <a:solidFill>
                  <a:srgbClr val="E9F4F5"/>
                </a:solidFill>
                <a:latin typeface="Arial"/>
              </a:rPr>
              <a:t>14% → 6%</a:t>
            </a:r>
          </a:p>
          <a:p>
            <a:pPr algn="l">
              <a:lnSpc>
                <a:spcPct val="120000"/>
              </a:lnSpc>
            </a:pPr>
            <a:r>
              <a:rPr sz="690" b="0">
                <a:solidFill>
                  <a:srgbClr val="8EA5BB"/>
                </a:solidFill>
                <a:latin typeface="Arial"/>
              </a:rPr>
              <a:t>Side-to-side asymmetry (nếu có hai bên)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2603" y="3552586"/>
            <a:ext cx="3937396" cy="320040"/>
          </a:xfrm>
          <a:prstGeom prst="rect">
            <a:avLst/>
          </a:prstGeom>
          <a:noFill/>
        </p:spPr>
        <p:txBody>
          <a:bodyPr wrap="none" anchor="t" lIns="106680" rIns="106680" tIns="91440" bIns="91440"/>
          <a:lstStyle/>
          <a:p>
            <a:pPr algn="ctr">
              <a:lnSpc>
                <a:spcPct val="120000"/>
              </a:lnSpc>
            </a:pPr>
            <a:r>
              <a:rPr sz="840" b="1">
                <a:solidFill>
                  <a:srgbClr val="8AF0D0"/>
                </a:solidFill>
                <a:latin typeface="Arial"/>
              </a:rPr>
              <a:t>EVIDENCE GỢI Ý CẢI THIỆN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2603" y="4025026"/>
            <a:ext cx="3960256" cy="408384"/>
          </a:xfrm>
          <a:prstGeom prst="rect">
            <a:avLst/>
          </a:prstGeom>
          <a:noFill/>
        </p:spPr>
        <p:txBody>
          <a:bodyPr wrap="square" anchor="t" tIns="76200" bIns="76200"/>
          <a:lstStyle/>
          <a:p>
            <a:pPr algn="l">
              <a:lnSpc>
                <a:spcPct val="140000"/>
              </a:lnSpc>
            </a:pPr>
            <a:r>
              <a:rPr sz="719" b="0">
                <a:solidFill>
                  <a:srgbClr val="AFC2D5"/>
                </a:solidFill>
                <a:latin typeface="Arial"/>
              </a:rPr>
              <a:t>Fatigue onset muộn hơn, MDF decline nhẹ hơn và asymmetry giảm. Bác sĩ/KTV đối chiếu cùng lực, RPE và vận động.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420" y="5035391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So sánh hợp lệ khi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420" y="5309711"/>
            <a:ext cx="3238500" cy="3314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Cùng cơ, cùng bên, cùng protocol và cùng preprocessing/version.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8180" y="5035391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Không so sánh khi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8180" y="5309711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Khác task, khác setup, metadata thiếu hoặc QC fail.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2940" y="5035391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Ngôn ngữ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2940" y="5309711"/>
            <a:ext cx="3238500" cy="3314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“Evidence gợi ý cải thiện” — không tự kết luận đủ tăng tải/thi đấu.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22900" y="320040"/>
            <a:ext cx="881419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163359"/>
            <a:ext cx="3637240" cy="1853088"/>
          </a:xfrm>
          <a:prstGeom prst="roundRect">
            <a:avLst>
              <a:gd name="adj" fmla="val 9046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92880" y="1300519"/>
            <a:ext cx="426720" cy="42672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77320" y="1163359"/>
            <a:ext cx="3637240" cy="1853088"/>
          </a:xfrm>
          <a:prstGeom prst="roundRect">
            <a:avLst>
              <a:gd name="adj" fmla="val 9046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82520" y="1300519"/>
            <a:ext cx="426720" cy="42672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66960" y="1163359"/>
            <a:ext cx="3637359" cy="1853088"/>
          </a:xfrm>
          <a:prstGeom prst="roundRect">
            <a:avLst>
              <a:gd name="adj" fmla="val 9046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72280" y="1300519"/>
            <a:ext cx="426720" cy="426720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680" y="3184088"/>
            <a:ext cx="3627120" cy="1344930"/>
          </a:xfrm>
          <a:prstGeom prst="roundRect">
            <a:avLst>
              <a:gd name="adj" fmla="val 12464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" y="3184088"/>
            <a:ext cx="3627120" cy="457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3420" y="3412688"/>
            <a:ext cx="794980" cy="2286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2440" y="3184088"/>
            <a:ext cx="3627120" cy="1344930"/>
          </a:xfrm>
          <a:prstGeom prst="roundRect">
            <a:avLst>
              <a:gd name="adj" fmla="val 12464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2440" y="3184088"/>
            <a:ext cx="3627120" cy="45720"/>
          </a:xfrm>
          <a:prstGeom prst="rect">
            <a:avLst/>
          </a:prstGeom>
          <a:solidFill>
            <a:srgbClr val="168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8180" y="3412688"/>
            <a:ext cx="1466135" cy="228600"/>
          </a:xfrm>
          <a:prstGeom prst="roundRect">
            <a:avLst>
              <a:gd name="adj" fmla="val 50000"/>
            </a:avLst>
          </a:prstGeom>
          <a:solidFill>
            <a:srgbClr val="DD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7200" y="3184088"/>
            <a:ext cx="3627120" cy="1344930"/>
          </a:xfrm>
          <a:prstGeom prst="roundRect">
            <a:avLst>
              <a:gd name="adj" fmla="val 12464"/>
            </a:avLst>
          </a:prstGeom>
          <a:solidFill>
            <a:srgbClr val="FFFFFF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3184088"/>
            <a:ext cx="3627120" cy="457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82940" y="3412688"/>
            <a:ext cx="616624" cy="228600"/>
          </a:xfrm>
          <a:prstGeom prst="roundRect">
            <a:avLst>
              <a:gd name="adj" fmla="val 50000"/>
            </a:avLst>
          </a:prstGeom>
          <a:solidFill>
            <a:srgbClr val="FFF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1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22900" y="320040"/>
            <a:ext cx="881419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STAGED 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60" y="373380"/>
            <a:ext cx="7983021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ĐỀ XUẤT THÍ ĐIỂM 1 TRANG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60" y="594360"/>
            <a:ext cx="7983021" cy="3099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Không xin một dự án lớn ngay — xin ba cổng quyết định nhỏ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2880" y="1300519"/>
            <a:ext cx="449580" cy="426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1080" b="1">
                <a:solidFill>
                  <a:srgbClr val="9BE7DC"/>
                </a:solidFill>
                <a:latin typeface="Arial"/>
              </a:rPr>
              <a:t>G0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1803439"/>
            <a:ext cx="3317200" cy="167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</a:pPr>
            <a:r>
              <a:rPr sz="1140" b="1">
                <a:solidFill>
                  <a:srgbClr val="1E293B"/>
                </a:solidFill>
                <a:latin typeface="Arial"/>
              </a:rPr>
              <a:t>Technical / Data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" y="2024419"/>
            <a:ext cx="3317200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</a:pPr>
            <a:r>
              <a:rPr sz="840" b="1">
                <a:solidFill>
                  <a:srgbClr val="028090"/>
                </a:solidFill>
                <a:latin typeface="Arial"/>
              </a:rPr>
              <a:t>3–5 ngày làm việc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60" y="2222539"/>
            <a:ext cx="3180040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Kiểm tra device, export, Fs, channel map.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860" y="2394346"/>
            <a:ext cx="3180040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3–5 sample files ẩn danh.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860" y="2566154"/>
            <a:ext cx="3180040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Kết luận MFCV eligibility.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860" y="2737961"/>
            <a:ext cx="3180040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Go/no-go: có data usable?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2520" y="1300519"/>
            <a:ext cx="449580" cy="426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1080" b="1">
                <a:solidFill>
                  <a:srgbClr val="9BE7DC"/>
                </a:solidFill>
                <a:latin typeface="Arial"/>
              </a:rPr>
              <a:t>G1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7340" y="1803439"/>
            <a:ext cx="3317200" cy="167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</a:pPr>
            <a:r>
              <a:rPr sz="1140" b="1">
                <a:solidFill>
                  <a:srgbClr val="1E293B"/>
                </a:solidFill>
                <a:latin typeface="Arial"/>
              </a:rPr>
              <a:t>Offline Feasibility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7340" y="2024419"/>
            <a:ext cx="3317200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</a:pPr>
            <a:r>
              <a:rPr sz="840" b="1">
                <a:solidFill>
                  <a:srgbClr val="028090"/>
                </a:solidFill>
                <a:latin typeface="Arial"/>
              </a:rPr>
              <a:t>10 ngày làm việc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4500" y="2222539"/>
            <a:ext cx="3180040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QC + feature + JSON/report.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4500" y="2394346"/>
            <a:ext cx="3180040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3–10 session/sample.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4500" y="2566154"/>
            <a:ext cx="3180040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Đo reproducibility và thời gian xử lý.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4500" y="2737961"/>
            <a:ext cx="3180040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Go/no-go: evidence có logic?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2280" y="1300519"/>
            <a:ext cx="449580" cy="426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20000"/>
              </a:lnSpc>
            </a:pPr>
            <a:r>
              <a:rPr sz="1080" b="1">
                <a:solidFill>
                  <a:srgbClr val="9BE7DC"/>
                </a:solidFill>
                <a:latin typeface="Arial"/>
              </a:rPr>
              <a:t>G2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6980" y="1803439"/>
            <a:ext cx="3317319" cy="1676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</a:pPr>
            <a:r>
              <a:rPr sz="1140" b="1">
                <a:solidFill>
                  <a:srgbClr val="1E293B"/>
                </a:solidFill>
                <a:latin typeface="Arial"/>
              </a:rPr>
              <a:t>Clinical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6980" y="2024419"/>
            <a:ext cx="3317319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20000"/>
              </a:lnSpc>
            </a:pPr>
            <a:r>
              <a:rPr sz="840" b="1">
                <a:solidFill>
                  <a:srgbClr val="028090"/>
                </a:solidFill>
                <a:latin typeface="Arial"/>
              </a:rPr>
              <a:t>8–12 tuần sau duyệt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4140" y="2222539"/>
            <a:ext cx="3180159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Cohort ACL hẹp, protocol chuẩn.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4140" y="2394346"/>
            <a:ext cx="3180159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N mục tiêu 20–30, chốt sau feasibility/ethics.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4140" y="2566154"/>
            <a:ext cx="3180159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Clinician usefulness + workflow.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4140" y="2737961"/>
            <a:ext cx="3180159" cy="133707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30000"/>
              </a:lnSpc>
            </a:pPr>
            <a:r>
              <a:rPr sz="810" b="0">
                <a:solidFill>
                  <a:srgbClr val="334155"/>
                </a:solidFill>
                <a:latin typeface="Arial"/>
              </a:rPr>
              <a:t>•  Go/pivot/stop trước mở rộng.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420" y="3412688"/>
            <a:ext cx="794980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FFFFFF"/>
                </a:solidFill>
                <a:latin typeface="Arial"/>
              </a:rPr>
              <a:t>DATA / 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420" y="3732728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Import ≥90% · usable ≥80%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420" y="4007048"/>
            <a:ext cx="3238500" cy="3314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Analysis target ≤5 phút/session; ngưỡng cần stakeholder xác nhận.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8180" y="3412688"/>
            <a:ext cx="1466135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0E7659"/>
                </a:solidFill>
                <a:latin typeface="Arial"/>
              </a:rPr>
              <a:t>CLINICAL USEFULNESS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8180" y="3732728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Clarity ≥4/5 · agreement 70–80%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8180" y="4007048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Đo khả năng hiểu, đồng thuận và fit với workflow review.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2940" y="3412688"/>
            <a:ext cx="616624" cy="228600"/>
          </a:xfrm>
          <a:prstGeom prst="rect">
            <a:avLst/>
          </a:prstGeom>
          <a:noFill/>
        </p:spPr>
        <p:txBody>
          <a:bodyPr wrap="none" anchor="ctr" tIns="53340" bIns="53340"/>
          <a:lstStyle/>
          <a:p>
            <a:pPr algn="l">
              <a:lnSpc>
                <a:spcPct val="120000"/>
              </a:lnSpc>
            </a:pPr>
            <a:r>
              <a:rPr sz="840" b="1" spc="16">
                <a:solidFill>
                  <a:srgbClr val="9A5700"/>
                </a:solidFill>
                <a:latin typeface="Arial"/>
              </a:rPr>
              <a:t>SAFETY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82940" y="3732728"/>
            <a:ext cx="3215640" cy="198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1E293B"/>
                </a:solidFill>
                <a:latin typeface="Arial"/>
              </a:rPr>
              <a:t>Unsafe conclusion = 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2940" y="4007048"/>
            <a:ext cx="3215640" cy="16573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Audit abstention và mọi trường hợp human review bypass.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7680" y="6537960"/>
            <a:ext cx="2158126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CHƯƠNG 2 · sEMG — ĐÁNH GIÁ MỎI CƠ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71D34"/>
              </a:gs>
              <a:gs pos="100000">
                <a:srgbClr val="084D58"/>
              </a:gs>
            </a:gsLst>
            <a:lin scaled="0" ang="1332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5320" y="2535555"/>
            <a:ext cx="5825490" cy="1703546"/>
          </a:xfrm>
          <a:prstGeom prst="roundRect">
            <a:avLst>
              <a:gd name="adj" fmla="val 10735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70370" y="2535555"/>
            <a:ext cx="4766310" cy="1703546"/>
          </a:xfrm>
          <a:prstGeom prst="roundRect">
            <a:avLst>
              <a:gd name="adj" fmla="val 10735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5320" y="4482941"/>
            <a:ext cx="10881360" cy="716280"/>
          </a:xfrm>
          <a:prstGeom prst="roundRect">
            <a:avLst>
              <a:gd name="adj" fmla="val 2340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320" y="552450"/>
            <a:ext cx="3530084" cy="152400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lnSpc>
                <a:spcPct val="120000"/>
              </a:lnSpc>
            </a:pPr>
            <a:r>
              <a:rPr sz="1019" b="1" spc="81">
                <a:solidFill>
                  <a:srgbClr val="9BE7DC"/>
                </a:solidFill>
                <a:latin typeface="Arial"/>
              </a:rPr>
              <a:t>BƯỚC TIẾP THEO &amp; QUYẾT ĐỊNH CẦN CHỐT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" y="872490"/>
            <a:ext cx="9928860" cy="8265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3000"/>
              </a:lnSpc>
            </a:pPr>
            <a:r>
              <a:rPr sz="2879" b="1">
                <a:solidFill>
                  <a:srgbClr val="FFFFFF"/>
                </a:solidFill>
                <a:latin typeface="Arial"/>
              </a:rPr>
              <a:t>Phê duyệt một technical audit 5 ngày — không phải full clinical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1790461"/>
            <a:ext cx="9166860" cy="48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320" b="0">
                <a:solidFill>
                  <a:srgbClr val="D1E5E8"/>
                </a:solidFill>
                <a:latin typeface="Arial"/>
              </a:rPr>
              <a:t>Mục tiêu là giảm ba bất định lớn nhất: dữ liệu có lấy được không, MFCV có khả thi không, và output nào thật sự hữu ích cho bác sĩ/KTV.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" y="2756535"/>
            <a:ext cx="5353050" cy="213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439" b="1">
                <a:solidFill>
                  <a:srgbClr val="FFFFFF"/>
                </a:solidFill>
                <a:latin typeface="Arial"/>
              </a:rPr>
              <a:t>Ba phê duyệt cần xin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" y="3091815"/>
            <a:ext cx="5170170" cy="19883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1080" b="0">
                <a:solidFill>
                  <a:srgbClr val="DCECEF"/>
                </a:solidFill>
                <a:latin typeface="Arial"/>
              </a:rPr>
              <a:t>1.  Chỉ định một đầu mối Motion Lab/Noraxon.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" y="3389709"/>
            <a:ext cx="5170170" cy="19883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1080" b="0">
                <a:solidFill>
                  <a:srgbClr val="DCECEF"/>
                </a:solidFill>
                <a:latin typeface="Arial"/>
              </a:rPr>
              <a:t>2.  Chỉ định một clinical owner PHCN/Y học thể thao.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" y="3687603"/>
            <a:ext cx="5170170" cy="19883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5000"/>
              </a:lnSpc>
            </a:pPr>
            <a:r>
              <a:rPr sz="1080" b="0">
                <a:solidFill>
                  <a:srgbClr val="DCECEF"/>
                </a:solidFill>
                <a:latin typeface="Arial"/>
              </a:rPr>
              <a:t>3.  Cho phép tiếp cận 3–5 sample export đã ẩn danh và một buổi kiểm tra cấu hình.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8970" y="2748915"/>
            <a:ext cx="4309110" cy="1295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900" b="1" spc="72">
                <a:solidFill>
                  <a:srgbClr val="FFFFFF"/>
                </a:solidFill>
                <a:latin typeface="Arial"/>
              </a:rPr>
              <a:t>LÃNH ĐẠO NHẬN ĐƯỢC SAU 10 NGÀY LÀM VIỆC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8970" y="2954655"/>
            <a:ext cx="4331970" cy="56673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859" b="1">
                <a:solidFill>
                  <a:srgbClr val="FFFFFF"/>
                </a:solidFill>
                <a:latin typeface="Arial"/>
              </a:rPr>
              <a:t>Feasibility memo + demo trên sample thực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8970" y="3628072"/>
            <a:ext cx="4331970" cy="3976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080" b="0">
                <a:solidFill>
                  <a:srgbClr val="FFF8EC"/>
                </a:solidFill>
                <a:latin typeface="Arial"/>
              </a:rPr>
              <a:t>Kết luận có/không MFCV, scope/timeline/chi phí pilot đáng tin hơn, và khuyến nghị </a:t>
            </a:r>
            <a:r>
              <a:rPr sz="1080" b="1">
                <a:solidFill>
                  <a:srgbClr val="FFF8EC"/>
                </a:solidFill>
                <a:latin typeface="Arial"/>
              </a:rPr>
              <a:t>GO / PIVOT / STOP</a:t>
            </a:r>
            <a:r>
              <a:rPr sz="1080" b="0">
                <a:solidFill>
                  <a:srgbClr val="FFF8EC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" y="4482941"/>
            <a:ext cx="10904220" cy="716280"/>
          </a:xfrm>
          <a:prstGeom prst="rect">
            <a:avLst/>
          </a:prstGeom>
          <a:noFill/>
        </p:spPr>
        <p:txBody>
          <a:bodyPr wrap="square" anchor="t" lIns="198120" rIns="198120" tIns="152400" bIns="152400"/>
          <a:lstStyle/>
          <a:p>
            <a:pPr algn="l">
              <a:lnSpc>
                <a:spcPct val="120000"/>
              </a:lnSpc>
            </a:pPr>
            <a:r>
              <a:rPr sz="1320" b="1">
                <a:solidFill>
                  <a:srgbClr val="9BE7DC"/>
                </a:solidFill>
                <a:latin typeface="Arial"/>
              </a:rPr>
              <a:t>Thông điệp đóng:</a:t>
            </a:r>
            <a:r>
              <a:rPr sz="1320" b="0">
                <a:solidFill>
                  <a:srgbClr val="FFFFFF"/>
                </a:solidFill>
                <a:latin typeface="Arial"/>
              </a:rPr>
              <a:t> Giá trị đầu tiên không phải “model 95%” — mà là biết chính xác hạ tầng hiện tại cho phép làm gì và pilot nào đáng đầu tư.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7758" y="6309360"/>
            <a:ext cx="1848921" cy="1066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719" b="0" spc="43">
                <a:solidFill>
                  <a:srgbClr val="89A9B4"/>
                </a:solidFill>
                <a:latin typeface="Arial"/>
              </a:rPr>
              <a:t>DECISION REQUESTED · 5-DAY AUDIT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35665" y="320040"/>
            <a:ext cx="668655" cy="220980"/>
          </a:xfrm>
          <a:prstGeom prst="roundRect">
            <a:avLst>
              <a:gd name="adj" fmla="val 50000"/>
            </a:avLst>
          </a:prstGeom>
          <a:solidFill>
            <a:srgbClr val="FFFFFF">
              <a:alpha val="74000"/>
            </a:srgbClr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" y="1117639"/>
            <a:ext cx="5768697" cy="2373630"/>
          </a:xfrm>
          <a:prstGeom prst="roundRect">
            <a:avLst>
              <a:gd name="adj" fmla="val 7062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84977" y="1117639"/>
            <a:ext cx="5219342" cy="2373630"/>
          </a:xfrm>
          <a:prstGeom prst="roundRect">
            <a:avLst>
              <a:gd name="adj" fmla="val 7062"/>
            </a:avLst>
          </a:prstGeom>
          <a:solidFill>
            <a:srgbClr val="F2F7F8"/>
          </a:solidFill>
          <a:ln w="7620">
            <a:solidFill>
              <a:srgbClr val="DC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90717" y="2850713"/>
            <a:ext cx="4807862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90717" y="2995493"/>
            <a:ext cx="797480" cy="205740"/>
          </a:xfrm>
          <a:prstGeom prst="roundRect">
            <a:avLst>
              <a:gd name="adj" fmla="val 29629"/>
            </a:avLst>
          </a:prstGeom>
          <a:solidFill>
            <a:srgbClr val="DD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64397" y="2995493"/>
            <a:ext cx="1572934" cy="205740"/>
          </a:xfrm>
          <a:prstGeom prst="roundRect">
            <a:avLst>
              <a:gd name="adj" fmla="val 29629"/>
            </a:avLst>
          </a:prstGeom>
          <a:solidFill>
            <a:srgbClr val="D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13532" y="2995493"/>
            <a:ext cx="876895" cy="205740"/>
          </a:xfrm>
          <a:prstGeom prst="roundRect">
            <a:avLst>
              <a:gd name="adj" fmla="val 29629"/>
            </a:avLst>
          </a:prstGeom>
          <a:solidFill>
            <a:srgbClr val="FFF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680" y="3689389"/>
            <a:ext cx="11216640" cy="568404"/>
          </a:xfrm>
          <a:prstGeom prst="roundRect">
            <a:avLst>
              <a:gd name="adj" fmla="val 26811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" y="6431280"/>
            <a:ext cx="11216640" cy="7620"/>
          </a:xfrm>
          <a:prstGeom prst="rect">
            <a:avLst/>
          </a:prstGeom>
          <a:solidFill>
            <a:srgbClr val="DC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1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36576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35665" y="320040"/>
            <a:ext cx="668655" cy="22098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64748B"/>
                </a:solidFill>
                <a:latin typeface="Arial"/>
              </a:rPr>
              <a:t>APPENDIX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60" y="373380"/>
            <a:ext cx="6722625" cy="1600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080" b="1" spc="97">
                <a:solidFill>
                  <a:srgbClr val="00A896"/>
                </a:solidFill>
                <a:latin typeface="Arial"/>
              </a:rPr>
              <a:t>TÀI LIỆU THAM KHẢO &amp; SOURCE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60" y="594360"/>
            <a:ext cx="6722625" cy="30991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3000"/>
              </a:lnSpc>
            </a:pPr>
            <a:r>
              <a:rPr sz="2160" b="1">
                <a:solidFill>
                  <a:srgbClr val="1E293B"/>
                </a:solidFill>
                <a:latin typeface="Arial"/>
              </a:rPr>
              <a:t>Nguồn khoa học, hạ tầng và các điểm cần xác nhận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420" y="1308139"/>
            <a:ext cx="5357217" cy="1828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260" b="1">
                <a:solidFill>
                  <a:srgbClr val="028090"/>
                </a:solidFill>
                <a:latin typeface="Arial"/>
              </a:rPr>
              <a:t>Nguồn khoa học &amp; phương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060" y="1612939"/>
            <a:ext cx="5212437" cy="33051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929" b="0">
                <a:solidFill>
                  <a:srgbClr val="334155"/>
                </a:solidFill>
                <a:latin typeface="Arial"/>
              </a:rPr>
              <a:t>1.  Nguyen V.-H. et al. </a:t>
            </a:r>
            <a:r>
              <a:rPr sz="929" b="0">
                <a:solidFill>
                  <a:srgbClr val="334155"/>
                </a:solidFill>
                <a:latin typeface="Arial"/>
              </a:rPr>
              <a:t>After-Fatigue Condition: A Novel Analysis Based on Surface EMG Signals</a:t>
            </a:r>
            <a:r>
              <a:rPr sz="929" b="0">
                <a:solidFill>
                  <a:srgbClr val="334155"/>
                </a:solidFill>
                <a:latin typeface="Arial"/>
              </a:rPr>
              <a:t>, APSIPA ASC 2023.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060" y="2034897"/>
            <a:ext cx="5212437" cy="33051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929" b="0">
                <a:solidFill>
                  <a:srgbClr val="334155"/>
                </a:solidFill>
                <a:latin typeface="Arial"/>
              </a:rPr>
              <a:t>2.  Huu N.T. et al. </a:t>
            </a:r>
            <a:r>
              <a:rPr sz="929" b="0">
                <a:solidFill>
                  <a:srgbClr val="334155"/>
                </a:solidFill>
                <a:latin typeface="Arial"/>
              </a:rPr>
              <a:t>Detection of Muscles Fatigue Through Surface EMG Signals Utilizing Machine Learning Algorithm</a:t>
            </a:r>
            <a:r>
              <a:rPr sz="929" b="0">
                <a:solidFill>
                  <a:srgbClr val="334155"/>
                </a:solidFill>
                <a:latin typeface="Arial"/>
              </a:rPr>
              <a:t>, IFMBE/Springer 2025.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060" y="2456854"/>
            <a:ext cx="5189577" cy="16525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0000"/>
              </a:lnSpc>
            </a:pPr>
            <a:r>
              <a:rPr sz="929" b="0">
                <a:solidFill>
                  <a:srgbClr val="334155"/>
                </a:solidFill>
                <a:latin typeface="Arial"/>
              </a:rPr>
              <a:t>3.  Ab Ghafar N.A. et al. </a:t>
            </a:r>
            <a:r>
              <a:rPr sz="929" b="0">
                <a:solidFill>
                  <a:srgbClr val="334155"/>
                </a:solidFill>
                <a:latin typeface="Arial"/>
              </a:rPr>
              <a:t>Classification of Muscle Fatigue during Prolonged Driving</a:t>
            </a:r>
            <a:r>
              <a:rPr sz="929" b="0">
                <a:solidFill>
                  <a:srgbClr val="334155"/>
                </a:solidFill>
                <a:latin typeface="Arial"/>
              </a:rPr>
              <a:t>, ELEKTRIKA 2022.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060" y="2713553"/>
            <a:ext cx="5189577" cy="16525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0000"/>
              </a:lnSpc>
            </a:pPr>
            <a:r>
              <a:rPr sz="929" b="0">
                <a:solidFill>
                  <a:srgbClr val="334155"/>
                </a:solidFill>
                <a:latin typeface="Arial"/>
              </a:rPr>
              <a:t>4.  Merletti/Farina và các tài liệu nền về sEMG, linear electrode array, conduction velocity.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060" y="2970252"/>
            <a:ext cx="5212437" cy="33051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929" b="0">
                <a:solidFill>
                  <a:srgbClr val="334155"/>
                </a:solidFill>
                <a:latin typeface="Arial"/>
              </a:rPr>
              <a:t>5.  Tài liệu nội bộ: quy trình vận hành lâm sàng, định vị &amp; tích hợp, implementation plan, demo use 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0717" y="1308139"/>
            <a:ext cx="4807862" cy="1828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1260" b="1">
                <a:solidFill>
                  <a:srgbClr val="028090"/>
                </a:solidFill>
                <a:latin typeface="Arial"/>
              </a:rPr>
              <a:t>Nguồn hạ tầng / sản phẩm chính thức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357" y="1612939"/>
            <a:ext cx="4640222" cy="16525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0000"/>
              </a:lnSpc>
            </a:pPr>
            <a:r>
              <a:rPr sz="929" b="0">
                <a:solidFill>
                  <a:srgbClr val="028090"/>
                </a:solidFill>
                <a:latin typeface="Arial"/>
              </a:rPr>
              <a:t>1.  Vinmec — Phòng thí nghiệm phân tích vận động Motion Lab</a:t>
            </a:r>
            <a:r>
              <a:rPr sz="929" b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357" y="1869638"/>
            <a:ext cx="4640222" cy="16525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0000"/>
              </a:lnSpc>
            </a:pPr>
            <a:r>
              <a:rPr sz="929" b="0">
                <a:solidFill>
                  <a:srgbClr val="028090"/>
                </a:solidFill>
                <a:latin typeface="Arial"/>
              </a:rPr>
              <a:t>2.  Noraxon — Ultium EMG specifications</a:t>
            </a:r>
            <a:r>
              <a:rPr sz="929" b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357" y="2126337"/>
            <a:ext cx="4640222" cy="16525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40000"/>
              </a:lnSpc>
            </a:pPr>
            <a:r>
              <a:rPr sz="929" b="0">
                <a:solidFill>
                  <a:srgbClr val="028090"/>
                </a:solidFill>
                <a:latin typeface="Arial"/>
              </a:rPr>
              <a:t>3.  Noraxon — EMG Frequency Fatigue Report</a:t>
            </a:r>
            <a:r>
              <a:rPr sz="929" b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357" y="2383035"/>
            <a:ext cx="4663082" cy="33051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929" b="1">
                <a:solidFill>
                  <a:srgbClr val="334155"/>
                </a:solidFill>
                <a:latin typeface="Arial"/>
              </a:rPr>
              <a:t>4.  Cần xác nhận:</a:t>
            </a:r>
            <a:r>
              <a:rPr sz="929" b="0">
                <a:solidFill>
                  <a:srgbClr val="334155"/>
                </a:solidFill>
                <a:latin typeface="Arial"/>
              </a:rPr>
              <a:t> raw export, format, filter, linear array, spacing, actual workflow time, consent/ethics và pilot budget.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0717" y="2995493"/>
            <a:ext cx="797480" cy="20574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1" spc="31">
                <a:solidFill>
                  <a:srgbClr val="0E7659"/>
                </a:solidFill>
                <a:latin typeface="Arial"/>
              </a:rPr>
              <a:t>ĐÃ XÁC LẬP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4397" y="2995493"/>
            <a:ext cx="1572934" cy="20574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1" spc="31">
                <a:solidFill>
                  <a:srgbClr val="12677A"/>
                </a:solidFill>
                <a:latin typeface="Arial"/>
              </a:rPr>
              <a:t>ĐÃ MINH HỌA NGHIÊN CỨU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3532" y="2995493"/>
            <a:ext cx="876895" cy="205740"/>
          </a:xfrm>
          <a:prstGeom prst="rect">
            <a:avLst/>
          </a:prstGeom>
          <a:noFill/>
        </p:spPr>
        <p:txBody>
          <a:bodyPr wrap="none" anchor="t" lIns="76200" rIns="76200"/>
          <a:lstStyle/>
          <a:p>
            <a:pPr algn="l">
              <a:lnSpc>
                <a:spcPct val="120000"/>
              </a:lnSpc>
            </a:pPr>
            <a:r>
              <a:rPr sz="780" b="1" spc="31">
                <a:solidFill>
                  <a:srgbClr val="9A5700"/>
                </a:solidFill>
                <a:latin typeface="Arial"/>
              </a:rPr>
              <a:t>CẦN THÍ ĐIỂM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80" y="3689389"/>
            <a:ext cx="11216640" cy="568404"/>
          </a:xfrm>
          <a:prstGeom prst="rect">
            <a:avLst/>
          </a:prstGeom>
          <a:noFill/>
        </p:spPr>
        <p:txBody>
          <a:bodyPr wrap="none" anchor="t" lIns="228600" rIns="228600" tIns="182880" bIns="182880"/>
          <a:lstStyle/>
          <a:p>
            <a:pPr algn="l">
              <a:lnSpc>
                <a:spcPct val="140000"/>
              </a:lnSpc>
            </a:pPr>
            <a:r>
              <a:rPr sz="1140" b="1">
                <a:solidFill>
                  <a:srgbClr val="FFFFFF"/>
                </a:solidFill>
                <a:latin typeface="Arial"/>
              </a:rPr>
              <a:t>Quy tắc xuyên suốt: </a:t>
            </a:r>
            <a:r>
              <a:rPr sz="1140" b="1">
                <a:solidFill>
                  <a:srgbClr val="9BE7DC"/>
                </a:solidFill>
                <a:latin typeface="Arial"/>
              </a:rPr>
              <a:t>Fact ≠ Assumption ≠ Pilot hypothesis.</a:t>
            </a:r>
            <a:r>
              <a:rPr sz="1140" b="1">
                <a:solidFill>
                  <a:srgbClr val="FFFFFF"/>
                </a:solidFill>
                <a:latin typeface="Arial"/>
              </a:rPr>
              <a:t> Mỗi claim trong deck phải thuộc đúng một nhóm.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680" y="6537960"/>
            <a:ext cx="1715690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PHỤ LỤC · TÀI LIỆU THAM KHẢO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81328" y="6537960"/>
            <a:ext cx="122991" cy="1219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20000"/>
              </a:lnSpc>
            </a:pPr>
            <a:r>
              <a:rPr sz="840" b="0" spc="16">
                <a:solidFill>
                  <a:srgbClr val="64748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